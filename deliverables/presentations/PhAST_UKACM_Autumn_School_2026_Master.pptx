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f3de253e534ef4" /><Relationship Type="http://schemas.openxmlformats.org/officeDocument/2006/relationships/extended-properties" Target="/docProps/app.xml" Id="R95c43fa512af44cd" /><Relationship Type="http://schemas.openxmlformats.org/officeDocument/2006/relationships/officeDocument" Target="/ppt/presentation.xml" Id="Rfb0c6df5e6ea44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dd8886b8c44893"/>
  </p:sldMasterIdLst>
  <p:notesMasterIdLst>
    <p:notesMasterId xmlns:r="http://schemas.openxmlformats.org/officeDocument/2006/relationships" r:id="Rfcb94eeb824249c9"/>
  </p:notesMasterIdLst>
  <p:sldIdLst>
    <p:sldId xmlns:r="http://schemas.openxmlformats.org/officeDocument/2006/relationships" id="256" r:id="Rd81aee947b544454"/>
    <p:sldId xmlns:r="http://schemas.openxmlformats.org/officeDocument/2006/relationships" id="257" r:id="Rc8f30b9ff7aa48ed"/>
    <p:sldId xmlns:r="http://schemas.openxmlformats.org/officeDocument/2006/relationships" id="258" r:id="R9edd78f1cc924e2b"/>
    <p:sldId xmlns:r="http://schemas.openxmlformats.org/officeDocument/2006/relationships" id="259" r:id="R0b8f93be5fdc4fdb"/>
    <p:sldId xmlns:r="http://schemas.openxmlformats.org/officeDocument/2006/relationships" id="260" r:id="R96a367ff44864561"/>
    <p:sldId xmlns:r="http://schemas.openxmlformats.org/officeDocument/2006/relationships" id="261" r:id="R70f62269da6f4f34"/>
    <p:sldId xmlns:r="http://schemas.openxmlformats.org/officeDocument/2006/relationships" id="262" r:id="Rccc82515fd664acc"/>
    <p:sldId xmlns:r="http://schemas.openxmlformats.org/officeDocument/2006/relationships" id="263" r:id="Rc82ee559ff7a4efc"/>
    <p:sldId xmlns:r="http://schemas.openxmlformats.org/officeDocument/2006/relationships" id="264" r:id="Rdacea25ea3ff48b2"/>
    <p:sldId xmlns:r="http://schemas.openxmlformats.org/officeDocument/2006/relationships" id="265" r:id="R1d7331f50e9a4531"/>
    <p:sldId xmlns:r="http://schemas.openxmlformats.org/officeDocument/2006/relationships" id="266" r:id="R7b752fb7acde432f"/>
    <p:sldId xmlns:r="http://schemas.openxmlformats.org/officeDocument/2006/relationships" id="267" r:id="Rc15c7f124abb47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398e866014b20" /><Relationship Type="http://schemas.openxmlformats.org/officeDocument/2006/relationships/slideMaster" Target="/ppt/slideMasters/slideMaster1.xml" Id="Re4dd8886b8c44893" /><Relationship Type="http://schemas.openxmlformats.org/officeDocument/2006/relationships/notesMaster" Target="/ppt/notesMasters/notesMaster1.xml" Id="Rfcb94eeb824249c9" /><Relationship Type="http://schemas.openxmlformats.org/officeDocument/2006/relationships/presProps" Target="/ppt/presProps.xml" Id="R49fcc8a2ae2e42f1" /><Relationship Type="http://schemas.openxmlformats.org/officeDocument/2006/relationships/tableStyles" Target="/ppt/tableStyles.xml" Id="R2809e35dcb8247eb" /><Relationship Type="http://schemas.openxmlformats.org/officeDocument/2006/relationships/slide" Target="/ppt/slides/slide1.xml" Id="Rd81aee947b544454" /><Relationship Type="http://schemas.openxmlformats.org/officeDocument/2006/relationships/slide" Target="/ppt/slides/slide2.xml" Id="Rc8f30b9ff7aa48ed" /><Relationship Type="http://schemas.openxmlformats.org/officeDocument/2006/relationships/slide" Target="/ppt/slides/slide3.xml" Id="R9edd78f1cc924e2b" /><Relationship Type="http://schemas.openxmlformats.org/officeDocument/2006/relationships/slide" Target="/ppt/slides/slide4.xml" Id="R0b8f93be5fdc4fdb" /><Relationship Type="http://schemas.openxmlformats.org/officeDocument/2006/relationships/slide" Target="/ppt/slides/slide5.xml" Id="R96a367ff44864561" /><Relationship Type="http://schemas.openxmlformats.org/officeDocument/2006/relationships/slide" Target="/ppt/slides/slide6.xml" Id="R70f62269da6f4f34" /><Relationship Type="http://schemas.openxmlformats.org/officeDocument/2006/relationships/slide" Target="/ppt/slides/slide7.xml" Id="Rccc82515fd664acc" /><Relationship Type="http://schemas.openxmlformats.org/officeDocument/2006/relationships/slide" Target="/ppt/slides/slide8.xml" Id="Rc82ee559ff7a4efc" /><Relationship Type="http://schemas.openxmlformats.org/officeDocument/2006/relationships/slide" Target="/ppt/slides/slide9.xml" Id="Rdacea25ea3ff48b2" /><Relationship Type="http://schemas.openxmlformats.org/officeDocument/2006/relationships/slide" Target="/ppt/slides/slide10.xml" Id="R1d7331f50e9a4531" /><Relationship Type="http://schemas.openxmlformats.org/officeDocument/2006/relationships/slide" Target="/ppt/slides/slide11.xml" Id="R7b752fb7acde432f" /><Relationship Type="http://schemas.openxmlformats.org/officeDocument/2006/relationships/slide" Target="/ppt/slides/slide12.xml" Id="Rc15c7f124abb47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e59228a1b7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0dd95addf14fd6" /><Relationship Type="http://schemas.openxmlformats.org/officeDocument/2006/relationships/notesMaster" Target="/ppt/notesMasters/notesMaster1.xml" Id="Rab0e132c85bf49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e418cd1d24ebf" /><Relationship Type="http://schemas.openxmlformats.org/officeDocument/2006/relationships/notesMaster" Target="/ppt/notesMasters/notesMaster1.xml" Id="Rd963500e39c34e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f624f019a04f36" /><Relationship Type="http://schemas.openxmlformats.org/officeDocument/2006/relationships/notesMaster" Target="/ppt/notesMasters/notesMaster1.xml" Id="R1bcc6d58d5df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b8a944b2c84a01" /><Relationship Type="http://schemas.openxmlformats.org/officeDocument/2006/relationships/notesMaster" Target="/ppt/notesMasters/notesMaster1.xml" Id="Rd575d84363bc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1f5562e4f84d5e" /><Relationship Type="http://schemas.openxmlformats.org/officeDocument/2006/relationships/notesMaster" Target="/ppt/notesMasters/notesMaster1.xml" Id="R8d74b53c21a940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15c1dff4a4ef7" /><Relationship Type="http://schemas.openxmlformats.org/officeDocument/2006/relationships/notesMaster" Target="/ppt/notesMasters/notesMaster1.xml" Id="R5a96e597bf6545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9c4643bf594947" /><Relationship Type="http://schemas.openxmlformats.org/officeDocument/2006/relationships/notesMaster" Target="/ppt/notesMasters/notesMaster1.xml" Id="R8b85a26110ff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5ab52490434122" /><Relationship Type="http://schemas.openxmlformats.org/officeDocument/2006/relationships/notesMaster" Target="/ppt/notesMasters/notesMaster1.xml" Id="R6db544dc25c0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b6c09adf624740" /><Relationship Type="http://schemas.openxmlformats.org/officeDocument/2006/relationships/notesMaster" Target="/ppt/notesMasters/notesMaster1.xml" Id="Rf3c64c1363f145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13e3b7b18045e5" /><Relationship Type="http://schemas.openxmlformats.org/officeDocument/2006/relationships/notesMaster" Target="/ppt/notesMasters/notesMaster1.xml" Id="Rbce3298942d54f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fa750ece144d39" /><Relationship Type="http://schemas.openxmlformats.org/officeDocument/2006/relationships/notesMaster" Target="/ppt/notesMasters/notesMaster1.xml" Id="R213e127412e54a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b1a515dccf4535" /><Relationship Type="http://schemas.openxmlformats.org/officeDocument/2006/relationships/notesMaster" Target="/ppt/notesMasters/notesMaster1.xml" Id="Rd4b55491e23c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slide. Introduce the course as an applied route from fracture modelling to differentiable simulation and machine-learning interfaces.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this deck is the standard presentation entry point. The 90-slide outline provides the long-form delivery structure; short specialist decks provide selectable inserts.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divider. Ask students to predict where damage will extend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left-to-right through the four snapshots. Damage is d=0 in intact material and d=1 in fully damaged material. The high-damage core is a display aid defined by d greater than or equal to 0.95.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left panel to introduce geometry, notch, mesh, and boundary condition labels. Use the right panel to explain that results are interpreted using both fields and energy histories.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divider. Emphasise that the section begins with a small damaged-bar example before returning to the solver-scale setting.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forward path first: prescribed displacement and damage determine force and loss. Then read the reverse path: the scalar loss sends derivatives back to the shared inputs. This is the same computational principle used by PyTorch autograd in the solver.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plot to interpret derivative signs before discussing numerical gradient checks and inverse recovery. The illustrated points are dimensionless teaching values, not a calibration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divider. State that a learned component is an explicit proposal inside an auditable workflow, not a replacement for the problem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as the bridge to model modularity. The notebook can be extended from the small MLP to an RBF model, GNN, GNO, or CNN provided the input-output interface and verification remain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distinguishes the two-minute classroom B3 run from the higher-complexity B7 branching reference. The B7 media originates from the pinned public PhAST example recorded in the asset source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Presented by Sathiskumar A. Ponnusami, Queen Mary University of London. Prepared by Allamaprabhu Ani and Sathiskumar A. Ponnusami, CEMS-Lab.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Closing slide. Invite students to use the live book, download the notebooks, and open an issue or discussion after the school. The QR code points to the public PhAST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ba56eedad4f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cf6277e7d433d" /><Relationship Type="http://schemas.openxmlformats.org/officeDocument/2006/relationships/slideLayout" Target="/ppt/slideLayouts/slideLayout1.xml" Id="R30c8f342c00e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c8f342c00e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4d32cd707441e" /><Relationship Type="http://schemas.openxmlformats.org/officeDocument/2006/relationships/image" Target="/ppt/media/image.png" Id="Rfacfed488a0a488e" /><Relationship Type="http://schemas.openxmlformats.org/officeDocument/2006/relationships/image" Target="/ppt/media/image2.png" Id="R55d6f02d148b4dd4" /><Relationship Type="http://schemas.openxmlformats.org/officeDocument/2006/relationships/notesSlide" Target="/ppt/notesSlides/notesSlide1.xml" Id="Rad5c69015b1243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f7e56c7d54907" /><Relationship Type="http://schemas.openxmlformats.org/officeDocument/2006/relationships/image" Target="/ppt/media/image3.png" Id="Rb173679cc59b4987" /><Relationship Type="http://schemas.openxmlformats.org/officeDocument/2006/relationships/notesSlide" Target="/ppt/notesSlides/notesSlide2.xml" Id="R8cfa53d724224e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6a98ba7e8435c" /><Relationship Type="http://schemas.openxmlformats.org/officeDocument/2006/relationships/image" Target="/ppt/media/image4.png" Id="Rc8876e28dd724ae3" /><Relationship Type="http://schemas.openxmlformats.org/officeDocument/2006/relationships/notesSlide" Target="/ppt/notesSlides/notesSlide3.xml" Id="Rcb6866fd26c54a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d052412f64faa" /><Relationship Type="http://schemas.openxmlformats.org/officeDocument/2006/relationships/image" Target="/ppt/media/image5.png" Id="R501b0f85f2684238" /><Relationship Type="http://schemas.openxmlformats.org/officeDocument/2006/relationships/image" Target="/ppt/media/image6.png" Id="R107323fdb56f41f0" /><Relationship Type="http://schemas.openxmlformats.org/officeDocument/2006/relationships/notesSlide" Target="/ppt/notesSlides/notesSlide4.xml" Id="R9486a88b865346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f0ac0bbd34b50" /><Relationship Type="http://schemas.openxmlformats.org/officeDocument/2006/relationships/image" Target="/ppt/media/image7.png" Id="R6eb36d1a8d3a414f" /><Relationship Type="http://schemas.openxmlformats.org/officeDocument/2006/relationships/image" Target="/ppt/media/image8.png" Id="R493f4e63c11d43de" /><Relationship Type="http://schemas.openxmlformats.org/officeDocument/2006/relationships/image" Target="/ppt/media/image9.png" Id="R3b29a38b42cd4d17" /><Relationship Type="http://schemas.openxmlformats.org/officeDocument/2006/relationships/notesSlide" Target="/ppt/notesSlides/notesSlide5.xml" Id="Re8b674b23c4a4d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fcf8b06e54273" /><Relationship Type="http://schemas.openxmlformats.org/officeDocument/2006/relationships/image" Target="/ppt/media/image10.png" Id="R760befdfe74745d6" /><Relationship Type="http://schemas.openxmlformats.org/officeDocument/2006/relationships/notesSlide" Target="/ppt/notesSlides/notesSlide6.xml" Id="R4a70836e355543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af947d51a486c" /><Relationship Type="http://schemas.openxmlformats.org/officeDocument/2006/relationships/image" Target="/ppt/media/image11.png" Id="R84a707bd75f74254" /><Relationship Type="http://schemas.openxmlformats.org/officeDocument/2006/relationships/image" Target="/ppt/media/image12.png" Id="R942972172bc04638" /><Relationship Type="http://schemas.openxmlformats.org/officeDocument/2006/relationships/notesSlide" Target="/ppt/notesSlides/notesSlide7.xml" Id="R187dd221d9814f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24a85d26d4125" /><Relationship Type="http://schemas.openxmlformats.org/officeDocument/2006/relationships/image" Target="/ppt/media/image13.png" Id="R551adf3d86134d01" /><Relationship Type="http://schemas.openxmlformats.org/officeDocument/2006/relationships/image" Target="/ppt/media/image14.png" Id="Rde57c7d0a38f4590" /><Relationship Type="http://schemas.openxmlformats.org/officeDocument/2006/relationships/notesSlide" Target="/ppt/notesSlides/notesSlide8.xml" Id="R18f31c4358e141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a64287a1d42a5" /><Relationship Type="http://schemas.openxmlformats.org/officeDocument/2006/relationships/image" Target="/ppt/media/image15.png" Id="R1d76251c2736495c" /><Relationship Type="http://schemas.openxmlformats.org/officeDocument/2006/relationships/notesSlide" Target="/ppt/notesSlides/notesSlide9.xml" Id="Re4d7d753f7f04b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129f47fa543ec" /><Relationship Type="http://schemas.openxmlformats.org/officeDocument/2006/relationships/image" Target="/ppt/media/image16.png" Id="Ra31230c2fbe540e8" /><Relationship Type="http://schemas.openxmlformats.org/officeDocument/2006/relationships/image" Target="/ppt/media/image17.png" Id="Rc41bcb447fe94c18" /><Relationship Type="http://schemas.openxmlformats.org/officeDocument/2006/relationships/image" Target="/ppt/media/image18.png" Id="Rdbf3768c8b0b4c94" /><Relationship Type="http://schemas.openxmlformats.org/officeDocument/2006/relationships/notesSlide" Target="/ppt/notesSlides/notesSlide10.xml" Id="Re4ac9f4da38a45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b2dc829fe4929" /><Relationship Type="http://schemas.openxmlformats.org/officeDocument/2006/relationships/image" Target="/ppt/media/image19.png" Id="R83c6c5b647554a7b" /><Relationship Type="http://schemas.openxmlformats.org/officeDocument/2006/relationships/image" Target="/ppt/media/image20.png" Id="R9518a0634d124349" /><Relationship Type="http://schemas.openxmlformats.org/officeDocument/2006/relationships/notesSlide" Target="/ppt/notesSlides/notesSlide11.xml" Id="Rc9f3aad6a07741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c1932854c471c" /><Relationship Type="http://schemas.openxmlformats.org/officeDocument/2006/relationships/image" Target="/ppt/media/image21.png" Id="R7a16f996c8a942e6" /><Relationship Type="http://schemas.openxmlformats.org/officeDocument/2006/relationships/image" Target="/ppt/media/image22.png" Id="R1fa839c07748454b" /><Relationship Type="http://schemas.openxmlformats.org/officeDocument/2006/relationships/notesSlide" Target="/ppt/notesSlides/notesSlide12.xml" Id="R2742f44ae9c147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F602288-A9D3-4CF7-8BD5-AFEC9D1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Phase-field fracture and differentiable simulation with PhAST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677C96-0192-49FF-BF80-87546E13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UKACM Autumn School 2026 · six-hour lecture and notebook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45D69-84FA-4C87-AB19-5FF5022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fed488a0a488e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772A11-3B5B-4ED7-B9E5-B4D16BD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D441257-12AB-494D-AD30-9E13AA64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resented by">
            <a:extLst xmlns:a="http://schemas.openxmlformats.org/drawingml/2006/main">
              <a:ext uri="{FF2B5EF4-FFF2-40B4-BE49-F238E27FC236}">
                <a16:creationId xmlns:a16="http://schemas.microsoft.com/office/drawing/2014/main" id="{F3AD4B23-6EE9-44B6-8CC0-13E172E2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561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A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A81"/>
                </a:solidFill>
                <a:latin typeface="Arial"/>
                <a:ea typeface="Arial"/>
                <a:cs typeface="Arial"/>
              </a:rPr>
              <a:t>Presented by</a:t>
            </a:r>
          </a:p>
          <a:p xmlns:a="http://schemas.openxmlformats.org/drawingml/2006/main">
            <a:pPr algn="l">
              <a:defRPr sz="2250" b="1">
                <a:solidFill>
                  <a:srgbClr val="245A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5A81"/>
                </a:solidFill>
                <a:latin typeface="Arial"/>
                <a:ea typeface="Arial"/>
                <a:cs typeface="Arial"/>
              </a:rPr>
              <a:t>Sathiskumar A. Ponnusami</a:t>
            </a:r>
          </a:p>
        </p:txBody>
      </p:sp>
      <p:sp>
        <p:nvSpPr>
          <p:cNvPr id="8" name="Affiliation">
            <a:extLst xmlns:a="http://schemas.openxmlformats.org/drawingml/2006/main">
              <a:ext uri="{FF2B5EF4-FFF2-40B4-BE49-F238E27FC236}">
                <a16:creationId xmlns:a16="http://schemas.microsoft.com/office/drawing/2014/main" id="{036E10C0-D423-4EFF-8351-6CBDAFF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Queen Mary University of London · CEMS-Lab</a:t>
            </a:r>
          </a:p>
        </p:txBody>
      </p:sp>
      <p:sp>
        <p:nvSpPr>
          <p:cNvPr id="9" name="Prepared by">
            <a:extLst xmlns:a="http://schemas.openxmlformats.org/drawingml/2006/main">
              <a:ext uri="{FF2B5EF4-FFF2-40B4-BE49-F238E27FC236}">
                <a16:creationId xmlns:a16="http://schemas.microsoft.com/office/drawing/2014/main" id="{42962898-D9A5-4A3A-877C-98A9513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733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Prepared by Allamaprabhu Ani and Sathiskumar A. Ponnusami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6f02d148b4dd4"/>
          <a:stretch xmlns:a="http://schemas.openxmlformats.org/drawingml/2006/main"/>
        </p:blipFill>
        <p:spPr>
          <a:xfrm xmlns:a="http://schemas.openxmlformats.org/drawingml/2006/main">
            <a:off x="6477000" y="2080419"/>
            <a:ext cx="4953000" cy="2373313"/>
          </a:xfrm>
          <a:prstGeom xmlns:a="http://schemas.openxmlformats.org/drawingml/2006/main" prst="rect">
            <a:avLst/>
          </a:prstGeom>
        </p:spPr>
      </p:pic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8C3BED61-FEEB-44DA-994B-7D9795A0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006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Computed phase-field fracture trajectory</a:t>
            </a:r>
          </a:p>
        </p:txBody>
      </p:sp>
    </p:spTree>
    <p:extLst>
      <p:ext uri="{BB962C8B-B14F-4D97-AF65-F5344CB8AC3E}">
        <p14:creationId xmlns:p14="http://schemas.microsoft.com/office/powerpoint/2010/main" val="398341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FAD9D2C9-F134-4949-9C76-A57203DA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One master deck, three connected sections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9728B2-02B6-44DA-BC5E-12A90E6E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The extended scaffold and specialist modules remain available as insertable teaching resources.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9DF54-A73F-49A8-9289-A7E36154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3679cc59b4987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0E92DA-E0C4-4827-9905-8D9FA19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B43D245-C0B2-4906-8512-F3CC8F5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3009D-5F9D-4782-A079-1BDA4255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181350" cy="2667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7D8E2"/>
            </a:solidFill>
          </a:ln>
        </p:spPr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A7C4CDF-B18D-4628-AEEA-673EFB4B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90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A8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A8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Lane title">
            <a:extLst xmlns:a="http://schemas.openxmlformats.org/drawingml/2006/main">
              <a:ext uri="{FF2B5EF4-FFF2-40B4-BE49-F238E27FC236}">
                <a16:creationId xmlns:a16="http://schemas.microsoft.com/office/drawing/2014/main" id="{237ADE7C-3A97-424F-9C22-D60BC6C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Phase-field fracture</a:t>
            </a:r>
          </a:p>
        </p:txBody>
      </p:sp>
      <p:sp>
        <p:nvSpPr>
          <p:cNvPr id="10" name="Lane description">
            <a:extLst xmlns:a="http://schemas.openxmlformats.org/drawingml/2006/main">
              <a:ext uri="{FF2B5EF4-FFF2-40B4-BE49-F238E27FC236}">
                <a16:creationId xmlns:a16="http://schemas.microsoft.com/office/drawing/2014/main" id="{F69901EC-0C5E-4552-8341-7505B111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95675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Energy, degradation, discretisation, and a compact dynamic run.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1158E-208A-469D-9C86-2AA42BB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52625"/>
            <a:ext cx="3181350" cy="2667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6824"/>
            </a:solidFill>
          </a:ln>
        </p:spPr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0F2A8A43-55B7-4F33-8FFD-936952A9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Lane title">
            <a:extLst xmlns:a="http://schemas.openxmlformats.org/drawingml/2006/main">
              <a:ext uri="{FF2B5EF4-FFF2-40B4-BE49-F238E27FC236}">
                <a16:creationId xmlns:a16="http://schemas.microsoft.com/office/drawing/2014/main" id="{3D2893E4-9E13-4FD2-881F-3CA2A5C1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Differentiability</a:t>
            </a:r>
          </a:p>
        </p:txBody>
      </p:sp>
      <p:sp>
        <p:nvSpPr>
          <p:cNvPr id="14" name="Lane description">
            <a:extLst xmlns:a="http://schemas.openxmlformats.org/drawingml/2006/main">
              <a:ext uri="{FF2B5EF4-FFF2-40B4-BE49-F238E27FC236}">
                <a16:creationId xmlns:a16="http://schemas.microsoft.com/office/drawing/2014/main" id="{B350D469-1C13-4D56-BA4D-7383D8D9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95675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Forward evaluation, local sensitivities, reverse accumulation, and recovery.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CAFE9-EC62-4F9C-8D18-824CE826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3181350" cy="26670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7D8E2"/>
            </a:solidFill>
          </a:ln>
        </p:spPr>
      </p:sp>
      <p:sp>
        <p:nvSpPr>
          <p:cNvPr id="16" name="Number">
            <a:extLst xmlns:a="http://schemas.openxmlformats.org/drawingml/2006/main">
              <a:ext uri="{FF2B5EF4-FFF2-40B4-BE49-F238E27FC236}">
                <a16:creationId xmlns:a16="http://schemas.microsoft.com/office/drawing/2014/main" id="{29776B39-2982-4B72-A43F-49E99A26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90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A8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A8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Lane title">
            <a:extLst xmlns:a="http://schemas.openxmlformats.org/drawingml/2006/main">
              <a:ext uri="{FF2B5EF4-FFF2-40B4-BE49-F238E27FC236}">
                <a16:creationId xmlns:a16="http://schemas.microsoft.com/office/drawing/2014/main" id="{F614DF58-FB26-48FC-AFDC-63C7038E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724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Learning interfaces</a:t>
            </a:r>
          </a:p>
        </p:txBody>
      </p:sp>
      <p:sp>
        <p:nvSpPr>
          <p:cNvPr id="18" name="Lane description">
            <a:extLst xmlns:a="http://schemas.openxmlformats.org/drawingml/2006/main">
              <a:ext uri="{FF2B5EF4-FFF2-40B4-BE49-F238E27FC236}">
                <a16:creationId xmlns:a16="http://schemas.microsoft.com/office/drawing/2014/main" id="{B3A08F8E-23BB-41AA-B48C-16C9888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Train, save, reload, audit, and couple a learned component.</a:t>
            </a:r>
          </a:p>
        </p:txBody>
      </p:sp>
    </p:spTree>
    <p:extLst>
      <p:ext uri="{BB962C8B-B14F-4D97-AF65-F5344CB8AC3E}">
        <p14:creationId xmlns:p14="http://schemas.microsoft.com/office/powerpoint/2010/main" val="1066518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76e28dd724ae3"/>
          <a:stretch xmlns:a="http://schemas.openxmlformats.org/drawingml/2006/main"/>
        </p:blipFill>
        <p:spPr>
          <a:xfrm xmlns:a="http://schemas.openxmlformats.org/drawingml/2006/main">
            <a:off x="5524500" y="1831578"/>
            <a:ext cx="6667500" cy="319484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F51BD-F6F1-48C9-A33A-6E9894DF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056A1DA6-F02E-4501-978E-F72F99FF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SECTION 01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BAF112-3ED8-44CA-9987-E3553ADD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029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Phase-field fracture and the PhAST workflow</a:t>
            </a:r>
          </a:p>
        </p:txBody>
      </p:sp>
      <p:sp>
        <p:nvSpPr>
          <p:cNvPr id="5" name="Sentence">
            <a:extLst xmlns:a="http://schemas.openxmlformats.org/drawingml/2006/main">
              <a:ext uri="{FF2B5EF4-FFF2-40B4-BE49-F238E27FC236}">
                <a16:creationId xmlns:a16="http://schemas.microsoft.com/office/drawing/2014/main" id="{F3D42A07-D6A6-42E5-9639-DC07B08D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619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Represent fracture by a smooth damage field, then resolve coupled mechanics and damage.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A2FDDD6-F9AA-4CAC-8D68-4B55996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B8183A3-BAAF-42EA-8375-D729FF37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4645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8339D7E-D49F-4868-95D1-D386EF5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compact dynamic plate produces a visible fracture trajectory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ABE6CE-FB32-481E-A8FD-FDD6992F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The visual shows a computed diffuse damage field; the bright core is highlighted without reinterpreting it as a sharp crack.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CC381-438D-4D03-9405-C579CA32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b0f85f2684238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8CD69AB-BCCF-4820-9BCE-5A26F74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AC467A9-85BD-4DDE-B0F3-810769F8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323fdb56f41f0"/>
          <a:stretch xmlns:a="http://schemas.openxmlformats.org/drawingml/2006/main"/>
        </p:blipFill>
        <p:spPr>
          <a:xfrm xmlns:a="http://schemas.openxmlformats.org/drawingml/2006/main">
            <a:off x="685800" y="2239745"/>
            <a:ext cx="10820400" cy="2683310"/>
          </a:xfrm>
          <a:prstGeom xmlns:a="http://schemas.openxmlformats.org/drawingml/2006/main" prst="rect">
            <a:avLst/>
          </a:prstGeom>
        </p:spPr>
      </p:pic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08D096D2-4311-4F21-8315-DA5A0467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0210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Damage field:  d = 0 intact  ·  d = 1 fractured  ·  high-damage core shown at d ≥ 0.95</a:t>
            </a:r>
          </a:p>
        </p:txBody>
      </p:sp>
    </p:spTree>
    <p:extLst>
      <p:ext uri="{BB962C8B-B14F-4D97-AF65-F5344CB8AC3E}">
        <p14:creationId xmlns:p14="http://schemas.microsoft.com/office/powerpoint/2010/main" val="204343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A6B0CA5-D5A5-49DE-B171-E9985F5A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Fields, boundary conditions, and energy checks stay connected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D2C101-51C2-4189-A9FC-8371A03F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Notebook 01 gives each setup action an immediately visible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F6D04-A69E-46F9-ACC8-C66A4BE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36d1a8d3a414f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F3F01B8-C402-4033-AA12-77A1B7A1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5F147E1-BAFF-4DCE-B4F8-C58F8515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f4e63c11d43de"/>
          <a:stretch xmlns:a="http://schemas.openxmlformats.org/drawingml/2006/main"/>
        </p:blipFill>
        <p:spPr>
          <a:xfrm xmlns:a="http://schemas.openxmlformats.org/drawingml/2006/main">
            <a:off x="685800" y="2731633"/>
            <a:ext cx="5181600" cy="1575709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9a38b42cd4d17"/>
          <a:stretch xmlns:a="http://schemas.openxmlformats.org/drawingml/2006/main"/>
        </p:blipFill>
        <p:spPr>
          <a:xfrm xmlns:a="http://schemas.openxmlformats.org/drawingml/2006/main">
            <a:off x="6324600" y="2239439"/>
            <a:ext cx="5181600" cy="25600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1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befdfe74745d6"/>
          <a:stretch xmlns:a="http://schemas.openxmlformats.org/drawingml/2006/main"/>
        </p:blipFill>
        <p:spPr>
          <a:xfrm xmlns:a="http://schemas.openxmlformats.org/drawingml/2006/main">
            <a:off x="5524500" y="1604873"/>
            <a:ext cx="6667500" cy="364825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C1A8B-B4D6-420D-8324-A4445714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2BD84B3E-EFEC-467C-A411-3E65F5E1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SECTION 02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45E4C6-108E-4716-A936-778E854E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029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Differentiability, sensitivities, and inverse questions</a:t>
            </a:r>
          </a:p>
        </p:txBody>
      </p:sp>
      <p:sp>
        <p:nvSpPr>
          <p:cNvPr id="5" name="Sentence">
            <a:extLst xmlns:a="http://schemas.openxmlformats.org/drawingml/2006/main">
              <a:ext uri="{FF2B5EF4-FFF2-40B4-BE49-F238E27FC236}">
                <a16:creationId xmlns:a16="http://schemas.microsoft.com/office/drawing/2014/main" id="{90C11EB2-EF38-47C7-A7B4-11365E31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619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A scalar objective can send information back through tensor operations to the parameters that shaped the response.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3238BC5-7DAC-4824-A306-5E2CA4D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65BAB78E-C763-4D6D-A527-3D77069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1623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D656152-97EF-4270-83E3-F19B9A5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From a measured force mismatch to input gradients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BFFF83-E708-4DAC-863F-452E10E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The toy damaged bar keeps the chain rule visible before students encounter solver-scale tensors.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6C64E-57C6-46EF-9A26-779D0993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707bd75f74254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F52DEFF-EA18-4389-830E-6773CFE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F7BFC54-F83F-4BCF-BF20-C06EB30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972172bc04638"/>
          <a:stretch xmlns:a="http://schemas.openxmlformats.org/drawingml/2006/main"/>
        </p:blipFill>
        <p:spPr>
          <a:xfrm xmlns:a="http://schemas.openxmlformats.org/drawingml/2006/main">
            <a:off x="2614448" y="1952625"/>
            <a:ext cx="6963103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21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DEBDF30-0F50-4D77-BB9A-284E9EB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Local derivatives retain physical interpretation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4F149A-0489-4E76-82D9-400F5E15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At fixed damage, displacement raises force; at fixed displacement, damage lowers the retained stiffness and force.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A193B-58D0-49AD-BD65-F7F6C79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adf3d86134d01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1C34FC2-DEB1-4619-AA93-637C2B0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E7C3CF7-83A5-4EF6-9E32-AA4AC87C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7c7d0a38f4590"/>
          <a:stretch xmlns:a="http://schemas.openxmlformats.org/drawingml/2006/main"/>
        </p:blipFill>
        <p:spPr>
          <a:xfrm xmlns:a="http://schemas.openxmlformats.org/drawingml/2006/main">
            <a:off x="1211385" y="1952625"/>
            <a:ext cx="9769231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6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6251c2736495c"/>
          <a:stretch xmlns:a="http://schemas.openxmlformats.org/drawingml/2006/main"/>
        </p:blipFill>
        <p:spPr>
          <a:xfrm xmlns:a="http://schemas.openxmlformats.org/drawingml/2006/main">
            <a:off x="5524500" y="2753112"/>
            <a:ext cx="6667500" cy="135177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A844-1271-40E9-AABF-1BD8A882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D300611B-3EBB-4D25-A851-7E583C28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715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SECTION 03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85B96C-6A98-4165-BE90-E7E113E5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029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Learning interfaces and hybrid simulation</a:t>
            </a:r>
          </a:p>
        </p:txBody>
      </p:sp>
      <p:sp>
        <p:nvSpPr>
          <p:cNvPr id="5" name="Sentence">
            <a:extLst xmlns:a="http://schemas.openxmlformats.org/drawingml/2006/main">
              <a:ext uri="{FF2B5EF4-FFF2-40B4-BE49-F238E27FC236}">
                <a16:creationId xmlns:a16="http://schemas.microsoft.com/office/drawing/2014/main" id="{B2F76BA2-EBE6-4325-B887-5D02B0BE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619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A learned model can be inserted at a defined interface, trained against data, and audited against a physics-based reference.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5A02B44-8663-42F6-820A-271A3523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6EDE435D-9675-4AFF-8133-75A48E86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985440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F5C4235F-D6DD-4711-85C0-C17159B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learning workflow has a clear hand-off and a clear check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972346-B199-4750-9031-710C0C4D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Notebook 03 trains a toy field predictor, reloads it, then evaluates the prediction against a reference.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A9670-F516-467C-905D-CE45BC44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230c2fbe540e8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7EFE764-4C9A-4CFA-9742-4EFD12DC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31581EA-7F19-4D29-B802-AF270FA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bcb447fe94c18"/>
          <a:stretch xmlns:a="http://schemas.openxmlformats.org/drawingml/2006/main"/>
        </p:blipFill>
        <p:spPr>
          <a:xfrm xmlns:a="http://schemas.openxmlformats.org/drawingml/2006/main">
            <a:off x="685800" y="2344781"/>
            <a:ext cx="4905375" cy="226368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3768c8b0b4c94"/>
          <a:stretch xmlns:a="http://schemas.openxmlformats.org/drawingml/2006/main"/>
        </p:blipFill>
        <p:spPr>
          <a:xfrm xmlns:a="http://schemas.openxmlformats.org/drawingml/2006/main">
            <a:off x="6000750" y="2912182"/>
            <a:ext cx="5505450" cy="1128885"/>
          </a:xfrm>
          <a:prstGeom xmlns:a="http://schemas.openxmlformats.org/drawingml/2006/main" prst="rect">
            <a:avLst/>
          </a:prstGeom>
        </p:spPr>
      </p:pic>
      <p:sp>
        <p:nvSpPr>
          <p:cNvPr id="9" name="Learning caption">
            <a:extLst xmlns:a="http://schemas.openxmlformats.org/drawingml/2006/main">
              <a:ext uri="{FF2B5EF4-FFF2-40B4-BE49-F238E27FC236}">
                <a16:creationId xmlns:a16="http://schemas.microsoft.com/office/drawing/2014/main" id="{49C67D22-8545-4181-A3FC-87FA0175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Training history</a:t>
            </a:r>
          </a:p>
        </p:txBody>
      </p:sp>
      <p:sp>
        <p:nvSpPr>
          <p:cNvPr id="10" name="Field caption">
            <a:extLst xmlns:a="http://schemas.openxmlformats.org/drawingml/2006/main">
              <a:ext uri="{FF2B5EF4-FFF2-40B4-BE49-F238E27FC236}">
                <a16:creationId xmlns:a16="http://schemas.microsoft.com/office/drawing/2014/main" id="{7E01DC67-7168-46C9-9685-97FFAA2C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24450"/>
            <a:ext cx="550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Held-out reference, reloaded MLP, compatible baseline, and error</a:t>
            </a:r>
          </a:p>
        </p:txBody>
      </p:sp>
    </p:spTree>
    <p:extLst>
      <p:ext uri="{BB962C8B-B14F-4D97-AF65-F5344CB8AC3E}">
        <p14:creationId xmlns:p14="http://schemas.microsoft.com/office/powerpoint/2010/main" val="1286606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C701C27-3FE7-46D7-A863-00CBAB34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Dynamic branching is a recorded reference exhibit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BD2567-9B8A-436F-B935-A7A7C3EB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A separate PhAST example illustrates branching; it is retained as a media insert rather than presented as a classroom runtime target.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3491F-327F-4628-80A3-D092183E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6c5b647554a7b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22E4BE-542F-4C37-9EE2-224A15D2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B15BA45-0059-45E9-B60F-2178238C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8a0634d124349"/>
          <a:stretch xmlns:a="http://schemas.openxmlformats.org/drawingml/2006/main"/>
        </p:blipFill>
        <p:spPr>
          <a:xfrm xmlns:a="http://schemas.openxmlformats.org/drawingml/2006/main">
            <a:off x="3231069" y="1952625"/>
            <a:ext cx="5729863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E854162D-A995-4914-85E9-4F1C2B0E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68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6824"/>
                </a:solidFill>
                <a:latin typeface="Arial"/>
                <a:ea typeface="Arial"/>
                <a:cs typeface="Arial"/>
              </a:rPr>
              <a:t>Reference exhibit: dynamic crack branching · use MP4/GIF during delivery when supported</a:t>
            </a:r>
          </a:p>
        </p:txBody>
      </p:sp>
    </p:spTree>
    <p:extLst>
      <p:ext uri="{BB962C8B-B14F-4D97-AF65-F5344CB8AC3E}">
        <p14:creationId xmlns:p14="http://schemas.microsoft.com/office/powerpoint/2010/main" val="805326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4938ED0-8DA8-45B5-9BA7-C3513D2C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Continue from a working course site and three short notebooks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C81C41-96A5-456B-A8DF-42AEBDD3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The web edition carries the course narrative; notebooks provide the reproducible practical route.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0F352-725B-4D93-A75F-040F699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6f996c8a942e6"/>
          <a:stretch xmlns:a="http://schemas.openxmlformats.org/drawingml/2006/main"/>
        </p:blipFill>
        <p:spPr>
          <a:xfrm xmlns:a="http://schemas.openxmlformats.org/drawingml/2006/main">
            <a:off x="10896600" y="3619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BC10E59-2029-4038-824D-D4107276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CEMS-Lab · UKACM Autumn School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08F6545-504F-4DAA-ABAD-943F8814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765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akeaways">
            <a:extLst xmlns:a="http://schemas.openxmlformats.org/drawingml/2006/main">
              <a:ext uri="{FF2B5EF4-FFF2-40B4-BE49-F238E27FC236}">
                <a16:creationId xmlns:a16="http://schemas.microsoft.com/office/drawing/2014/main" id="{B197451C-C84A-4492-B0CF-F1E3A2CD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0294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32D"/>
                </a:solidFill>
                <a:latin typeface="Arial"/>
                <a:ea typeface="Arial"/>
                <a:cs typeface="Arial"/>
              </a:rPr>
              <a:t>• Phase field provides a regularised fracture representation.</a:t>
            </a:r>
          </a:p>
          <a:p xmlns:a="http://schemas.openxmlformats.org/drawingml/2006/main">
            <a:pPr algn="l">
              <a:defRPr sz="2100" b="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32D"/>
                </a:solidFill>
                <a:latin typeface="Arial"/>
                <a:ea typeface="Arial"/>
                <a:cs typeface="Arial"/>
              </a:rPr>
              <a:t>• Tensor operations enable differentiation through a simulation workflow.</a:t>
            </a:r>
          </a:p>
          <a:p xmlns:a="http://schemas.openxmlformats.org/drawingml/2006/main">
            <a:pPr algn="l">
              <a:defRPr sz="2100" b="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32D"/>
                </a:solidFill>
                <a:latin typeface="Arial"/>
                <a:ea typeface="Arial"/>
                <a:cs typeface="Arial"/>
              </a:rPr>
              <a:t>• Verified interfaces let learning components enter the workflow responsibly.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839c07748454b"/>
          <a:stretch xmlns:a="http://schemas.openxmlformats.org/drawingml/2006/main"/>
        </p:blipFill>
        <p:spPr>
          <a:xfrm xmlns:a="http://schemas.openxmlformats.org/drawingml/2006/main">
            <a:off x="8496300" y="1828800"/>
            <a:ext cx="2047875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URL">
            <a:extLst xmlns:a="http://schemas.openxmlformats.org/drawingml/2006/main">
              <a:ext uri="{FF2B5EF4-FFF2-40B4-BE49-F238E27FC236}">
                <a16:creationId xmlns:a16="http://schemas.microsoft.com/office/drawing/2014/main" id="{2E26866A-C2C6-40B0-9D7A-1667BF3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76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A8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5A81"/>
                </a:solidFill>
                <a:latin typeface="Arial"/>
                <a:ea typeface="Arial"/>
                <a:cs typeface="Arial"/>
              </a:rPr>
              <a:t>cems-lab.github.io/autumn-school</a:t>
            </a:r>
          </a:p>
        </p:txBody>
      </p:sp>
    </p:spTree>
    <p:extLst>
      <p:ext uri="{BB962C8B-B14F-4D97-AF65-F5344CB8AC3E}">
        <p14:creationId xmlns:p14="http://schemas.microsoft.com/office/powerpoint/2010/main" val="195517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2026-09-11T23:26:03.5990000Z</dcterms:created>
  <dcterms:modified xsi:type="dcterms:W3CDTF">2026-09-11T23:26:03.5990000Z</dcterms:modified>
</coreProperties>
</file>