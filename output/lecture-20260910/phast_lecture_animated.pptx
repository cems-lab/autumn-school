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902549143144070" Type="http://schemas.openxmlformats.org/officeDocument/2006/relationships/officeDocument" Target="ppt/presentation.xml"/><Relationship Id="R2e2c208662c24c07" Type="http://schemas.openxmlformats.org/officeDocument/2006/relationships/extended-properties" Target="docProps/app.xml"/><Relationship Id="R95f0289d2f474c49"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0ba32ad5bc5d4441"/>
  </p:sldMasterIdLst>
  <p:notesMasterIdLst>
    <p:notesMasterId xmlns:r="http://schemas.openxmlformats.org/officeDocument/2006/relationships" r:id="R15eccba39b764dc8"/>
  </p:notesMasterIdLst>
  <p:sldIdLst>
    <p:sldId xmlns:r="http://schemas.openxmlformats.org/officeDocument/2006/relationships" id="256" r:id="R31add50da5b8431c"/>
    <p:sldId xmlns:r="http://schemas.openxmlformats.org/officeDocument/2006/relationships" id="260" r:id="R28cb9c9d600042fc"/>
    <p:sldId xmlns:r="http://schemas.openxmlformats.org/officeDocument/2006/relationships" id="261" r:id="R83a03ff6fbb34ad9"/>
    <p:sldId xmlns:ns0="http://schemas.openxmlformats.org/officeDocument/2006/relationships" id="274" ns0:id="rId24"/>
    <p:sldId xmlns:r="http://schemas.openxmlformats.org/officeDocument/2006/relationships" id="262" r:id="Rec599584035d4a91"/>
    <p:sldId xmlns:r="http://schemas.openxmlformats.org/officeDocument/2006/relationships" id="263" r:id="R396ea2e4d66241ac"/>
    <p:sldId xmlns:ns0="http://schemas.openxmlformats.org/officeDocument/2006/relationships" id="275" ns0:id="rId25"/>
    <p:sldId xmlns:r="http://schemas.openxmlformats.org/officeDocument/2006/relationships" id="264" r:id="R6803c771661241d7"/>
    <p:sldId xmlns:r="http://schemas.openxmlformats.org/officeDocument/2006/relationships" id="270" r:id="R55e0055f6a804abf"/>
    <p:sldId xmlns:r="http://schemas.openxmlformats.org/officeDocument/2006/relationships" id="271" r:id="R34a02d18eaaf4714"/>
    <p:sldId xmlns:r="http://schemas.openxmlformats.org/officeDocument/2006/relationships" id="265" r:id="R18271d759dfb4663"/>
    <p:sldId xmlns:r="http://schemas.openxmlformats.org/officeDocument/2006/relationships" id="266" r:id="R981a418a12b44506"/>
    <p:sldId xmlns:ns0="http://schemas.openxmlformats.org/officeDocument/2006/relationships" id="276" ns0:id="rId26"/>
    <p:sldId xmlns:r="http://schemas.openxmlformats.org/officeDocument/2006/relationships" id="267" r:id="Rd1cbb890e4bb4153"/>
    <p:sldId xmlns:ns0="http://schemas.openxmlformats.org/officeDocument/2006/relationships" id="277" ns0:id="rId27"/>
    <p:sldId xmlns:r="http://schemas.openxmlformats.org/officeDocument/2006/relationships" id="268" r:id="Re44ce97a942b4588"/>
    <p:sldId xmlns:r="http://schemas.openxmlformats.org/officeDocument/2006/relationships" id="269" r:id="Rd6c5c742dd8a42fd"/>
    <p:sldId xmlns:r="http://schemas.openxmlformats.org/officeDocument/2006/relationships" id="257" r:id="R4beb1462474d4e32"/>
    <p:sldId xmlns:r="http://schemas.openxmlformats.org/officeDocument/2006/relationships" id="258" r:id="Rc39fc0ed1c8e46de"/>
    <p:sldId xmlns:r="http://schemas.openxmlformats.org/officeDocument/2006/relationships" id="259" r:id="Rfe078116626a4448"/>
    <p:sldId xmlns:ns0="http://schemas.openxmlformats.org/officeDocument/2006/relationships" id="278" ns0:id="rId28"/>
    <p:sldId xmlns:r="http://schemas.openxmlformats.org/officeDocument/2006/relationships" id="272" r:id="R8af11e38a4ad4b56"/>
    <p:sldId xmlns:r="http://schemas.openxmlformats.org/officeDocument/2006/relationships" id="273" r:id="R58063375d1414f5b"/>
  </p:sldIdLst>
  <p:sldSz cx="24384000"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_rels/presentation.xml.rels><?xml version='1.0' encoding='UTF-8' standalone='yes'?>
<Relationships xmlns="http://schemas.openxmlformats.org/package/2006/relationships"><Relationship Id="R0ba32ad5bc5d4441" Type="http://schemas.openxmlformats.org/officeDocument/2006/relationships/slideMaster" Target="slideMasters/slideMaster1.xml"/><Relationship Id="R15eccba39b764dc8" Type="http://schemas.openxmlformats.org/officeDocument/2006/relationships/notesMaster" Target="notesMasters/notesMaster1.xml"/><Relationship Id="R18271d759dfb4663" Type="http://schemas.openxmlformats.org/officeDocument/2006/relationships/slide" Target="slides/slide10.xml"/><Relationship Id="R28cb9c9d600042fc" Type="http://schemas.openxmlformats.org/officeDocument/2006/relationships/slide" Target="slides/slide5.xml"/><Relationship Id="R31add50da5b8431c" Type="http://schemas.openxmlformats.org/officeDocument/2006/relationships/slide" Target="slides/slide1.xml"/><Relationship Id="R34a02d18eaaf4714" Type="http://schemas.openxmlformats.org/officeDocument/2006/relationships/slide" Target="slides/slide16.xml"/><Relationship Id="R396ea2e4d66241ac" Type="http://schemas.openxmlformats.org/officeDocument/2006/relationships/slide" Target="slides/slide8.xml"/><Relationship Id="R3f69028d921a41df" Type="http://schemas.openxmlformats.org/officeDocument/2006/relationships/presProps" Target="presProps.xml"/><Relationship Id="R4beb1462474d4e32" Type="http://schemas.openxmlformats.org/officeDocument/2006/relationships/slide" Target="slides/slide2.xml"/><Relationship Id="R55e0055f6a804abf" Type="http://schemas.openxmlformats.org/officeDocument/2006/relationships/slide" Target="slides/slide15.xml"/><Relationship Id="R58063375d1414f5b" Type="http://schemas.openxmlformats.org/officeDocument/2006/relationships/slide" Target="slides/slide18.xml"/><Relationship Id="R5ad4961dfba04792" Type="http://schemas.openxmlformats.org/officeDocument/2006/relationships/tableStyles" Target="tableStyles.xml"/><Relationship Id="R6803c771661241d7" Type="http://schemas.openxmlformats.org/officeDocument/2006/relationships/slide" Target="slides/slide9.xml"/><Relationship Id="R83a03ff6fbb34ad9" Type="http://schemas.openxmlformats.org/officeDocument/2006/relationships/slide" Target="slides/slide6.xml"/><Relationship Id="R8af11e38a4ad4b56" Type="http://schemas.openxmlformats.org/officeDocument/2006/relationships/slide" Target="slides/slide17.xml"/><Relationship Id="R981a418a12b44506" Type="http://schemas.openxmlformats.org/officeDocument/2006/relationships/slide" Target="slides/slide11.xml"/><Relationship Id="Raa76928594444281" Type="http://schemas.openxmlformats.org/officeDocument/2006/relationships/theme" Target="theme/theme1.xml"/><Relationship Id="Rc39fc0ed1c8e46de" Type="http://schemas.openxmlformats.org/officeDocument/2006/relationships/slide" Target="slides/slide3.xml"/><Relationship Id="Rd1cbb890e4bb4153" Type="http://schemas.openxmlformats.org/officeDocument/2006/relationships/slide" Target="slides/slide12.xml"/><Relationship Id="Rd6c5c742dd8a42fd" Type="http://schemas.openxmlformats.org/officeDocument/2006/relationships/slide" Target="slides/slide14.xml"/><Relationship Id="Re44ce97a942b4588" Type="http://schemas.openxmlformats.org/officeDocument/2006/relationships/slide" Target="slides/slide13.xml"/><Relationship Id="Rec599584035d4a91" Type="http://schemas.openxmlformats.org/officeDocument/2006/relationships/slide" Target="slides/slide7.xml"/><Relationship Id="Rfe078116626a4448" Type="http://schemas.openxmlformats.org/officeDocument/2006/relationships/slide" Target="slides/slide4.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1965ded1208f49d5"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39_DynamicColor">
  <a:themeElements>
    <a:clrScheme name="39_Dynam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9_DynamicColor">
      <a:majorFont>
        <a:latin typeface="Helvetica Neue"/>
        <a:ea typeface="Helvetica Neue"/>
        <a:cs typeface="Helvetica Neue"/>
      </a:majorFont>
      <a:minorFont>
        <a:latin typeface="Helvetica Neue"/>
        <a:ea typeface="Helvetica Neue"/>
        <a:cs typeface="Helvetica Neue"/>
      </a:minorFont>
    </a:fontScheme>
    <a:fmtScheme name="39_Dynam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5c4c02f2ef7a4933" Type="http://schemas.openxmlformats.org/officeDocument/2006/relationships/notesMaster" Target="../notesMasters/notesMaster1.xml"/><Relationship Id="Re2623bca8ede4f6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24dc7f42cd94d30" Type="http://schemas.openxmlformats.org/officeDocument/2006/relationships/slide" Target="../slides/slide2.xml"/><Relationship Id="Rc814585ce9a5457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9366dd6d0855408e" Type="http://schemas.openxmlformats.org/officeDocument/2006/relationships/notesMaster" Target="../notesMasters/notesMaster1.xml"/><Relationship Id="R991a526cb2d34b8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7a3418f3dbf34e46" Type="http://schemas.openxmlformats.org/officeDocument/2006/relationships/slide" Target="../slides/slide4.xml"/><Relationship Id="Ra39316b328ac4569"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54a2091cf364cb8" Type="http://schemas.openxmlformats.org/officeDocument/2006/relationships/notesMaster" Target="../notesMasters/notesMaster1.xml"/><Relationship Id="Rb554dc99cfef4f3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577978421194efe" Type="http://schemas.openxmlformats.org/officeDocument/2006/relationships/notesMaster" Target="../notesMasters/notesMaster1.xml"/><Relationship Id="Rfb5c88c979b74605"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39a3562c2c744da" Type="http://schemas.openxmlformats.org/officeDocument/2006/relationships/slide" Target="../slides/slide7.xml"/><Relationship Id="Raffa385e059a433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19842acf3704eb2" Type="http://schemas.openxmlformats.org/officeDocument/2006/relationships/slide" Target="../slides/slide8.xml"/><Relationship Id="Rab81f75657f7412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c7d4de4569145b1" Type="http://schemas.openxmlformats.org/officeDocument/2006/relationships/slide" Target="../slides/slide9.xml"/><Relationship Id="Rcca0730ad1d146c9"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ac06f27138204c64" Type="http://schemas.openxmlformats.org/officeDocument/2006/relationships/slide" Target="../slides/slide10.xml"/><Relationship Id="Re540567ae365452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83ee6f07edb466e" Type="http://schemas.openxmlformats.org/officeDocument/2006/relationships/notesMaster" Target="../notesMasters/notesMaster1.xml"/><Relationship Id="Re5050283e2594d05"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fed73290b964c5d" Type="http://schemas.openxmlformats.org/officeDocument/2006/relationships/notesMaster" Target="../notesMasters/notesMaster1.xml"/><Relationship Id="R55d3df2b5b674948"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e97f33ed7104679" Type="http://schemas.openxmlformats.org/officeDocument/2006/relationships/notesMaster" Target="../notesMasters/notesMaster1.xml"/><Relationship Id="Re2c0277c94ca4a1e"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97d4e457a7254756" Type="http://schemas.openxmlformats.org/officeDocument/2006/relationships/slide" Target="../slides/slide14.xml"/><Relationship Id="Re6a45bc481e54e1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372c8384cae403a" Type="http://schemas.openxmlformats.org/officeDocument/2006/relationships/notesMaster" Target="../notesMasters/notesMaster1.xml"/><Relationship Id="Rc8f480843ae44925"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6d179f7461fe4d5e" Type="http://schemas.openxmlformats.org/officeDocument/2006/relationships/notesMaster" Target="../notesMasters/notesMaster1.xml"/><Relationship Id="Rf5ed5b2a075c4390"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c4b7f0ffc6f4c52" Type="http://schemas.openxmlformats.org/officeDocument/2006/relationships/slide" Target="../slides/slide17.xml"/><Relationship Id="Rddbf7a927b1349f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54b2286fb8c425e" Type="http://schemas.openxmlformats.org/officeDocument/2006/relationships/notesMaster" Target="../notesMasters/notesMaster1.xml"/><Relationship Id="Rb81817131d3e41c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Introduce the numerical questions that connect phase-field fracture to differentiable simulation. The course develops the fracture model, computes a small example and uses sensitivities to guide inverse recovery and learning.</a:t>
            </a:r>
          </a:p>
          <a:p xmlns:a="http://schemas.openxmlformats.org/drawingml/2006/main"/>
          <a:p xmlns:a="http://schemas.openxmlformats.org/drawingml/2006/main">
            <a:r>
              <a:t>Sources and provenance:</a:t>
            </a:r>
          </a:p>
          <a:p xmlns:a="http://schemas.openxmlformats.org/drawingml/2006/main">
            <a:r>
              <a:t>User-created Physics Constrained Differentiable Solver Key Points.key, exported 9 September 2026.</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L3 / practical bridge.</a:t>
            </a:r>
          </a:p>
          <a:p xmlns:a="http://schemas.openxmlformats.org/drawingml/2006/main"/>
          <a:p xmlns:a="http://schemas.openxmlformats.org/drawingml/2006/main">
            <a:r>
              <a:t>A learned relation can approximate a material response, supply a proposal or support repeated queries. Compare the complete cost of data generation, training, prediction and correction for the intended range of loads and geometries.</a:t>
            </a:r>
          </a:p>
          <a:p xmlns:a="http://schemas.openxmlformats.org/drawingml/2006/main"/>
          <a:p xmlns:a="http://schemas.openxmlformats.org/drawingml/2006/main">
            <a:r>
              <a:t>Sources and provenance:</a:t>
            </a:r>
          </a:p>
          <a:p xmlns:a="http://schemas.openxmlformats.org/drawingml/2006/main">
            <a:r>
              <a:t>Course source/book/06_learning_adapter.md; Physics-Based Deep Learning, https://physicsbaseddeeplearning.org/diffphys.html</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L3 / practical bridge.</a:t>
            </a:r>
          </a:p>
          <a:p xmlns:a="http://schemas.openxmlformats.org/drawingml/2006/main"/>
          <a:p xmlns:a="http://schemas.openxmlformats.org/drawingml/2006/main">
            <a:r>
              <a:t>Separate approximation, discretisation and optimisation errors. A soft physics penalty enters the objective. Exact constraints enforce a relation by construction. Evaluate both approaches in the intended physical setting.</a:t>
            </a:r>
          </a:p>
          <a:p xmlns:a="http://schemas.openxmlformats.org/drawingml/2006/main"/>
          <a:p xmlns:a="http://schemas.openxmlformats.org/drawingml/2006/main">
            <a:r>
              <a:t>Sources and provenance:</a:t>
            </a:r>
          </a:p>
          <a:p xmlns:a="http://schemas.openxmlformats.org/drawingml/2006/main">
            <a:r>
              <a:t>Course source/book/06_learning_adapter.md.</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L3 / practical bridge.</a:t>
            </a:r>
          </a:p>
          <a:p xmlns:a="http://schemas.openxmlformats.org/drawingml/2006/main"/>
          <a:p xmlns:a="http://schemas.openxmlformats.org/drawingml/2006/main">
            <a:r>
              <a:t>The first diagram shows inference through a compatible model interface. The second shows a training objective evaluated after a differentiable solve. Reverse-mode differentiation propagates the loss sensitivity through each intervening operation to the model weights. The classroom adapter uses a Helmholtz-type teaching equation.</a:t>
            </a:r>
          </a:p>
          <a:p xmlns:a="http://schemas.openxmlformats.org/drawingml/2006/main"/>
          <a:p xmlns:a="http://schemas.openxmlformats.org/drawingml/2006/main">
            <a:r>
              <a:t>Sources and provenance:</a:t>
            </a:r>
          </a:p>
          <a:p xmlns:a="http://schemas.openxmlformats.org/drawingml/2006/main">
            <a:r>
              <a:t>Original diagram; course source/book/06_learning_adapter.md; https://physicsbaseddeeplearning.org/diffphys.html</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The live route has 180 minutes of lectures followed by 180 minutes of practical work. Select the diffusion lesson within the second practical. The teaching schedule supplies the detailed allocation.</a:t>
            </a:r>
          </a:p>
          <a:p xmlns:a="http://schemas.openxmlformats.org/drawingml/2006/main"/>
          <a:p xmlns:a="http://schemas.openxmlformats.org/drawingml/2006/main">
            <a:r>
              <a:t>Sources and provenance:</a:t>
            </a:r>
          </a:p>
          <a:p xmlns:a="http://schemas.openxmlformats.org/drawingml/2006/main">
            <a:r>
              <a:t>COURSE_PLAN.md; TEACHING_SCHEDULE.md; MVP_DELIVERY.md.</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Define displacement u, small strain, undamaged energy density, toughness Gc, regularisation length ell and external work. Use d=0 for intact material and d=1 for damaged material. AT2 has c0=2. This isotropic energy matches the quick PhAST exercise. Introduce irreversibility as a separate constraint.</a:t>
            </a:r>
          </a:p>
          <a:p xmlns:a="http://schemas.openxmlformats.org/drawingml/2006/main"/>
          <a:p xmlns:a="http://schemas.openxmlformats.org/drawingml/2006/main">
            <a:r>
              <a:t>Sources and provenance:</a:t>
            </a:r>
          </a:p>
          <a:p xmlns:a="http://schemas.openxmlformats.org/drawingml/2006/main">
            <a:r>
              <a:t>Course source/book/02_phase_field_energy.md; Miehe et al. (2010), https://doi.org/10.1002/nme.2861; Bourdin et al. (2000), https://doi.org/10.1016/S0022-5096(99)00028-9.</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Read the degradation curve and its slope together. Eta supplies residual stiffness. The figure uses eta=1e-6 and the numerical practical uses 1e-7. The quadratic baseline is paired with illustrative cubic and rational functions. Distinguish degradation g from the crack-density function w.</a:t>
            </a:r>
          </a:p>
          <a:p xmlns:a="http://schemas.openxmlformats.org/drawingml/2006/main"/>
          <a:p xmlns:a="http://schemas.openxmlformats.org/drawingml/2006/main">
            <a:r>
              <a:t>Sources and provenance:</a:t>
            </a:r>
          </a:p>
          <a:p xmlns:a="http://schemas.openxmlformats.org/drawingml/2006/main">
            <a:r>
              <a:t>Original course figure build_beamer_figures.py and latex_figures/analytic_plot_data.json; public PhAST quadratic law pinned f6324f899f0701769810be117f27f1208f7a582e.</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Follow the data dependencies. Mechanics receives the latest damage, and the updated driving or history field enters the damage problem. Enforce prescribed values and irreversibility. A staggered algorithm can combine dynamic mechanics and implicit damage. The classroom PhAST example uses quasistatic mechanics.</a:t>
            </a:r>
          </a:p>
          <a:p xmlns:a="http://schemas.openxmlformats.org/drawingml/2006/main"/>
          <a:p xmlns:a="http://schemas.openxmlformats.org/drawingml/2006/main">
            <a:r>
              <a:t>Sources and provenance:</a:t>
            </a:r>
          </a:p>
          <a:p xmlns:a="http://schemas.openxmlformats.org/drawingml/2006/main">
            <a:r>
              <a:t>Course source/book/03_staggered_solution.md; vendor/PhAST/src/phast/solvers/staggered.py.</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Define each tensor axis and the connectivity-based gather and scatter operations. Tensor notation expresses batched element calculations. Matrix-free evaluation applies the global operator through local operations. The quick forward practical uses assembled SciPy sparse-direct mechanics.</a:t>
            </a:r>
          </a:p>
          <a:p xmlns:a="http://schemas.openxmlformats.org/drawingml/2006/main"/>
          <a:p xmlns:a="http://schemas.openxmlformats.org/drawingml/2006/main">
            <a:r>
              <a:t>Sources and provenance:</a:t>
            </a:r>
          </a:p>
          <a:p xmlns:a="http://schemas.openxmlformats.org/drawingml/2006/main">
            <a:r>
              <a:t>Course source/book/04_fem_to_tensors.md; public PhAST source pin f6324f899f0701769810be117f27f1208f7a582e.</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L2.</a:t>
            </a:r>
          </a:p>
          <a:p xmlns:a="http://schemas.openxmlformats.org/drawingml/2006/main"/>
          <a:p xmlns:a="http://schemas.openxmlformats.org/drawingml/2006/main">
            <a:r>
              <a:t>Define the state vector z, parameter p, observation map C and fixed target. This example uses a fixed initial state and parameter dependence through the updates. Differentiation gives dJ/dp. An optimisation method then uses that gradient to choose a parameter update.</a:t>
            </a:r>
          </a:p>
          <a:p xmlns:a="http://schemas.openxmlformats.org/drawingml/2006/main"/>
          <a:p xmlns:a="http://schemas.openxmlformats.org/drawingml/2006/main">
            <a:r>
              <a:t>Sources and provenance:</a:t>
            </a:r>
          </a:p>
          <a:p xmlns:a="http://schemas.openxmlformats.org/drawingml/2006/main">
            <a:r>
              <a:t>Course source/book/05a_backpropagation_step_by_step.md; https://physicsbaseddeeplearning.org/diffphys.html.</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L2.</a:t>
            </a:r>
          </a:p>
          <a:p xmlns:a="http://schemas.openxmlformats.org/drawingml/2006/main"/>
          <a:p xmlns:a="http://schemas.openxmlformats.org/drawingml/2006/main">
            <a:r>
              <a:t>Use column adjoints. Seed the terminal adjoint from the loss, propagate with local transposed state Jacobians and accumulate the parameter-Jacobian products at every use of p. Evaluate vector-Jacobian products directly. Direct loss dependence and parameter-dependent initial states contribute additional terms in the general case.</a:t>
            </a:r>
          </a:p>
          <a:p xmlns:a="http://schemas.openxmlformats.org/drawingml/2006/main"/>
          <a:p xmlns:a="http://schemas.openxmlformats.org/drawingml/2006/main">
            <a:r>
              <a:t>Sources and provenance:</a:t>
            </a:r>
          </a:p>
          <a:p xmlns:a="http://schemas.openxmlformats.org/drawingml/2006/main">
            <a:r>
              <a:t>Original course derivation source/book/05a_backpropagation_step_by_step.md; PyTorch autograd documentation; https://physicsbaseddeeplearning.org/diffphys.html.</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L2.</a:t>
            </a:r>
          </a:p>
          <a:p xmlns:a="http://schemas.openxmlformats.org/drawingml/2006/main"/>
          <a:p xmlns:a="http://schemas.openxmlformats.org/drawingml/2006/main">
            <a:r>
              <a:t>Rz and Rp are the residual Jacobians with respect to the state and parameter. Solve the transposed state system against the state loss gradient, then form the total parameter derivative. Unrolling differentiates the executed iterations. Implicit differentiation describes a local converged root with a differentiable residual and nonsingular state Jacobian. Treat active-set changes separately.</a:t>
            </a:r>
          </a:p>
          <a:p xmlns:a="http://schemas.openxmlformats.org/drawingml/2006/main"/>
          <a:p xmlns:a="http://schemas.openxmlformats.org/drawingml/2006/main">
            <a:r>
              <a:t>Sources and provenance:</a:t>
            </a:r>
          </a:p>
          <a:p xmlns:a="http://schemas.openxmlformats.org/drawingml/2006/main">
            <a:r>
              <a:t>Course source/book/05_differentiation_and_inverse.md; Ceyron adjoint_linear_system_example.py, commit a2e50a9df4bb6e938901b33fd957c06ac06b5224, pedagogical reference only.</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L2.</a:t>
            </a:r>
          </a:p>
          <a:p xmlns:a="http://schemas.openxmlformats.org/drawingml/2006/main"/>
          <a:p xmlns:a="http://schemas.openxmlformats.org/drawingml/2006/main">
            <a:r>
              <a:t>Compare automatic differentiation, an independent analytical or manual derivative and central finite differences at several spacings. Use float64 and a fixed discretisation. Interpret error through truncation and roundoff. For a quadratic, central differences are exact in real arithmetic. Inverse uniqueness depends on observation sensitivity and parameterisation.</a:t>
            </a:r>
          </a:p>
          <a:p xmlns:a="http://schemas.openxmlformats.org/drawingml/2006/main"/>
          <a:p xmlns:a="http://schemas.openxmlformats.org/drawingml/2006/main">
            <a:r>
              <a:t>Sources and provenance:</a:t>
            </a:r>
          </a:p>
          <a:p xmlns:a="http://schemas.openxmlformats.org/drawingml/2006/main">
            <a:r>
              <a:t>Course notebooks/02_degradation_autograd.ipynb; new diffusion draft; https://docs.pytorch.org/docs/stable/notes/autograd.html.</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L2.</a:t>
            </a:r>
          </a:p>
          <a:p xmlns:a="http://schemas.openxmlformats.org/drawingml/2006/main"/>
          <a:p xmlns:a="http://schemas.openxmlformats.org/drawingml/2006/main">
            <a:r>
              <a:t>The one-dimensional diffusion lesson makes shared-parameter accumulation explicit. Forward Euler with the central stencil requires alpha*dt/dx^2&lt;=1/2. The bounded parameter interval and fixed time step respect this condition. Students read short update loops, compare derivatives and recover a diffusivity from a synthetic target.</a:t>
            </a:r>
          </a:p>
          <a:p xmlns:a="http://schemas.openxmlformats.org/drawingml/2006/main"/>
          <a:p xmlns:a="http://schemas.openxmlformats.org/drawingml/2006/main">
            <a:r>
              <a:t>Sources and provenance:</a:t>
            </a:r>
          </a:p>
          <a:p xmlns:a="http://schemas.openxmlformats.org/drawingml/2006/main">
            <a:r>
              <a:t>notebooks/drafts/06_differentiability_step_by_step.ipynb; original code. Cell sequencing inspired by Felix Köhler, hybridization-in-jax/first_data_assimilation.ipynb at61ee2629f5800d92fba64492a0f81efe3a6a7c39; no code copied.</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The practical fixes ux=0 on all outer boundaries and splits the total opening between top and bottom. Prescribed damaged nodes represent the initial notch. The load factor runs from .0125 to 1 over 60 increments. Read the effective configuration used by the solve and compare it with the mesh and boundary diagram.</a:t>
            </a:r>
          </a:p>
          <a:p xmlns:a="http://schemas.openxmlformats.org/drawingml/2006/main"/>
          <a:p xmlns:a="http://schemas.openxmlformats.org/drawingml/2006/main">
            <a:r>
              <a:t>Sources and provenance:</a:t>
            </a:r>
          </a:p>
          <a:p xmlns:a="http://schemas.openxmlformats.org/drawingml/2006/main">
            <a:r>
              <a:t>Original BC schematic based on notebooks/day2_helpers/course_tools.py and public symmetric_tension_bcs; no new fracture solve.</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L1.</a:t>
            </a:r>
          </a:p>
          <a:p xmlns:a="http://schemas.openxmlformats.org/drawingml/2006/main"/>
          <a:p xmlns:a="http://schemas.openxmlformats.org/drawingml/2006/main">
            <a:r>
              <a:t>Compare the prescribed seed, first solution and final field on one damage scale. These figures display the retained course calculation. Read the reaction trace and convergence diagnostics alongside the field. Use the execution receipt for the measured environment and runtime.</a:t>
            </a:r>
          </a:p>
          <a:p xmlns:a="http://schemas.openxmlformats.org/drawingml/2006/main"/>
          <a:p xmlns:a="http://schemas.openxmlformats.org/drawingml/2006/main">
            <a:r>
              <a:t>Sources and provenance:</a:t>
            </a:r>
          </a:p>
          <a:p xmlns:a="http://schemas.openxmlformats.org/drawingml/2006/main">
            <a:r>
              <a:t>source/slides/latex_figures/forward_fields.npz; forward_summary.json; evidence/notebook_runtime.json; evidence/package_rehearsal.json.</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L3 / practical bridge.</a:t>
            </a:r>
          </a:p>
          <a:p xmlns:a="http://schemas.openxmlformats.org/drawingml/2006/main"/>
          <a:p xmlns:a="http://schemas.openxmlformats.org/drawingml/2006/main">
            <a:r>
              <a:t>NPZ stores named arrays, JSON stores scalar metadata and histories, and PNG or PDF stores figures. A .pt model checkpoint additionally needs its feature and normalisation contract. The current forward archive contains nodes, elements, prescribed damage and damage snapshots. Explain how those fields support the plotted results.</a:t>
            </a:r>
          </a:p>
          <a:p xmlns:a="http://schemas.openxmlformats.org/drawingml/2006/main"/>
          <a:p xmlns:a="http://schemas.openxmlformats.org/drawingml/2006/main">
            <a:r>
              <a:t>Sources and provenance:</a:t>
            </a:r>
          </a:p>
          <a:p xmlns:a="http://schemas.openxmlformats.org/drawingml/2006/main">
            <a:r>
              <a:t>source/planning/PRACTICAL_SEQUENCE_AUDIT_20260909.md; notebooks/day2_helpers/course_tools.py.</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placement: L3 / practical bridge.</a:t>
            </a:r>
          </a:p>
          <a:p xmlns:a="http://schemas.openxmlformats.org/drawingml/2006/main"/>
          <a:p xmlns:a="http://schemas.openxmlformats.org/drawingml/2006/main">
            <a:r>
              <a:t>Ask students to predict, run a small calculation and explain the result. Separate setup from numerical execution. Use the recorded outputs for discussion and the downloadable notebook for experimentation. The course computational budget is 300 seconds per task after setup.</a:t>
            </a:r>
          </a:p>
          <a:p xmlns:a="http://schemas.openxmlformats.org/drawingml/2006/main"/>
          <a:p xmlns:a="http://schemas.openxmlformats.org/drawingml/2006/main">
            <a:r>
              <a:t>Sources and provenance:</a:t>
            </a:r>
          </a:p>
          <a:p xmlns:a="http://schemas.openxmlformats.org/drawingml/2006/main">
            <a:r>
              <a:t>Ceyron notebook references: source/planning/CEYRON_NOTEBOOK_DESIGN.md; D2L and Physics-Based Deep Learning supplied by the user as pedagogical references.</a:t>
            </a:r>
          </a:p>
          <a:p xmlns:a="http://schemas.openxmlformats.org/drawingml/2006/main"/>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L1 · 13–26 min. Analytic isolated AT2 profile. Lengths use one arbitrary unit.</a:t>
            </a:r>
          </a:p>
          <a:p/>
          <a:p>
            <a:r>
              <a:t>Play the 24.8-second clip. Pause around 15 seconds.</a:t>
            </a:r>
          </a:p>
          <a:p>
            <a:r>
              <a:t>Ask: How should the mesh change when the regularisation length is halved?</a:t>
            </a:r>
          </a:p>
          <a:p/>
          <a:p>
            <a:r>
              <a:t>Discussion: Keep the mesh-to-length-scale ratio comparable: halving the length scale suggests halving the local mesh spacing, followed by a resolution study.</a:t>
            </a:r>
          </a:p>
          <a:p/>
          <a:p>
            <a:r>
              <a:t>Static fallback: media/phase_field_band_poster.png. Describe the same sequence from its poster.</a:t>
            </a:r>
          </a:p>
          <a:p>
            <a:r>
              <a:t>Replay from the beginning after discussion. The clip is embedded in this deck and needs no network connection.</a:t>
            </a:r>
          </a:p>
          <a:p/>
          <a:p>
            <a:r>
              <a:t>Original source: source/animations/mechanics_scenes.py: PhaseFieldBand</a:t>
            </a:r>
          </a:p>
          <a:p/>
          <a:p>
            <a:r>
              <a:t>Created by Allamaprabhu Ani, CEMS-Lab, for the UKACM Autumn School 2026. Presented by Sathiskumar A. Ponnusami, Queen Mary University of London.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L1 · 26–40 min. Partitioned dynamic schematic. The PhAST practical uses quasistatic mechanics.</a:t>
            </a:r>
          </a:p>
          <a:p/>
          <a:p>
            <a:r>
              <a:t>Play the 26.5-second clip. Pause around 11 seconds.</a:t>
            </a:r>
          </a:p>
          <a:p>
            <a:r>
              <a:t>Ask: Which fields are held fixed during the mechanics and damage updates?</a:t>
            </a:r>
          </a:p>
          <a:p/>
          <a:p>
            <a:r>
              <a:t>Discussion: The explicit mechanics update uses the accepted damage. Its updated tensile energy and stored history drive the implicit damage problem. Describe the time-step stability and acceptance checks before advancing.</a:t>
            </a:r>
          </a:p>
          <a:p/>
          <a:p>
            <a:r>
              <a:t>Static fallback: media/explicit_implicit_step_poster.png. Describe the same sequence from its poster.</a:t>
            </a:r>
          </a:p>
          <a:p>
            <a:r>
              <a:t>Replay from the beginning after discussion. The clip is embedded in this deck and needs no network connection.</a:t>
            </a:r>
          </a:p>
          <a:p/>
          <a:p>
            <a:r>
              <a:t>Original source: source/animations/mechanics_scenes.py: ExplicitImplicitStep</a:t>
            </a:r>
          </a:p>
          <a:p/>
          <a:p>
            <a:r>
              <a:t>Created by Allamaprabhu Ani, CEMS-Lab, for the UKACM Autumn School 2026. Presented by Sathiskumar A. Ponnusami, Queen Mary University of London.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 22–35 min. Two differentiable updates; fixed initial state; terminal scalar loss.</a:t>
            </a:r>
          </a:p>
          <a:p/>
          <a:p>
            <a:r>
              <a:t>Play the 27.7-second clip. Pause around 15 seconds.</a:t>
            </a:r>
          </a:p>
          <a:p>
            <a:r>
              <a:t>Ask: Why does the final derivative contain one contribution from each update?</a:t>
            </a:r>
          </a:p>
          <a:p/>
          <a:p>
            <a:r>
              <a:t>Discussion: The shared parameter enters both update maps. Reverse accumulation propagates the terminal loss sensitivity through the state path and adds the local parameter-Jacobian products at both uses. The clip uses x, theta and L for the state, parameter and loss denoted z, p and J in the preceding slides.</a:t>
            </a:r>
          </a:p>
          <a:p/>
          <a:p>
            <a:r>
              <a:t>Static fallback: media/reverse_accumulation_poster.png. Describe the same sequence from its poster.</a:t>
            </a:r>
          </a:p>
          <a:p>
            <a:r>
              <a:t>Replay from the beginning after discussion. The clip is embedded in this deck and needs no network connection.</a:t>
            </a:r>
          </a:p>
          <a:p/>
          <a:p>
            <a:r>
              <a:t>Original source: source/animations/learning_scenes.py: ReverseAccumulation</a:t>
            </a:r>
          </a:p>
          <a:p/>
          <a:p>
            <a:r>
              <a:t>Created by Allamaprabhu Ani, CEMS-Lab, for the UKACM Autumn School 2026. Presented by Sathiskumar A. Ponnusami, Queen Mary University of London.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 35–45 min. Dimensionless material-point teaching example. Green: surrogate reverse weights.</a:t>
            </a:r>
          </a:p>
          <a:p/>
          <a:p>
            <a:r>
              <a:t>Play the 18-second clip. Pause around 10 seconds.</a:t>
            </a:r>
          </a:p>
          <a:p>
            <a:r>
              <a:t>Ask: During unloading below the previous peak, which input receives the hard-history sensitivity?</a:t>
            </a:r>
          </a:p>
          <a:p/>
          <a:p>
            <a:r>
              <a:t>Discussion: For H_new=max(H_old, psi), the old history receives the derivative when psi&lt;H_old; the current energy receives it when psi&gt;H_old. At equality the maximum is nonsmooth. The displayed 0.5 marker is a selected tie convention. The green sigmoid weights define a surrogate backward rule; they describe a different derivative rule from the hard maximum away from the branch transition as well.</a:t>
            </a:r>
          </a:p>
          <a:p/>
          <a:p>
            <a:r>
              <a:t>Static fallback: media/history_switch_poster.png. Describe the same sequence from its poster.</a:t>
            </a:r>
          </a:p>
          <a:p>
            <a:r>
              <a:t>Replay from the beginning after discussion. The clip is embedded in this deck and needs no network connection.</a:t>
            </a:r>
          </a:p>
          <a:p/>
          <a:p>
            <a:r>
              <a:t>Original source: source/book/research/code/history_animation.py; history_lesson.py</a:t>
            </a:r>
          </a:p>
          <a:p/>
          <a:p>
            <a:r>
              <a:t>Created by Allamaprabhu Ani, CEMS-Lab, for the UKACM Autumn School 2026. Presented by Sathiskumar A. Ponnusami, Queen Mary University of London.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L3 · 32–45 min. Interface schematic. Practical models: MLP/RBF on a Helmholtz-type teaching field.</a:t>
            </a:r>
          </a:p>
          <a:p/>
          <a:p>
            <a:r>
              <a:t>Play the 26.5-second clip. Pause around 15 seconds.</a:t>
            </a:r>
          </a:p>
          <a:p>
            <a:r>
              <a:t>Ask: Which checks should a proposed damage field satisfy before the simulation accepts it?</a:t>
            </a:r>
          </a:p>
          <a:p/>
          <a:p>
            <a:r>
              <a:t>Discussion: Check the declared node/graph ordering, units, normalisation and output location first. Check prescribed values, bounds, irreversibility and the declared residual tolerance. A corrected state is checked again. The graphic names Radius GNO/GNN as possible architecture contracts; the practical trains MLP/RBF models for a Helmholtz-type field problem. Total cost includes graph construction, prediction, conversion, checks and correction.</a:t>
            </a:r>
          </a:p>
          <a:p/>
          <a:p>
            <a:r>
              <a:t>Static fallback: media/checked_learned_proposal_poster.png. Describe the same sequence from its poster.</a:t>
            </a:r>
          </a:p>
          <a:p>
            <a:r>
              <a:t>Replay from the beginning after discussion. The clip is embedded in this deck and needs no network connection.</a:t>
            </a:r>
          </a:p>
          <a:p/>
          <a:p>
            <a:r>
              <a:t>Original source: source/animations/learning_scenes.py: CheckedLearnedProposal</a:t>
            </a:r>
          </a:p>
          <a:p/>
          <a:p>
            <a:r>
              <a:t>Created by Allamaprabhu Ani, CEMS-Lab, for the UKACM Autumn School 2026. Presented by Sathiskumar A. Ponnusami, Queen Mary University of London.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907bc86bbf484a87" Type="http://schemas.openxmlformats.org/officeDocument/2006/relationships/slideMaster" Target="../slideMasters/slideMaster1.xml"/><Relationship Id="Rd6de25d3ba9b498b"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46a1e01d63cd4f7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6553a4fe437477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a37ae713b73406c"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47e7ad5e13c473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3dfca06fa5b405a"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9749cd25f83b4f4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c700160507484d28"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0f15a554535b4de1" Type="http://schemas.openxmlformats.org/officeDocument/2006/relationships/slideMaster" Target="../slideMasters/slideMaster1.xml"/><Relationship Id="R66a2a3a28538492f"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f4c7cf4c73c64718"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c0892bc233bd466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aaf131b88fa7455a" Type="http://schemas.openxmlformats.org/officeDocument/2006/relationships/slideMaster" Target="../slideMasters/slideMaster1.xml"/><Relationship Id="Rdccb4e65539b4439"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46da33ea356d4650"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7fec8b1311d046a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b691ff0a7bc34c1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1e95b4f7ef5c493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230413f6f76e45ed" Type="http://schemas.openxmlformats.org/officeDocument/2006/relationships/slideMaster" Target="../slideMasters/slideMaster1.xml"/></Relationships>
</file>

<file path=ppt/slideLayouts/slideLayout1.xml><?xml version="1.0" encoding="utf-8"?>
<p:sldLayout xmlns:p="http://schemas.openxmlformats.org/presentationml/2006/main" showMasterSp="1" showMasterPhAnim="1" type="title">
  <p:cSld name="Title">
    <p:bg>
      <p:bgPr>
        <a:blipFill xmlns:a="http://schemas.openxmlformats.org/drawingml/2006/main" rotWithShape="1">
          <a:blip xmlns:r="http://schemas.openxmlformats.org/officeDocument/2006/relationships" r:embed="Rd6de25d3ba9b498b"/>
          <a:srcRect l="0" t="0" r="0" b="0"/>
          <a:stretch>
            <a:fillRect l="0" t="0" r="0" b="0"/>
          </a:stretch>
        </a:blipFill>
      </p:bgPr>
    </p:bg>
    <p:spTree>
      <p:nvGrpSpPr>
        <p:cNvPr id="1" name=""/>
        <p:cNvGrpSpPr/>
        <p:nvPr/>
      </p:nvGrpSpPr>
      <p:grpSpPr>
        <a:xfrm xmlns:a="http://schemas.openxmlformats.org/drawingml/2006/main"/>
      </p:grpSpPr>
      <p:sp>
        <p:nvSpPr>
          <p:cNvPr id="11" name="Author and Date">
            <a:extLst xmlns:a="http://schemas.openxmlformats.org/drawingml/2006/main">
              <a:ext uri="{FF2B5EF4-FFF2-40B4-BE49-F238E27FC236}">
                <a16:creationId xmlns:a16="http://schemas.microsoft.com/office/drawing/2014/main" id="{54BE1409-7248-4897-9C95-CB4252205287}"/>
              </a:ext>
            </a:extLst>
          </p:cNvPr>
          <p:cNvSpPr>
            <a:spLocks xmlns:a="http://schemas.openxmlformats.org/drawingml/2006/main" noGrp="1"/>
          </p:cNvSpPr>
          <p:nvPr>
            <p:ph type="body" idx="21" hasCustomPrompt="1"/>
          </p:nvPr>
        </p:nvSpPr>
        <p:spPr>
          <a:xfrm xmlns:a="http://schemas.openxmlformats.org/drawingml/2006/main">
            <a:off x="1201340" y="11847162"/>
            <a:ext cx="21971003" cy="6369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3600" b="1"/>
            </a:lvl1pPr>
          </a:lstStyle>
          <a:p xmlns:a="http://schemas.openxmlformats.org/drawingml/2006/main">
            <a:pPr>
              <a:buNone/>
            </a:pPr>
            <a:r>
              <a:t>Author and Date</a:t>
            </a:r>
          </a:p>
        </p:txBody>
      </p:sp>
      <p:sp>
        <p:nvSpPr>
          <p:cNvPr id="12" name="Presentation Title">
            <a:extLst xmlns:a="http://schemas.openxmlformats.org/drawingml/2006/main">
              <a:ext uri="{FF2B5EF4-FFF2-40B4-BE49-F238E27FC236}">
                <a16:creationId xmlns:a16="http://schemas.microsoft.com/office/drawing/2014/main" id="{D0C6A036-990D-4947-AA16-CE0ACDAC683D}"/>
              </a:ext>
            </a:extLst>
          </p:cNvPr>
          <p:cNvSpPr>
            <a:spLocks xmlns:a="http://schemas.openxmlformats.org/drawingml/2006/main" noGrp="1"/>
          </p:cNvSpPr>
          <p:nvPr>
            <p:ph type="title" idx="0" hasCustomPrompt="1"/>
          </p:nvPr>
        </p:nvSpPr>
        <p:spPr>
          <a:xfrm xmlns:a="http://schemas.openxmlformats.org/drawingml/2006/main">
            <a:off x="1206496" y="2574991"/>
            <a:ext cx="21971004" cy="4648201"/>
          </a:xfrm>
          <a:prstGeom xmlns:a="http://schemas.openxmlformats.org/drawingml/2006/main" prst="rect">
            <a:avLst/>
          </a:prstGeom>
        </p:spPr>
        <p:txBody>
          <a:bodyPr xmlns:a="http://schemas.openxmlformats.org/drawingml/2006/main" anchor="b"/>
          <a:lstStyle xmlns:a="http://schemas.openxmlformats.org/drawingml/2006/main">
            <a:lvl1pPr>
              <a:buNone/>
              <a:defRPr sz="11600" spc="-232">
                <a:solidFill>
                  <a:srgbClr val="000000"/>
                </a:solidFill>
              </a:defRPr>
            </a:lvl1pPr>
          </a:lstStyle>
          <a:p xmlns:a="http://schemas.openxmlformats.org/drawingml/2006/main">
            <a:pPr>
              <a:buNone/>
            </a:pPr>
            <a:r>
              <a:t>Presentation Title</a:t>
            </a:r>
          </a:p>
        </p:txBody>
      </p:sp>
      <p:sp>
        <p:nvSpPr>
          <p:cNvPr id="13" name="Body Level One…">
            <a:extLst xmlns:a="http://schemas.openxmlformats.org/drawingml/2006/main">
              <a:ext uri="{FF2B5EF4-FFF2-40B4-BE49-F238E27FC236}">
                <a16:creationId xmlns:a16="http://schemas.microsoft.com/office/drawing/2014/main" id="{C01F3DBD-8CFE-4D7F-919C-FC2CEFF76D52}"/>
              </a:ext>
            </a:extLst>
          </p:cNvPr>
          <p:cNvSpPr>
            <a:spLocks xmlns:a="http://schemas.openxmlformats.org/drawingml/2006/main" noGrp="1"/>
          </p:cNvSpPr>
          <p:nvPr>
            <p:ph type="body" idx="1" hasCustomPrompt="1"/>
          </p:nvPr>
        </p:nvSpPr>
        <p:spPr>
          <a:xfrm xmlns:a="http://schemas.openxmlformats.org/drawingml/2006/main">
            <a:off x="1201342" y="7210490"/>
            <a:ext cx="21971001" cy="1905001"/>
          </a:xfrm>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xmlns:a="http://schemas.openxmlformats.org/drawingml/2006/main">
            <a:pPr>
              <a:buNone/>
            </a:pPr>
            <a:r>
              <a:t>Presentation Subtitle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4" name="Slide Number">
            <a:extLst xmlns:a="http://schemas.openxmlformats.org/drawingml/2006/main">
              <a:ext uri="{FF2B5EF4-FFF2-40B4-BE49-F238E27FC236}">
                <a16:creationId xmlns:a16="http://schemas.microsoft.com/office/drawing/2014/main" id="{8E7C2852-BB0E-49C7-9391-C8D09D8992BE}"/>
              </a:ext>
            </a:extLst>
          </p:cNvPr>
          <p:cNvSpPr>
            <a:spLocks xmlns:a="http://schemas.openxmlformats.org/drawingml/2006/main" noGrp="1"/>
          </p:cNvSpPr>
          <p:nvPr>
            <p:ph type="sldNum" idx="2"/>
          </p:nvPr>
        </p:nvSpPr>
        <p:spPr>
          <a:xfrm xmlns:a="http://schemas.openxmlformats.org/drawingml/2006/main">
            <a:off x="22803838" y="13080999"/>
            <a:ext cx="368504" cy="374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1">
  <p:cSld name="Title &amp; Photo">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Colourful tulip field in front of a Dutch windmill">
            <a:extLst xmlns:a="http://schemas.openxmlformats.org/drawingml/2006/main">
              <a:ext uri="{FF2B5EF4-FFF2-40B4-BE49-F238E27FC236}">
                <a16:creationId xmlns:a16="http://schemas.microsoft.com/office/drawing/2014/main" id="{B86BEFBA-FCEE-4F39-8447-55B29474DB04}"/>
              </a:ext>
            </a:extLst>
          </p:cNvPr>
          <p:cNvSpPr>
            <a:spLocks xmlns:a="http://schemas.openxmlformats.org/drawingml/2006/main" noGrp="1"/>
          </p:cNvSpPr>
          <p:nvPr>
            <p:ph type="pic" idx="21"/>
          </p:nvPr>
        </p:nvSpPr>
        <p:spPr>
          <a:xfrm xmlns:a="http://schemas.openxmlformats.org/drawingml/2006/main">
            <a:off x="0" y="-1244600"/>
            <a:ext cx="24384000" cy="16205200"/>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22" name="Presentation Title">
            <a:extLst xmlns:a="http://schemas.openxmlformats.org/drawingml/2006/main">
              <a:ext uri="{FF2B5EF4-FFF2-40B4-BE49-F238E27FC236}">
                <a16:creationId xmlns:a16="http://schemas.microsoft.com/office/drawing/2014/main" id="{3B6C9209-5266-40D5-849D-3B7DA68135A0}"/>
              </a:ext>
            </a:extLst>
          </p:cNvPr>
          <p:cNvSpPr>
            <a:spLocks xmlns:a="http://schemas.openxmlformats.org/drawingml/2006/main" noGrp="1"/>
          </p:cNvSpPr>
          <p:nvPr>
            <p:ph type="title" idx="0" hasCustomPrompt="1"/>
          </p:nvPr>
        </p:nvSpPr>
        <p:spPr>
          <a:xfrm xmlns:a="http://schemas.openxmlformats.org/drawingml/2006/main">
            <a:off x="1206500" y="7124700"/>
            <a:ext cx="21971000" cy="4648200"/>
          </a:xfrm>
          <a:prstGeom xmlns:a="http://schemas.openxmlformats.org/drawingml/2006/main" prst="rect">
            <a:avLst/>
          </a:prstGeom>
        </p:spPr>
        <p:txBody>
          <a:bodyPr xmlns:a="http://schemas.openxmlformats.org/drawingml/2006/main" anchor="b"/>
          <a:lstStyle xmlns:a="http://schemas.openxmlformats.org/drawingml/2006/main">
            <a:lvl1pPr>
              <a:buNone/>
              <a:defRPr sz="11600" spc="-232">
                <a:solidFill>
                  <a:srgbClr val="FFFFFF"/>
                </a:solidFill>
              </a:defRPr>
            </a:lvl1pPr>
          </a:lstStyle>
          <a:p xmlns:a="http://schemas.openxmlformats.org/drawingml/2006/main">
            <a:pPr>
              <a:buNone/>
            </a:pPr>
            <a:r>
              <a:t>Presentation Title</a:t>
            </a:r>
          </a:p>
        </p:txBody>
      </p:sp>
      <p:sp>
        <p:nvSpPr>
          <p:cNvPr id="23" name="Author and Date">
            <a:extLst xmlns:a="http://schemas.openxmlformats.org/drawingml/2006/main">
              <a:ext uri="{FF2B5EF4-FFF2-40B4-BE49-F238E27FC236}">
                <a16:creationId xmlns:a16="http://schemas.microsoft.com/office/drawing/2014/main" id="{38CBE243-B46C-42B6-AC0E-6BFE7965C699}"/>
              </a:ext>
            </a:extLst>
          </p:cNvPr>
          <p:cNvSpPr>
            <a:spLocks xmlns:a="http://schemas.openxmlformats.org/drawingml/2006/main" noGrp="1"/>
          </p:cNvSpPr>
          <p:nvPr>
            <p:ph type="body" idx="22" hasCustomPrompt="1"/>
          </p:nvPr>
        </p:nvSpPr>
        <p:spPr>
          <a:xfrm xmlns:a="http://schemas.openxmlformats.org/drawingml/2006/main">
            <a:off x="1207690" y="1106137"/>
            <a:ext cx="21968621" cy="6369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3600" b="1"/>
            </a:lvl1pPr>
          </a:lstStyle>
          <a:p xmlns:a="http://schemas.openxmlformats.org/drawingml/2006/main">
            <a:pPr>
              <a:buNone/>
            </a:pPr>
            <a:r>
              <a:t>Author and Date</a:t>
            </a:r>
          </a:p>
        </p:txBody>
      </p:sp>
      <p:sp>
        <p:nvSpPr>
          <p:cNvPr id="24" name="Body Level One…">
            <a:extLst xmlns:a="http://schemas.openxmlformats.org/drawingml/2006/main">
              <a:ext uri="{FF2B5EF4-FFF2-40B4-BE49-F238E27FC236}">
                <a16:creationId xmlns:a16="http://schemas.microsoft.com/office/drawing/2014/main" id="{25D546D1-8685-4C6D-AD39-4D96A78EE6AC}"/>
              </a:ext>
            </a:extLst>
          </p:cNvPr>
          <p:cNvSpPr>
            <a:spLocks xmlns:a="http://schemas.openxmlformats.org/drawingml/2006/main" noGrp="1"/>
          </p:cNvSpPr>
          <p:nvPr>
            <p:ph type="body" idx="1" hasCustomPrompt="1"/>
          </p:nvPr>
        </p:nvSpPr>
        <p:spPr>
          <a:xfrm xmlns:a="http://schemas.openxmlformats.org/drawingml/2006/main">
            <a:off x="1206500" y="11609910"/>
            <a:ext cx="21971000" cy="1117601"/>
          </a:xfrm>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0"/>
              </a:spcBef>
              <a:buSzTx/>
              <a:buNone/>
              <a:defRPr sz="5500" b="1">
                <a:solidFill>
                  <a:srgbClr val="FFFFFF"/>
                </a:solidFill>
              </a:defRPr>
            </a:lvl1pPr>
            <a:lvl2pPr marL="0" indent="457200" defTabSz="825500">
              <a:lnSpc>
                <a:spcPct val="100000"/>
              </a:lnSpc>
              <a:spcBef>
                <a:spcPts val="0"/>
              </a:spcBef>
              <a:buSzTx/>
              <a:buNone/>
              <a:defRPr sz="5500" b="1">
                <a:solidFill>
                  <a:srgbClr val="FFFFFF"/>
                </a:solidFill>
              </a:defRPr>
            </a:lvl2pPr>
            <a:lvl3pPr marL="0" indent="914400" defTabSz="825500">
              <a:lnSpc>
                <a:spcPct val="100000"/>
              </a:lnSpc>
              <a:spcBef>
                <a:spcPts val="0"/>
              </a:spcBef>
              <a:buSzTx/>
              <a:buNone/>
              <a:defRPr sz="5500" b="1">
                <a:solidFill>
                  <a:srgbClr val="FFFFFF"/>
                </a:solidFill>
              </a:defRPr>
            </a:lvl3pPr>
            <a:lvl4pPr marL="0" indent="1371600" defTabSz="825500">
              <a:lnSpc>
                <a:spcPct val="100000"/>
              </a:lnSpc>
              <a:spcBef>
                <a:spcPts val="0"/>
              </a:spcBef>
              <a:buSzTx/>
              <a:buNone/>
              <a:defRPr sz="5500" b="1">
                <a:solidFill>
                  <a:srgbClr val="FFFFFF"/>
                </a:solidFill>
              </a:defRPr>
            </a:lvl4pPr>
            <a:lvl5pPr marL="0" indent="1828800" defTabSz="825500">
              <a:lnSpc>
                <a:spcPct val="100000"/>
              </a:lnSpc>
              <a:spcBef>
                <a:spcPts val="0"/>
              </a:spcBef>
              <a:buSzTx/>
              <a:buNone/>
              <a:defRPr sz="5500" b="1">
                <a:solidFill>
                  <a:srgbClr val="FFFFFF"/>
                </a:solidFill>
              </a:defRPr>
            </a:lvl5pPr>
          </a:lstStyle>
          <a:p xmlns:a="http://schemas.openxmlformats.org/drawingml/2006/main">
            <a:pPr>
              <a:buNone/>
            </a:pPr>
            <a:r>
              <a:t>Presentation Subtitle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25" name="Slide Number">
            <a:extLst xmlns:a="http://schemas.openxmlformats.org/drawingml/2006/main">
              <a:ext uri="{FF2B5EF4-FFF2-40B4-BE49-F238E27FC236}">
                <a16:creationId xmlns:a16="http://schemas.microsoft.com/office/drawing/2014/main" id="{60499E4F-4703-41EF-8C65-F361B0D81C3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pPr>
              <a:buNone/>
            </a:pPr>
          </a:p>
        </p:txBody>
      </p:sp>
    </p:spTree>
  </p:cSld>
</p:sldLayout>
</file>

<file path=ppt/slideLayouts/slideLayout3.xml><?xml version="1.0" encoding="utf-8"?>
<p:sldLayout xmlns:p="http://schemas.openxmlformats.org/presentationml/2006/main" showMasterSp="1" showMasterPhAnim="1">
  <p:cSld name="Title &amp; Photo Alt">
    <p:spTree>
      <p:nvGrpSpPr>
        <p:cNvPr id="1" name=""/>
        <p:cNvGrpSpPr/>
        <p:nvPr/>
      </p:nvGrpSpPr>
      <p:grpSpPr>
        <a:xfrm xmlns:a="http://schemas.openxmlformats.org/drawingml/2006/main"/>
      </p:grpSpPr>
      <p:sp>
        <p:nvSpPr>
          <p:cNvPr id="32" name="Angled aerial view of colourful tulip fields">
            <a:extLst xmlns:a="http://schemas.openxmlformats.org/drawingml/2006/main">
              <a:ext uri="{FF2B5EF4-FFF2-40B4-BE49-F238E27FC236}">
                <a16:creationId xmlns:a16="http://schemas.microsoft.com/office/drawing/2014/main" id="{7F712A3C-4BD4-4104-BF8D-AEB6185FD136}"/>
              </a:ext>
            </a:extLst>
          </p:cNvPr>
          <p:cNvSpPr>
            <a:spLocks xmlns:a="http://schemas.openxmlformats.org/drawingml/2006/main" noGrp="1"/>
          </p:cNvSpPr>
          <p:nvPr>
            <p:ph type="pic" idx="21"/>
          </p:nvPr>
        </p:nvSpPr>
        <p:spPr>
          <a:xfrm xmlns:a="http://schemas.openxmlformats.org/drawingml/2006/main">
            <a:off x="9256618" y="1263650"/>
            <a:ext cx="16791796" cy="11188700"/>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33" name="Slide Title">
            <a:extLst xmlns:a="http://schemas.openxmlformats.org/drawingml/2006/main">
              <a:ext uri="{FF2B5EF4-FFF2-40B4-BE49-F238E27FC236}">
                <a16:creationId xmlns:a16="http://schemas.microsoft.com/office/drawing/2014/main" id="{4EF3E7D8-2B2B-4952-B956-0E87DD1E2319}"/>
              </a:ext>
            </a:extLst>
          </p:cNvPr>
          <p:cNvSpPr>
            <a:spLocks xmlns:a="http://schemas.openxmlformats.org/drawingml/2006/main" noGrp="1"/>
          </p:cNvSpPr>
          <p:nvPr>
            <p:ph type="title" idx="0" hasCustomPrompt="1"/>
          </p:nvPr>
        </p:nvSpPr>
        <p:spPr>
          <a:xfrm xmlns:a="http://schemas.openxmlformats.org/drawingml/2006/main">
            <a:off x="1206500" y="1270000"/>
            <a:ext cx="9779000" cy="5882273"/>
          </a:xfrm>
          <a:prstGeom xmlns:a="http://schemas.openxmlformats.org/drawingml/2006/main" prst="rect">
            <a:avLst/>
          </a:prstGeom>
        </p:spPr>
        <p:txBody>
          <a:bodyPr xmlns:a="http://schemas.openxmlformats.org/drawingml/2006/main" anchor="b"/>
          <a:lstStyle xmlns:a="http://schemas.openxmlformats.org/drawingml/2006/main"/>
          <a:p xmlns:a="http://schemas.openxmlformats.org/drawingml/2006/main">
            <a:pPr>
              <a:buNone/>
            </a:pPr>
            <a:r>
              <a:t>Slide Title</a:t>
            </a:r>
          </a:p>
        </p:txBody>
      </p:sp>
      <p:sp>
        <p:nvSpPr>
          <p:cNvPr id="34" name="Body Level One…">
            <a:extLst xmlns:a="http://schemas.openxmlformats.org/drawingml/2006/main">
              <a:ext uri="{FF2B5EF4-FFF2-40B4-BE49-F238E27FC236}">
                <a16:creationId xmlns:a16="http://schemas.microsoft.com/office/drawing/2014/main" id="{64AF5C94-AEEA-4DFB-8406-CEF016A3632B}"/>
              </a:ext>
            </a:extLst>
          </p:cNvPr>
          <p:cNvSpPr>
            <a:spLocks xmlns:a="http://schemas.openxmlformats.org/drawingml/2006/main" noGrp="1"/>
          </p:cNvSpPr>
          <p:nvPr>
            <p:ph type="body" idx="1" hasCustomPrompt="1"/>
          </p:nvPr>
        </p:nvSpPr>
        <p:spPr>
          <a:xfrm xmlns:a="http://schemas.openxmlformats.org/drawingml/2006/main">
            <a:off x="1206500" y="7060576"/>
            <a:ext cx="9779000" cy="5385424"/>
          </a:xfrm>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xmlns:a="http://schemas.openxmlformats.org/drawingml/2006/main">
            <a:pPr>
              <a:buNone/>
            </a:pPr>
            <a:r>
              <a:t>Slide Subtitle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35" name="Slide Number">
            <a:extLst xmlns:a="http://schemas.openxmlformats.org/drawingml/2006/main">
              <a:ext uri="{FF2B5EF4-FFF2-40B4-BE49-F238E27FC236}">
                <a16:creationId xmlns:a16="http://schemas.microsoft.com/office/drawing/2014/main" id="{0051F8DF-68B4-406B-8309-A31D00BD876F}"/>
              </a:ext>
            </a:extLst>
          </p:cNvPr>
          <p:cNvSpPr>
            <a:spLocks xmlns:a="http://schemas.openxmlformats.org/drawingml/2006/main" noGrp="1"/>
          </p:cNvSpPr>
          <p:nvPr>
            <p:ph type="sldNum" idx="2"/>
          </p:nvPr>
        </p:nvSpPr>
        <p:spPr>
          <a:xfrm xmlns:a="http://schemas.openxmlformats.org/drawingml/2006/main">
            <a:off x="22809200" y="13085233"/>
            <a:ext cx="368504" cy="374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4.xml><?xml version="1.0" encoding="utf-8"?>
<p:sldLayout xmlns:p="http://schemas.openxmlformats.org/presentationml/2006/main" showMasterSp="1" showMasterPhAnim="1">
  <p:cSld name="Title &amp; Bullets">
    <p:spTree>
      <p:nvGrpSpPr>
        <p:cNvPr id="1" name=""/>
        <p:cNvGrpSpPr/>
        <p:nvPr/>
      </p:nvGrpSpPr>
      <p:grpSpPr>
        <a:xfrm xmlns:a="http://schemas.openxmlformats.org/drawingml/2006/main"/>
      </p:grpSpPr>
      <p:sp>
        <p:nvSpPr>
          <p:cNvPr id="42" name="Slide Title">
            <a:extLst xmlns:a="http://schemas.openxmlformats.org/drawingml/2006/main">
              <a:ext uri="{FF2B5EF4-FFF2-40B4-BE49-F238E27FC236}">
                <a16:creationId xmlns:a16="http://schemas.microsoft.com/office/drawing/2014/main" id="{B5F13546-2178-4240-9939-4865AF8E0591}"/>
              </a:ext>
            </a:extLst>
          </p:cNvPr>
          <p:cNvSpPr>
            <a:spLocks xmlns:a="http://schemas.openxmlformats.org/drawingml/2006/main" noGrp="1"/>
          </p:cNvSpPr>
          <p:nvPr>
            <p:ph type="title" idx="0"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43" name="Slide Subtitle">
            <a:extLst xmlns:a="http://schemas.openxmlformats.org/drawingml/2006/main">
              <a:ext uri="{FF2B5EF4-FFF2-40B4-BE49-F238E27FC236}">
                <a16:creationId xmlns:a16="http://schemas.microsoft.com/office/drawing/2014/main" id="{B9DC2B15-4B5F-4059-82C3-1365616DAE92}"/>
              </a:ext>
            </a:extLst>
          </p:cNvPr>
          <p:cNvSpPr>
            <a:spLocks xmlns:a="http://schemas.openxmlformats.org/drawingml/2006/main" noGrp="1"/>
          </p:cNvSpPr>
          <p:nvPr>
            <p:ph type="body" idx="21" hasCustomPrompt="1"/>
          </p:nvPr>
        </p:nvSpPr>
        <p:spPr>
          <a:xfrm xmlns:a="http://schemas.openxmlformats.org/drawingml/2006/main">
            <a:off x="1206500" y="2245962"/>
            <a:ext cx="21971000" cy="934780"/>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44" name="Body Level One…">
            <a:extLst xmlns:a="http://schemas.openxmlformats.org/drawingml/2006/main">
              <a:ext uri="{FF2B5EF4-FFF2-40B4-BE49-F238E27FC236}">
                <a16:creationId xmlns:a16="http://schemas.microsoft.com/office/drawing/2014/main" id="{D954A1C6-289B-4EF8-87EE-BFF2E2D9F8CA}"/>
              </a:ext>
            </a:extLst>
          </p:cNvPr>
          <p:cNvSpPr>
            <a:spLocks xmlns:a="http://schemas.openxmlformats.org/drawingml/2006/main" noGrp="1"/>
          </p:cNvSpPr>
          <p:nvPr>
            <p:ph type="body" idx="1"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45" name="Slide Number">
            <a:extLst xmlns:a="http://schemas.openxmlformats.org/drawingml/2006/main">
              <a:ext uri="{FF2B5EF4-FFF2-40B4-BE49-F238E27FC236}">
                <a16:creationId xmlns:a16="http://schemas.microsoft.com/office/drawing/2014/main" id="{37C56C41-AE7C-49A4-81B0-B04008CC3D06}"/>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5.xml><?xml version="1.0" encoding="utf-8"?>
<p:sldLayout xmlns:p="http://schemas.openxmlformats.org/presentationml/2006/main" showMasterSp="1" showMasterPhAnim="1">
  <p:cSld name="Bullets">
    <p:spTree>
      <p:nvGrpSpPr>
        <p:cNvPr id="1" name=""/>
        <p:cNvGrpSpPr/>
        <p:nvPr/>
      </p:nvGrpSpPr>
      <p:grpSpPr>
        <a:xfrm xmlns:a="http://schemas.openxmlformats.org/drawingml/2006/main"/>
      </p:grpSpPr>
      <p:sp>
        <p:nvSpPr>
          <p:cNvPr id="52" name="Body Level One…">
            <a:extLst xmlns:a="http://schemas.openxmlformats.org/drawingml/2006/main">
              <a:ext uri="{FF2B5EF4-FFF2-40B4-BE49-F238E27FC236}">
                <a16:creationId xmlns:a16="http://schemas.microsoft.com/office/drawing/2014/main" id="{18C09C67-C9CA-4B44-888A-61A0BB12AD29}"/>
              </a:ext>
            </a:extLst>
          </p:cNvPr>
          <p:cNvSpPr>
            <a:spLocks xmlns:a="http://schemas.openxmlformats.org/drawingml/2006/main" noGrp="1"/>
          </p:cNvSpPr>
          <p:nvPr>
            <p:ph type="body" idx="1"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53" name="Slide Number">
            <a:extLst xmlns:a="http://schemas.openxmlformats.org/drawingml/2006/main">
              <a:ext uri="{FF2B5EF4-FFF2-40B4-BE49-F238E27FC236}">
                <a16:creationId xmlns:a16="http://schemas.microsoft.com/office/drawing/2014/main" id="{6B7377AF-D614-49B8-BB19-03764CBCE14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6.xml><?xml version="1.0" encoding="utf-8"?>
<p:sldLayout xmlns:p="http://schemas.openxmlformats.org/presentationml/2006/main" showMasterSp="1" showMasterPhAnim="1">
  <p:cSld name="Title, Bullets &amp; Photo">
    <p:spTree>
      <p:nvGrpSpPr>
        <p:cNvPr id="1" name=""/>
        <p:cNvGrpSpPr/>
        <p:nvPr/>
      </p:nvGrpSpPr>
      <p:grpSpPr>
        <a:xfrm xmlns:a="http://schemas.openxmlformats.org/drawingml/2006/main"/>
      </p:grpSpPr>
      <p:sp>
        <p:nvSpPr>
          <p:cNvPr id="60" name="Slide Subtitle">
            <a:extLst xmlns:a="http://schemas.openxmlformats.org/drawingml/2006/main">
              <a:ext uri="{FF2B5EF4-FFF2-40B4-BE49-F238E27FC236}">
                <a16:creationId xmlns:a16="http://schemas.microsoft.com/office/drawing/2014/main" id="{49D2742C-6BBE-426C-93E4-1EEEEABB881D}"/>
              </a:ext>
            </a:extLst>
          </p:cNvPr>
          <p:cNvSpPr>
            <a:spLocks xmlns:a="http://schemas.openxmlformats.org/drawingml/2006/main" noGrp="1"/>
          </p:cNvSpPr>
          <p:nvPr>
            <p:ph type="body" idx="21" hasCustomPrompt="1"/>
          </p:nvPr>
        </p:nvSpPr>
        <p:spPr>
          <a:xfrm xmlns:a="http://schemas.openxmlformats.org/drawingml/2006/main">
            <a:off x="1206500" y="2247900"/>
            <a:ext cx="9779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61" name="Body Level One…">
            <a:extLst xmlns:a="http://schemas.openxmlformats.org/drawingml/2006/main">
              <a:ext uri="{FF2B5EF4-FFF2-40B4-BE49-F238E27FC236}">
                <a16:creationId xmlns:a16="http://schemas.microsoft.com/office/drawing/2014/main" id="{DB5A75B5-751C-452F-988F-6812417ADE33}"/>
              </a:ext>
            </a:extLst>
          </p:cNvPr>
          <p:cNvSpPr>
            <a:spLocks xmlns:a="http://schemas.openxmlformats.org/drawingml/2006/main" noGrp="1"/>
          </p:cNvSpPr>
          <p:nvPr>
            <p:ph type="body" idx="1" hasCustomPrompt="1"/>
          </p:nvPr>
        </p:nvSpPr>
        <p:spPr>
          <a:xfrm xmlns:a="http://schemas.openxmlformats.org/drawingml/2006/main">
            <a:off x="1206500" y="4248504"/>
            <a:ext cx="9779000" cy="825663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62" name="Aerial view of colourful tulip fields">
            <a:extLst xmlns:a="http://schemas.openxmlformats.org/drawingml/2006/main">
              <a:ext uri="{FF2B5EF4-FFF2-40B4-BE49-F238E27FC236}">
                <a16:creationId xmlns:a16="http://schemas.microsoft.com/office/drawing/2014/main" id="{319239A3-698C-4B3D-A133-B6FD6BDF5DA1}"/>
              </a:ext>
            </a:extLst>
          </p:cNvPr>
          <p:cNvSpPr>
            <a:spLocks xmlns:a="http://schemas.openxmlformats.org/drawingml/2006/main" noGrp="1"/>
          </p:cNvSpPr>
          <p:nvPr>
            <p:ph type="pic" idx="22"/>
          </p:nvPr>
        </p:nvSpPr>
        <p:spPr>
          <a:xfrm xmlns:a="http://schemas.openxmlformats.org/drawingml/2006/main">
            <a:off x="10291780" y="1263848"/>
            <a:ext cx="14717313" cy="11188205"/>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63" name="Slide Title">
            <a:extLst xmlns:a="http://schemas.openxmlformats.org/drawingml/2006/main">
              <a:ext uri="{FF2B5EF4-FFF2-40B4-BE49-F238E27FC236}">
                <a16:creationId xmlns:a16="http://schemas.microsoft.com/office/drawing/2014/main" id="{FD58E280-4453-4C31-824C-556FAB7E91B1}"/>
              </a:ext>
            </a:extLst>
          </p:cNvPr>
          <p:cNvSpPr>
            <a:spLocks xmlns:a="http://schemas.openxmlformats.org/drawingml/2006/main" noGrp="1"/>
          </p:cNvSpPr>
          <p:nvPr>
            <p:ph type="title" idx="0" hasCustomPrompt="1"/>
          </p:nvPr>
        </p:nvSpPr>
        <p:spPr>
          <a:xfrm xmlns:a="http://schemas.openxmlformats.org/drawingml/2006/main">
            <a:off x="1206500" y="952500"/>
            <a:ext cx="9779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64" name="Slide Number">
            <a:extLst xmlns:a="http://schemas.openxmlformats.org/drawingml/2006/main">
              <a:ext uri="{FF2B5EF4-FFF2-40B4-BE49-F238E27FC236}">
                <a16:creationId xmlns:a16="http://schemas.microsoft.com/office/drawing/2014/main" id="{3221A976-9296-462E-88F6-6226F0D848F8}"/>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7.xml><?xml version="1.0" encoding="utf-8"?>
<p:sldLayout xmlns:p="http://schemas.openxmlformats.org/presentationml/2006/main" showMasterSp="1" showMasterPhAnim="1">
  <p:cSld name="Title, Bullets &amp; Live Video Small">
    <p:spTree>
      <p:nvGrpSpPr>
        <p:cNvPr id="1" name=""/>
        <p:cNvGrpSpPr/>
        <p:nvPr/>
      </p:nvGrpSpPr>
      <p:grpSpPr>
        <a:xfrm xmlns:a="http://schemas.openxmlformats.org/drawingml/2006/main"/>
      </p:grpSpPr>
      <p:sp>
        <p:nvSpPr>
          <p:cNvPr id="71" name="Slide Subtitle">
            <a:extLst xmlns:a="http://schemas.openxmlformats.org/drawingml/2006/main">
              <a:ext uri="{FF2B5EF4-FFF2-40B4-BE49-F238E27FC236}">
                <a16:creationId xmlns:a16="http://schemas.microsoft.com/office/drawing/2014/main" id="{AE9E8D3F-3D35-4B56-9792-FB5CB882EB89}"/>
              </a:ext>
            </a:extLst>
          </p:cNvPr>
          <p:cNvSpPr>
            <a:spLocks xmlns:a="http://schemas.openxmlformats.org/drawingml/2006/main" noGrp="1"/>
          </p:cNvSpPr>
          <p:nvPr>
            <p:ph type="body" idx="21" hasCustomPrompt="1"/>
          </p:nvPr>
        </p:nvSpPr>
        <p:spPr>
          <a:xfrm xmlns:a="http://schemas.openxmlformats.org/drawingml/2006/main">
            <a:off x="1206500" y="2247900"/>
            <a:ext cx="9779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72" name="Body Level One…">
            <a:extLst xmlns:a="http://schemas.openxmlformats.org/drawingml/2006/main">
              <a:ext uri="{FF2B5EF4-FFF2-40B4-BE49-F238E27FC236}">
                <a16:creationId xmlns:a16="http://schemas.microsoft.com/office/drawing/2014/main" id="{781EF249-A80A-46BD-851D-9A4DDBC1F2BE}"/>
              </a:ext>
            </a:extLst>
          </p:cNvPr>
          <p:cNvSpPr>
            <a:spLocks xmlns:a="http://schemas.openxmlformats.org/drawingml/2006/main" noGrp="1"/>
          </p:cNvSpPr>
          <p:nvPr>
            <p:ph type="body" idx="1" hasCustomPrompt="1"/>
          </p:nvPr>
        </p:nvSpPr>
        <p:spPr>
          <a:xfrm xmlns:a="http://schemas.openxmlformats.org/drawingml/2006/main">
            <a:off x="1206500" y="4248504"/>
            <a:ext cx="9779000" cy="825663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73" name="Slide Title">
            <a:extLst xmlns:a="http://schemas.openxmlformats.org/drawingml/2006/main">
              <a:ext uri="{FF2B5EF4-FFF2-40B4-BE49-F238E27FC236}">
                <a16:creationId xmlns:a16="http://schemas.microsoft.com/office/drawing/2014/main" id="{E2333E0B-E96D-4D30-9EED-C69C9F8CCE98}"/>
              </a:ext>
            </a:extLst>
          </p:cNvPr>
          <p:cNvSpPr>
            <a:spLocks xmlns:a="http://schemas.openxmlformats.org/drawingml/2006/main" noGrp="1"/>
          </p:cNvSpPr>
          <p:nvPr>
            <p:ph type="title" idx="0" hasCustomPrompt="1"/>
          </p:nvPr>
        </p:nvSpPr>
        <p:spPr>
          <a:xfrm xmlns:a="http://schemas.openxmlformats.org/drawingml/2006/main">
            <a:off x="1206500" y="952500"/>
            <a:ext cx="9779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74" name="Slide Number">
            <a:extLst xmlns:a="http://schemas.openxmlformats.org/drawingml/2006/main">
              <a:ext uri="{FF2B5EF4-FFF2-40B4-BE49-F238E27FC236}">
                <a16:creationId xmlns:a16="http://schemas.microsoft.com/office/drawing/2014/main" id="{C9D0EFE0-E5AC-40FF-9775-B5AC6D4F6276}"/>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8.xml><?xml version="1.0" encoding="utf-8"?>
<p:sldLayout xmlns:p="http://schemas.openxmlformats.org/presentationml/2006/main" showMasterSp="1" showMasterPhAnim="1">
  <p:cSld name="Title, Bullets &amp; Live Video Large">
    <p:spTree>
      <p:nvGrpSpPr>
        <p:cNvPr id="1" name=""/>
        <p:cNvGrpSpPr/>
        <p:nvPr/>
      </p:nvGrpSpPr>
      <p:grpSpPr>
        <a:xfrm xmlns:a="http://schemas.openxmlformats.org/drawingml/2006/main"/>
      </p:grpSpPr>
      <p:sp>
        <p:nvSpPr>
          <p:cNvPr id="81" name="Slide Subtitle">
            <a:extLst xmlns:a="http://schemas.openxmlformats.org/drawingml/2006/main">
              <a:ext uri="{FF2B5EF4-FFF2-40B4-BE49-F238E27FC236}">
                <a16:creationId xmlns:a16="http://schemas.microsoft.com/office/drawing/2014/main" id="{76EB38A7-B262-45EE-A37B-50A49CDD8184}"/>
              </a:ext>
            </a:extLst>
          </p:cNvPr>
          <p:cNvSpPr>
            <a:spLocks xmlns:a="http://schemas.openxmlformats.org/drawingml/2006/main" noGrp="1"/>
          </p:cNvSpPr>
          <p:nvPr>
            <p:ph type="body" idx="21" hasCustomPrompt="1"/>
          </p:nvPr>
        </p:nvSpPr>
        <p:spPr>
          <a:xfrm xmlns:a="http://schemas.openxmlformats.org/drawingml/2006/main">
            <a:off x="1206500" y="2247900"/>
            <a:ext cx="9779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82" name="Body Level One…">
            <a:extLst xmlns:a="http://schemas.openxmlformats.org/drawingml/2006/main">
              <a:ext uri="{FF2B5EF4-FFF2-40B4-BE49-F238E27FC236}">
                <a16:creationId xmlns:a16="http://schemas.microsoft.com/office/drawing/2014/main" id="{36ED85C8-919E-4A08-AB99-C1AEF1952A45}"/>
              </a:ext>
            </a:extLst>
          </p:cNvPr>
          <p:cNvSpPr>
            <a:spLocks xmlns:a="http://schemas.openxmlformats.org/drawingml/2006/main" noGrp="1"/>
          </p:cNvSpPr>
          <p:nvPr>
            <p:ph type="body" idx="1" hasCustomPrompt="1"/>
          </p:nvPr>
        </p:nvSpPr>
        <p:spPr>
          <a:xfrm xmlns:a="http://schemas.openxmlformats.org/drawingml/2006/main">
            <a:off x="1206500" y="4248504"/>
            <a:ext cx="9779000" cy="825663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83" name="Slide Title">
            <a:extLst xmlns:a="http://schemas.openxmlformats.org/drawingml/2006/main">
              <a:ext uri="{FF2B5EF4-FFF2-40B4-BE49-F238E27FC236}">
                <a16:creationId xmlns:a16="http://schemas.microsoft.com/office/drawing/2014/main" id="{458932D7-400B-4578-A1F0-5F81DCE7CB7F}"/>
              </a:ext>
            </a:extLst>
          </p:cNvPr>
          <p:cNvSpPr>
            <a:spLocks xmlns:a="http://schemas.openxmlformats.org/drawingml/2006/main" noGrp="1"/>
          </p:cNvSpPr>
          <p:nvPr>
            <p:ph type="title" idx="0" hasCustomPrompt="1"/>
          </p:nvPr>
        </p:nvSpPr>
        <p:spPr>
          <a:xfrm xmlns:a="http://schemas.openxmlformats.org/drawingml/2006/main">
            <a:off x="1206500" y="952500"/>
            <a:ext cx="9779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84" name="Slide Number">
            <a:extLst xmlns:a="http://schemas.openxmlformats.org/drawingml/2006/main">
              <a:ext uri="{FF2B5EF4-FFF2-40B4-BE49-F238E27FC236}">
                <a16:creationId xmlns:a16="http://schemas.microsoft.com/office/drawing/2014/main" id="{A85163AD-DAD3-4FF4-9549-72E8DEE07B6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9.xml><?xml version="1.0" encoding="utf-8"?>
<p:sldLayout xmlns:p="http://schemas.openxmlformats.org/presentationml/2006/main" showMasterSp="1" showMasterPhAnim="1">
  <p:cSld name="Section">
    <p:bg>
      <p:bgPr>
        <a:blipFill xmlns:a="http://schemas.openxmlformats.org/drawingml/2006/main" rotWithShape="1">
          <a:blip xmlns:r="http://schemas.openxmlformats.org/officeDocument/2006/relationships" r:embed="R66a2a3a28538492f"/>
          <a:srcRect l="0" t="0" r="0" b="0"/>
          <a:stretch>
            <a:fillRect l="0" t="0" r="0" b="0"/>
          </a:stretch>
        </a:blipFill>
      </p:bgPr>
    </p:bg>
    <p:spTree>
      <p:nvGrpSpPr>
        <p:cNvPr id="1" name=""/>
        <p:cNvGrpSpPr/>
        <p:nvPr/>
      </p:nvGrpSpPr>
      <p:grpSpPr>
        <a:xfrm xmlns:a="http://schemas.openxmlformats.org/drawingml/2006/main"/>
      </p:grpSpPr>
      <p:sp>
        <p:nvSpPr>
          <p:cNvPr id="91" name="Section Title">
            <a:extLst xmlns:a="http://schemas.openxmlformats.org/drawingml/2006/main">
              <a:ext uri="{FF2B5EF4-FFF2-40B4-BE49-F238E27FC236}">
                <a16:creationId xmlns:a16="http://schemas.microsoft.com/office/drawing/2014/main" id="{5D0A98FB-5FAE-4265-B20C-DFAC7250F988}"/>
              </a:ext>
            </a:extLst>
          </p:cNvPr>
          <p:cNvSpPr>
            <a:spLocks xmlns:a="http://schemas.openxmlformats.org/drawingml/2006/main" noGrp="1"/>
          </p:cNvSpPr>
          <p:nvPr>
            <p:ph type="title" idx="0" hasCustomPrompt="1"/>
          </p:nvPr>
        </p:nvSpPr>
        <p:spPr>
          <a:xfrm xmlns:a="http://schemas.openxmlformats.org/drawingml/2006/main">
            <a:off x="1206496" y="4533900"/>
            <a:ext cx="21971004" cy="4648200"/>
          </a:xfrm>
          <a:prstGeom xmlns:a="http://schemas.openxmlformats.org/drawingml/2006/main" prst="rect">
            <a:avLst/>
          </a:prstGeom>
        </p:spPr>
        <p:txBody>
          <a:bodyPr xmlns:a="http://schemas.openxmlformats.org/drawingml/2006/main" anchor="ctr"/>
          <a:lstStyle xmlns:a="http://schemas.openxmlformats.org/drawingml/2006/main">
            <a:lvl1pPr>
              <a:buNone/>
              <a:defRPr sz="11600" b="0" spc="-232">
                <a:solidFill>
                  <a:srgbClr val="000000"/>
                </a:solidFill>
                <a:latin typeface="Helvetica Neue Medium"/>
                <a:ea typeface="Helvetica Neue Medium"/>
                <a:cs typeface="Helvetica Neue Medium"/>
              </a:defRPr>
            </a:lvl1pPr>
          </a:lstStyle>
          <a:p xmlns:a="http://schemas.openxmlformats.org/drawingml/2006/main">
            <a:pPr>
              <a:buNone/>
            </a:pPr>
            <a:r>
              <a:t>Section Title</a:t>
            </a:r>
          </a:p>
        </p:txBody>
      </p:sp>
      <p:sp>
        <p:nvSpPr>
          <p:cNvPr id="92" name="Slide Number">
            <a:extLst xmlns:a="http://schemas.openxmlformats.org/drawingml/2006/main">
              <a:ext uri="{FF2B5EF4-FFF2-40B4-BE49-F238E27FC236}">
                <a16:creationId xmlns:a16="http://schemas.microsoft.com/office/drawing/2014/main" id="{B5C65F33-34B3-4A98-83E5-96ED458A8509}"/>
              </a:ext>
            </a:extLst>
          </p:cNvPr>
          <p:cNvSpPr>
            <a:spLocks xmlns:a="http://schemas.openxmlformats.org/drawingml/2006/main" noGrp="1"/>
          </p:cNvSpPr>
          <p:nvPr>
            <p:ph type="sldNum" idx="2"/>
          </p:nvPr>
        </p:nvSpPr>
        <p:spPr>
          <a:xfrm xmlns:a="http://schemas.openxmlformats.org/drawingml/2006/main">
            <a:off x="22809200" y="13085233"/>
            <a:ext cx="368504" cy="374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0.xml><?xml version="1.0" encoding="utf-8"?>
<p:sldLayout xmlns:p="http://schemas.openxmlformats.org/presentationml/2006/main" showMasterSp="1" showMasterPhAnim="1">
  <p:cSld name="Title Only">
    <p:spTree>
      <p:nvGrpSpPr>
        <p:cNvPr id="1" name=""/>
        <p:cNvGrpSpPr/>
        <p:nvPr/>
      </p:nvGrpSpPr>
      <p:grpSpPr>
        <a:xfrm xmlns:a="http://schemas.openxmlformats.org/drawingml/2006/main"/>
      </p:grpSpPr>
      <p:sp>
        <p:nvSpPr>
          <p:cNvPr id="99" name="Slide Title">
            <a:extLst xmlns:a="http://schemas.openxmlformats.org/drawingml/2006/main">
              <a:ext uri="{FF2B5EF4-FFF2-40B4-BE49-F238E27FC236}">
                <a16:creationId xmlns:a16="http://schemas.microsoft.com/office/drawing/2014/main" id="{C6591741-5CA0-4292-9F27-5F8609CA6BC8}"/>
              </a:ext>
            </a:extLst>
          </p:cNvPr>
          <p:cNvSpPr>
            <a:spLocks xmlns:a="http://schemas.openxmlformats.org/drawingml/2006/main" noGrp="1"/>
          </p:cNvSpPr>
          <p:nvPr>
            <p:ph type="title" idx="0" hasCustomPrompt="1"/>
          </p:nvPr>
        </p:nvSpPr>
        <p:spPr>
          <a:xfrm xmlns:a="http://schemas.openxmlformats.org/drawingml/2006/main">
            <a:off x="1206500" y="952500"/>
            <a:ext cx="21971000" cy="1434949"/>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100" name="Slide Subtitle">
            <a:extLst xmlns:a="http://schemas.openxmlformats.org/drawingml/2006/main">
              <a:ext uri="{FF2B5EF4-FFF2-40B4-BE49-F238E27FC236}">
                <a16:creationId xmlns:a16="http://schemas.microsoft.com/office/drawing/2014/main" id="{46DD51CD-622E-4296-9073-07100FDAE5E9}"/>
              </a:ext>
            </a:extLst>
          </p:cNvPr>
          <p:cNvSpPr>
            <a:spLocks xmlns:a="http://schemas.openxmlformats.org/drawingml/2006/main" noGrp="1"/>
          </p:cNvSpPr>
          <p:nvPr>
            <p:ph type="body" idx="21" hasCustomPrompt="1"/>
          </p:nvPr>
        </p:nvSpPr>
        <p:spPr>
          <a:xfrm xmlns:a="http://schemas.openxmlformats.org/drawingml/2006/main">
            <a:off x="1206500" y="2247900"/>
            <a:ext cx="21971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101" name="Slide Number">
            <a:extLst xmlns:a="http://schemas.openxmlformats.org/drawingml/2006/main">
              <a:ext uri="{FF2B5EF4-FFF2-40B4-BE49-F238E27FC236}">
                <a16:creationId xmlns:a16="http://schemas.microsoft.com/office/drawing/2014/main" id="{C17B8124-8C7B-4281-A03E-89E07D80802E}"/>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1.xml><?xml version="1.0" encoding="utf-8"?>
<p:sldLayout xmlns:p="http://schemas.openxmlformats.org/presentationml/2006/main" showMasterSp="1" showMasterPhAnim="1">
  <p:cSld name="Agenda">
    <p:spTree>
      <p:nvGrpSpPr>
        <p:cNvPr id="1" name=""/>
        <p:cNvGrpSpPr/>
        <p:nvPr/>
      </p:nvGrpSpPr>
      <p:grpSpPr>
        <a:xfrm xmlns:a="http://schemas.openxmlformats.org/drawingml/2006/main"/>
      </p:grpSpPr>
      <p:sp>
        <p:nvSpPr>
          <p:cNvPr id="108" name="Agenda Title">
            <a:extLst xmlns:a="http://schemas.openxmlformats.org/drawingml/2006/main">
              <a:ext uri="{FF2B5EF4-FFF2-40B4-BE49-F238E27FC236}">
                <a16:creationId xmlns:a16="http://schemas.microsoft.com/office/drawing/2014/main" id="{8C6590B7-E6C6-47F3-B8AA-E6D6B09778A9}"/>
              </a:ext>
            </a:extLst>
          </p:cNvPr>
          <p:cNvSpPr>
            <a:spLocks xmlns:a="http://schemas.openxmlformats.org/drawingml/2006/main" noGrp="1"/>
          </p:cNvSpPr>
          <p:nvPr>
            <p:ph type="title" idx="0" hasCustomPrompt="1"/>
          </p:nvPr>
        </p:nvSpPr>
        <p:spPr>
          <a:xfrm xmlns:a="http://schemas.openxmlformats.org/drawingml/2006/main">
            <a:off x="1206500" y="952500"/>
            <a:ext cx="21971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Agenda Title</a:t>
            </a:r>
          </a:p>
        </p:txBody>
      </p:sp>
      <p:sp>
        <p:nvSpPr>
          <p:cNvPr id="109" name="Agenda Subtitle">
            <a:extLst xmlns:a="http://schemas.openxmlformats.org/drawingml/2006/main">
              <a:ext uri="{FF2B5EF4-FFF2-40B4-BE49-F238E27FC236}">
                <a16:creationId xmlns:a16="http://schemas.microsoft.com/office/drawing/2014/main" id="{E5A861FE-025A-40ED-8A1B-C1068E8A324C}"/>
              </a:ext>
            </a:extLst>
          </p:cNvPr>
          <p:cNvSpPr>
            <a:spLocks xmlns:a="http://schemas.openxmlformats.org/drawingml/2006/main" noGrp="1"/>
          </p:cNvSpPr>
          <p:nvPr>
            <p:ph type="body" idx="21" hasCustomPrompt="1"/>
          </p:nvPr>
        </p:nvSpPr>
        <p:spPr>
          <a:xfrm xmlns:a="http://schemas.openxmlformats.org/drawingml/2006/main">
            <a:off x="1206500" y="2247900"/>
            <a:ext cx="21971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Agenda Subtitle</a:t>
            </a:r>
          </a:p>
        </p:txBody>
      </p:sp>
      <p:sp>
        <p:nvSpPr>
          <p:cNvPr id="110" name="Body Level One…">
            <a:extLst xmlns:a="http://schemas.openxmlformats.org/drawingml/2006/main">
              <a:ext uri="{FF2B5EF4-FFF2-40B4-BE49-F238E27FC236}">
                <a16:creationId xmlns:a16="http://schemas.microsoft.com/office/drawing/2014/main" id="{038776C5-4C73-4F6A-8603-C6FA8D5FBC0A}"/>
              </a:ext>
            </a:extLst>
          </p:cNvPr>
          <p:cNvSpPr>
            <a:spLocks xmlns:a="http://schemas.openxmlformats.org/drawingml/2006/main" noGrp="1"/>
          </p:cNvSpPr>
          <p:nvPr>
            <p:ph type="body" idx="1" hasCustomPrompt="1"/>
          </p:nvPr>
        </p:nvSpPr>
        <p:spPr>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xmlns:a="http://schemas.openxmlformats.org/drawingml/2006/main">
            <a:pPr>
              <a:buNone/>
            </a:pPr>
            <a:r>
              <a:t>Agenda Topics</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11" name="Slide Number">
            <a:extLst xmlns:a="http://schemas.openxmlformats.org/drawingml/2006/main">
              <a:ext uri="{FF2B5EF4-FFF2-40B4-BE49-F238E27FC236}">
                <a16:creationId xmlns:a16="http://schemas.microsoft.com/office/drawing/2014/main" id="{B000CFFC-4289-441B-B67C-DF9BABD5A980}"/>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2.xml><?xml version="1.0" encoding="utf-8"?>
<p:sldLayout xmlns:p="http://schemas.openxmlformats.org/presentationml/2006/main" showMasterSp="1" showMasterPhAnim="1">
  <p:cSld name="Statement">
    <p:bg>
      <p:bgPr>
        <a:blipFill xmlns:a="http://schemas.openxmlformats.org/drawingml/2006/main" rotWithShape="1">
          <a:blip xmlns:r="http://schemas.openxmlformats.org/officeDocument/2006/relationships" r:embed="Rdccb4e65539b4439"/>
          <a:srcRect l="0" t="0" r="0" b="0"/>
          <a:stretch>
            <a:fillRect l="0" t="0" r="0" b="0"/>
          </a:stretch>
        </a:blipFill>
      </p:bgPr>
    </p:bg>
    <p:spTree>
      <p:nvGrpSpPr>
        <p:cNvPr id="1" name=""/>
        <p:cNvGrpSpPr/>
        <p:nvPr/>
      </p:nvGrpSpPr>
      <p:grpSpPr>
        <a:xfrm xmlns:a="http://schemas.openxmlformats.org/drawingml/2006/main"/>
      </p:grpSpPr>
      <p:sp>
        <p:nvSpPr>
          <p:cNvPr id="118" name="Body Level One…">
            <a:extLst xmlns:a="http://schemas.openxmlformats.org/drawingml/2006/main">
              <a:ext uri="{FF2B5EF4-FFF2-40B4-BE49-F238E27FC236}">
                <a16:creationId xmlns:a16="http://schemas.microsoft.com/office/drawing/2014/main" id="{CA50B66A-5E01-473F-B98C-CD5437343E14}"/>
              </a:ext>
            </a:extLst>
          </p:cNvPr>
          <p:cNvSpPr>
            <a:spLocks xmlns:a="http://schemas.openxmlformats.org/drawingml/2006/main" noGrp="1"/>
          </p:cNvSpPr>
          <p:nvPr>
            <p:ph type="body" idx="1" hasCustomPrompt="1"/>
          </p:nvPr>
        </p:nvSpPr>
        <p:spPr>
          <a:xfrm xmlns:a="http://schemas.openxmlformats.org/drawingml/2006/main">
            <a:off x="1206500" y="4920843"/>
            <a:ext cx="21971000" cy="3874314"/>
          </a:xfrm>
          <a:prstGeom xmlns:a="http://schemas.openxmlformats.org/drawingml/2006/main" prst="rect">
            <a:avLst/>
          </a:prstGeom>
        </p:spPr>
        <p:txBody>
          <a:bodyPr xmlns:a="http://schemas.openxmlformats.org/drawingml/2006/main" anchor="ctr"/>
          <a:lstStyle xmlns:a="http://schemas.openxmlformats.org/drawingml/2006/main">
            <a:lvl1pPr marL="0" indent="0" algn="ctr">
              <a:lnSpc>
                <a:spcPct val="80000"/>
              </a:lnSpc>
              <a:spcBef>
                <a:spcPts val="0"/>
              </a:spcBef>
              <a:buSzTx/>
              <a:buNone/>
              <a:defRPr sz="11600" spc="-232">
                <a:latin typeface="Helvetica Neue Medium"/>
                <a:ea typeface="Helvetica Neue Medium"/>
                <a:cs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defRPr>
            </a:lvl5pPr>
          </a:lstStyle>
          <a:p xmlns:a="http://schemas.openxmlformats.org/drawingml/2006/main">
            <a:pPr>
              <a:buNone/>
            </a:pPr>
            <a:r>
              <a:t>Statement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19" name="Slide Number">
            <a:extLst xmlns:a="http://schemas.openxmlformats.org/drawingml/2006/main">
              <a:ext uri="{FF2B5EF4-FFF2-40B4-BE49-F238E27FC236}">
                <a16:creationId xmlns:a16="http://schemas.microsoft.com/office/drawing/2014/main" id="{D4ED7BD9-561C-4AC5-A3B5-23198DF80FE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3.xml><?xml version="1.0" encoding="utf-8"?>
<p:sldLayout xmlns:p="http://schemas.openxmlformats.org/presentationml/2006/main" showMasterSp="1" showMasterPhAnim="1">
  <p:cSld name="Big Fact">
    <p:spTree>
      <p:nvGrpSpPr>
        <p:cNvPr id="1" name=""/>
        <p:cNvGrpSpPr/>
        <p:nvPr/>
      </p:nvGrpSpPr>
      <p:grpSpPr>
        <a:xfrm xmlns:a="http://schemas.openxmlformats.org/drawingml/2006/main"/>
      </p:grpSpPr>
      <p:sp>
        <p:nvSpPr>
          <p:cNvPr id="126" name="Body Level One…">
            <a:extLst xmlns:a="http://schemas.openxmlformats.org/drawingml/2006/main">
              <a:ext uri="{FF2B5EF4-FFF2-40B4-BE49-F238E27FC236}">
                <a16:creationId xmlns:a16="http://schemas.microsoft.com/office/drawing/2014/main" id="{E4280758-70AB-46DE-9420-6327EE97EA99}"/>
              </a:ext>
            </a:extLst>
          </p:cNvPr>
          <p:cNvSpPr>
            <a:spLocks xmlns:a="http://schemas.openxmlformats.org/drawingml/2006/main" noGrp="1"/>
          </p:cNvSpPr>
          <p:nvPr>
            <p:ph type="body" idx="1" hasCustomPrompt="1"/>
          </p:nvPr>
        </p:nvSpPr>
        <p:spPr>
          <a:xfrm xmlns:a="http://schemas.openxmlformats.org/drawingml/2006/main">
            <a:off x="1206500" y="1079500"/>
            <a:ext cx="21971000" cy="7241583"/>
          </a:xfrm>
          <a:prstGeom xmlns:a="http://schemas.openxmlformats.org/drawingml/2006/main" prst="rect">
            <a:avLst/>
          </a:prstGeom>
        </p:spPr>
        <p:txBody>
          <a:bodyPr xmlns:a="http://schemas.openxmlformats.org/drawingml/2006/main" anchor="b"/>
          <a:lstStyle xmlns:a="http://schemas.openxmlformats.org/drawingml/2006/main">
            <a:lvl1pPr marL="0" indent="0" algn="ctr">
              <a:lnSpc>
                <a:spcPct val="80000"/>
              </a:lnSpc>
              <a:spcBef>
                <a:spcPts val="0"/>
              </a:spcBef>
              <a:buSzTx/>
              <a:buNone/>
              <a:defRPr sz="25000" b="1" spc="-250">
                <a:solidFill>
                  <a:srgbClr val="CB297B"/>
                </a:solidFill>
              </a:defRPr>
            </a:lvl1pPr>
            <a:lvl2pPr marL="0" indent="457200" algn="ctr">
              <a:lnSpc>
                <a:spcPct val="80000"/>
              </a:lnSpc>
              <a:spcBef>
                <a:spcPts val="0"/>
              </a:spcBef>
              <a:buSzTx/>
              <a:buNone/>
              <a:defRPr sz="25000" b="1" spc="-250">
                <a:solidFill>
                  <a:srgbClr val="CB297B"/>
                </a:solidFill>
              </a:defRPr>
            </a:lvl2pPr>
            <a:lvl3pPr marL="0" indent="914400" algn="ctr">
              <a:lnSpc>
                <a:spcPct val="80000"/>
              </a:lnSpc>
              <a:spcBef>
                <a:spcPts val="0"/>
              </a:spcBef>
              <a:buSzTx/>
              <a:buNone/>
              <a:defRPr sz="25000" b="1" spc="-250">
                <a:solidFill>
                  <a:srgbClr val="CB297B"/>
                </a:solidFill>
              </a:defRPr>
            </a:lvl3pPr>
            <a:lvl4pPr marL="0" indent="1371600" algn="ctr">
              <a:lnSpc>
                <a:spcPct val="80000"/>
              </a:lnSpc>
              <a:spcBef>
                <a:spcPts val="0"/>
              </a:spcBef>
              <a:buSzTx/>
              <a:buNone/>
              <a:defRPr sz="25000" b="1" spc="-250">
                <a:solidFill>
                  <a:srgbClr val="CB297B"/>
                </a:solidFill>
              </a:defRPr>
            </a:lvl4pPr>
            <a:lvl5pPr marL="0" indent="1828800" algn="ctr">
              <a:lnSpc>
                <a:spcPct val="80000"/>
              </a:lnSpc>
              <a:spcBef>
                <a:spcPts val="0"/>
              </a:spcBef>
              <a:buSzTx/>
              <a:buNone/>
              <a:defRPr sz="25000" b="1" spc="-250">
                <a:solidFill>
                  <a:srgbClr val="CB297B"/>
                </a:solidFill>
              </a:defRPr>
            </a:lvl5pPr>
          </a:lstStyle>
          <a:p xmlns:a="http://schemas.openxmlformats.org/drawingml/2006/main">
            <a:pPr>
              <a:buNone/>
            </a:pPr>
            <a:r>
              <a:t>100%</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27" name="Fact information">
            <a:extLst xmlns:a="http://schemas.openxmlformats.org/drawingml/2006/main">
              <a:ext uri="{FF2B5EF4-FFF2-40B4-BE49-F238E27FC236}">
                <a16:creationId xmlns:a16="http://schemas.microsoft.com/office/drawing/2014/main" id="{7D7C2AA7-5221-4D11-9FE4-859242D017A0}"/>
              </a:ext>
            </a:extLst>
          </p:cNvPr>
          <p:cNvSpPr>
            <a:spLocks xmlns:a="http://schemas.openxmlformats.org/drawingml/2006/main" noGrp="1"/>
          </p:cNvSpPr>
          <p:nvPr>
            <p:ph type="body" idx="21" hasCustomPrompt="1"/>
          </p:nvPr>
        </p:nvSpPr>
        <p:spPr>
          <a:xfrm xmlns:a="http://schemas.openxmlformats.org/drawingml/2006/main">
            <a:off x="1206500" y="8262180"/>
            <a:ext cx="21971000" cy="934780"/>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algn="ctr" defTabSz="825500">
              <a:lnSpc>
                <a:spcPct val="100000"/>
              </a:lnSpc>
              <a:spcBef>
                <a:spcPts val="0"/>
              </a:spcBef>
              <a:buSzTx/>
              <a:buNone/>
              <a:defRPr sz="5500" b="1"/>
            </a:lvl1pPr>
          </a:lstStyle>
          <a:p xmlns:a="http://schemas.openxmlformats.org/drawingml/2006/main">
            <a:pPr>
              <a:buNone/>
            </a:pPr>
            <a:r>
              <a:t>Fact information</a:t>
            </a:r>
          </a:p>
        </p:txBody>
      </p:sp>
      <p:sp>
        <p:nvSpPr>
          <p:cNvPr id="128" name="Slide Number">
            <a:extLst xmlns:a="http://schemas.openxmlformats.org/drawingml/2006/main">
              <a:ext uri="{FF2B5EF4-FFF2-40B4-BE49-F238E27FC236}">
                <a16:creationId xmlns:a16="http://schemas.microsoft.com/office/drawing/2014/main" id="{3F77937B-26A9-4D66-999D-BC870EC33592}"/>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4.xml><?xml version="1.0" encoding="utf-8"?>
<p:sldLayout xmlns:p="http://schemas.openxmlformats.org/presentationml/2006/main" showMasterSp="1" showMasterPhAnim="1">
  <p:cSld name="Quote">
    <p:spTree>
      <p:nvGrpSpPr>
        <p:cNvPr id="1" name=""/>
        <p:cNvGrpSpPr/>
        <p:nvPr/>
      </p:nvGrpSpPr>
      <p:grpSpPr>
        <a:xfrm xmlns:a="http://schemas.openxmlformats.org/drawingml/2006/main"/>
      </p:grpSpPr>
      <p:sp>
        <p:nvSpPr>
          <p:cNvPr id="135" name="Attribution">
            <a:extLst xmlns:a="http://schemas.openxmlformats.org/drawingml/2006/main">
              <a:ext uri="{FF2B5EF4-FFF2-40B4-BE49-F238E27FC236}">
                <a16:creationId xmlns:a16="http://schemas.microsoft.com/office/drawing/2014/main" id="{93B62A23-A8A5-44EE-B51D-13C2D9C3EDFB}"/>
              </a:ext>
            </a:extLst>
          </p:cNvPr>
          <p:cNvSpPr>
            <a:spLocks xmlns:a="http://schemas.openxmlformats.org/drawingml/2006/main" noGrp="1"/>
          </p:cNvSpPr>
          <p:nvPr>
            <p:ph type="body" idx="21" hasCustomPrompt="1"/>
          </p:nvPr>
        </p:nvSpPr>
        <p:spPr>
          <a:xfrm xmlns:a="http://schemas.openxmlformats.org/drawingml/2006/main">
            <a:off x="2480825" y="10675453"/>
            <a:ext cx="20149252" cy="6369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3600" b="1"/>
            </a:lvl1pPr>
          </a:lstStyle>
          <a:p xmlns:a="http://schemas.openxmlformats.org/drawingml/2006/main">
            <a:pPr>
              <a:buNone/>
            </a:pPr>
            <a:r>
              <a:t>Attribution</a:t>
            </a:r>
          </a:p>
        </p:txBody>
      </p:sp>
      <p:sp>
        <p:nvSpPr>
          <p:cNvPr id="136" name="Body Level One…">
            <a:extLst xmlns:a="http://schemas.openxmlformats.org/drawingml/2006/main">
              <a:ext uri="{FF2B5EF4-FFF2-40B4-BE49-F238E27FC236}">
                <a16:creationId xmlns:a16="http://schemas.microsoft.com/office/drawing/2014/main" id="{C7C391DA-A66D-43A5-B895-A9D5009AAD9F}"/>
              </a:ext>
            </a:extLst>
          </p:cNvPr>
          <p:cNvSpPr>
            <a:spLocks xmlns:a="http://schemas.openxmlformats.org/drawingml/2006/main" noGrp="1"/>
          </p:cNvSpPr>
          <p:nvPr>
            <p:ph type="body" idx="1" hasCustomPrompt="1"/>
          </p:nvPr>
        </p:nvSpPr>
        <p:spPr>
          <a:xfrm xmlns:a="http://schemas.openxmlformats.org/drawingml/2006/main">
            <a:off x="1753923" y="4939860"/>
            <a:ext cx="20876154" cy="3836280"/>
          </a:xfrm>
          <a:prstGeom xmlns:a="http://schemas.openxmlformats.org/drawingml/2006/main" prst="rect">
            <a:avLst/>
          </a:prstGeom>
        </p:spPr>
        <p:txBody>
          <a:bodyPr xmlns:a="http://schemas.openxmlformats.org/drawingml/2006/main"/>
          <a:lstStyle xmlns:a="http://schemas.openxmlformats.org/drawingml/2006/main">
            <a:lvl1pPr marL="638923" indent="-469900">
              <a:spcBef>
                <a:spcPts val="0"/>
              </a:spcBef>
              <a:buSzTx/>
              <a:buNone/>
              <a:defRPr sz="8500" spc="-170">
                <a:solidFill>
                  <a:srgbClr val="CB297B"/>
                </a:solidFill>
                <a:latin typeface="Helvetica Neue Medium"/>
                <a:ea typeface="Helvetica Neue Medium"/>
                <a:cs typeface="Helvetica Neue Medium"/>
              </a:defRPr>
            </a:lvl1pPr>
            <a:lvl2pPr marL="638923" indent="-12700">
              <a:spcBef>
                <a:spcPts val="0"/>
              </a:spcBef>
              <a:buSzTx/>
              <a:buNone/>
              <a:defRPr sz="8500" spc="-170">
                <a:solidFill>
                  <a:srgbClr val="CB297B"/>
                </a:solidFill>
                <a:latin typeface="Helvetica Neue Medium"/>
                <a:ea typeface="Helvetica Neue Medium"/>
                <a:cs typeface="Helvetica Neue Medium"/>
              </a:defRPr>
            </a:lvl2pPr>
            <a:lvl3pPr marL="638923" indent="444500">
              <a:spcBef>
                <a:spcPts val="0"/>
              </a:spcBef>
              <a:buSzTx/>
              <a:buNone/>
              <a:defRPr sz="8500" spc="-170">
                <a:solidFill>
                  <a:srgbClr val="CB297B"/>
                </a:solidFill>
                <a:latin typeface="Helvetica Neue Medium"/>
                <a:ea typeface="Helvetica Neue Medium"/>
                <a:cs typeface="Helvetica Neue Medium"/>
              </a:defRPr>
            </a:lvl3pPr>
            <a:lvl4pPr marL="638923" indent="901700">
              <a:spcBef>
                <a:spcPts val="0"/>
              </a:spcBef>
              <a:buSzTx/>
              <a:buNone/>
              <a:defRPr sz="8500" spc="-170">
                <a:solidFill>
                  <a:srgbClr val="CB297B"/>
                </a:solidFill>
                <a:latin typeface="Helvetica Neue Medium"/>
                <a:ea typeface="Helvetica Neue Medium"/>
                <a:cs typeface="Helvetica Neue Medium"/>
              </a:defRPr>
            </a:lvl4pPr>
            <a:lvl5pPr marL="638923" indent="1358900">
              <a:spcBef>
                <a:spcPts val="0"/>
              </a:spcBef>
              <a:buSzTx/>
              <a:buNone/>
              <a:defRPr sz="8500" spc="-170">
                <a:solidFill>
                  <a:srgbClr val="CB297B"/>
                </a:solidFill>
                <a:latin typeface="Helvetica Neue Medium"/>
                <a:ea typeface="Helvetica Neue Medium"/>
                <a:cs typeface="Helvetica Neue Medium"/>
              </a:defRPr>
            </a:lvl5pPr>
          </a:lstStyle>
          <a:p xmlns:a="http://schemas.openxmlformats.org/drawingml/2006/main">
            <a:pPr>
              <a:buNone/>
            </a:pPr>
            <a:r>
              <a:t>“Notable Quote”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37" name="Slide Number">
            <a:extLst xmlns:a="http://schemas.openxmlformats.org/drawingml/2006/main">
              <a:ext uri="{FF2B5EF4-FFF2-40B4-BE49-F238E27FC236}">
                <a16:creationId xmlns:a16="http://schemas.microsoft.com/office/drawing/2014/main" id="{CA1CE20F-933C-4628-A4D8-2449A43250C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5.xml><?xml version="1.0" encoding="utf-8"?>
<p:sldLayout xmlns:p="http://schemas.openxmlformats.org/presentationml/2006/main" showMasterSp="1" showMasterPhAnim="1">
  <p:cSld name="Photo - 3 Up">
    <p:spTree>
      <p:nvGrpSpPr>
        <p:cNvPr id="1" name=""/>
        <p:cNvGrpSpPr/>
        <p:nvPr/>
      </p:nvGrpSpPr>
      <p:grpSpPr>
        <a:xfrm xmlns:a="http://schemas.openxmlformats.org/drawingml/2006/main"/>
      </p:grpSpPr>
      <p:sp>
        <p:nvSpPr>
          <p:cNvPr id="144" name="Blooming red tulips in a field">
            <a:extLst xmlns:a="http://schemas.openxmlformats.org/drawingml/2006/main">
              <a:ext uri="{FF2B5EF4-FFF2-40B4-BE49-F238E27FC236}">
                <a16:creationId xmlns:a16="http://schemas.microsoft.com/office/drawing/2014/main" id="{7E6EC669-FF0B-42BC-B2EE-7D2E3934388A}"/>
              </a:ext>
            </a:extLst>
          </p:cNvPr>
          <p:cNvSpPr>
            <a:spLocks xmlns:a="http://schemas.openxmlformats.org/drawingml/2006/main" noGrp="1"/>
          </p:cNvSpPr>
          <p:nvPr>
            <p:ph type="pic" idx="21"/>
          </p:nvPr>
        </p:nvSpPr>
        <p:spPr>
          <a:xfrm xmlns:a="http://schemas.openxmlformats.org/drawingml/2006/main">
            <a:off x="14686168" y="1266539"/>
            <a:ext cx="9636012" cy="5422901"/>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45" name="Angled aerial view of colourful tulip fields">
            <a:extLst xmlns:a="http://schemas.openxmlformats.org/drawingml/2006/main">
              <a:ext uri="{FF2B5EF4-FFF2-40B4-BE49-F238E27FC236}">
                <a16:creationId xmlns:a16="http://schemas.microsoft.com/office/drawing/2014/main" id="{97BA56E6-FAA9-4AF6-8915-E9307069DC19}"/>
              </a:ext>
            </a:extLst>
          </p:cNvPr>
          <p:cNvSpPr>
            <a:spLocks xmlns:a="http://schemas.openxmlformats.org/drawingml/2006/main" noGrp="1"/>
          </p:cNvSpPr>
          <p:nvPr>
            <p:ph type="pic" idx="22"/>
          </p:nvPr>
        </p:nvSpPr>
        <p:spPr>
          <a:xfrm xmlns:a="http://schemas.openxmlformats.org/drawingml/2006/main">
            <a:off x="15431076" y="7085972"/>
            <a:ext cx="8146308" cy="5428043"/>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46" name="Colourful tulip field in front of a Dutch windmill">
            <a:extLst xmlns:a="http://schemas.openxmlformats.org/drawingml/2006/main">
              <a:ext uri="{FF2B5EF4-FFF2-40B4-BE49-F238E27FC236}">
                <a16:creationId xmlns:a16="http://schemas.microsoft.com/office/drawing/2014/main" id="{E51C71EE-7D8C-4B6C-BD85-89EEC89D508E}"/>
              </a:ext>
            </a:extLst>
          </p:cNvPr>
          <p:cNvSpPr>
            <a:spLocks xmlns:a="http://schemas.openxmlformats.org/drawingml/2006/main" noGrp="1"/>
          </p:cNvSpPr>
          <p:nvPr>
            <p:ph type="pic" idx="23"/>
          </p:nvPr>
        </p:nvSpPr>
        <p:spPr>
          <a:xfrm xmlns:a="http://schemas.openxmlformats.org/drawingml/2006/main">
            <a:off x="-163770" y="1270000"/>
            <a:ext cx="16918438" cy="11243712"/>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47" name="Slide Number">
            <a:extLst xmlns:a="http://schemas.openxmlformats.org/drawingml/2006/main">
              <a:ext uri="{FF2B5EF4-FFF2-40B4-BE49-F238E27FC236}">
                <a16:creationId xmlns:a16="http://schemas.microsoft.com/office/drawing/2014/main" id="{21CE737C-2BC1-4EB2-9615-B586D93070D5}"/>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6.xml><?xml version="1.0" encoding="utf-8"?>
<p:sldLayout xmlns:p="http://schemas.openxmlformats.org/presentationml/2006/main" showMasterSp="1" showMasterPhAnim="1">
  <p:cSld name="Photo">
    <p:bg>
      <p:bgPr>
        <a:solidFill xmlns:a="http://schemas.openxmlformats.org/drawingml/2006/main">
          <a:srgbClr val="FFFFFF"/>
        </a:solidFill>
      </p:bgPr>
    </p:bg>
    <p:spTree>
      <p:nvGrpSpPr>
        <p:cNvPr id="1" name=""/>
        <p:cNvGrpSpPr/>
        <p:nvPr/>
      </p:nvGrpSpPr>
      <p:grpSpPr>
        <a:xfrm xmlns:a="http://schemas.openxmlformats.org/drawingml/2006/main"/>
      </p:grpSpPr>
      <p:sp>
        <p:nvSpPr>
          <p:cNvPr id="154" name="Angled aerial view of colourful tulip fields">
            <a:extLst xmlns:a="http://schemas.openxmlformats.org/drawingml/2006/main">
              <a:ext uri="{FF2B5EF4-FFF2-40B4-BE49-F238E27FC236}">
                <a16:creationId xmlns:a16="http://schemas.microsoft.com/office/drawing/2014/main" id="{829F1B33-3748-44F2-ABFB-9B58C2A8DC97}"/>
              </a:ext>
            </a:extLst>
          </p:cNvPr>
          <p:cNvSpPr>
            <a:spLocks xmlns:a="http://schemas.openxmlformats.org/drawingml/2006/main" noGrp="1"/>
          </p:cNvSpPr>
          <p:nvPr>
            <p:ph type="pic" idx="21"/>
          </p:nvPr>
        </p:nvSpPr>
        <p:spPr>
          <a:xfrm xmlns:a="http://schemas.openxmlformats.org/drawingml/2006/main">
            <a:off x="0" y="-1265767"/>
            <a:ext cx="24384000" cy="16247534"/>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55" name="Slide Number">
            <a:extLst xmlns:a="http://schemas.openxmlformats.org/drawingml/2006/main">
              <a:ext uri="{FF2B5EF4-FFF2-40B4-BE49-F238E27FC236}">
                <a16:creationId xmlns:a16="http://schemas.microsoft.com/office/drawing/2014/main" id="{3FADD46B-0DCB-4F45-B768-99B922F9AF0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pPr>
              <a:buNone/>
            </a:pPr>
          </a:p>
        </p:txBody>
      </p:sp>
    </p:spTree>
  </p:cSld>
</p:sldLayout>
</file>

<file path=ppt/slideLayouts/slideLayout17.xml><?xml version="1.0" encoding="utf-8"?>
<p:sldLayout xmlns:p="http://schemas.openxmlformats.org/presentationml/2006/main" showMasterSp="1" showMasterPhAnim="1">
  <p:cSld name="Blank">
    <p:spTree>
      <p:nvGrpSpPr>
        <p:cNvPr id="1" name=""/>
        <p:cNvGrpSpPr/>
        <p:nvPr/>
      </p:nvGrpSpPr>
      <p:grpSpPr>
        <a:xfrm xmlns:a="http://schemas.openxmlformats.org/drawingml/2006/main"/>
      </p:grpSpPr>
      <p:sp>
        <p:nvSpPr>
          <p:cNvPr id="162" name="Slide Number">
            <a:extLst xmlns:a="http://schemas.openxmlformats.org/drawingml/2006/main">
              <a:ext uri="{FF2B5EF4-FFF2-40B4-BE49-F238E27FC236}">
                <a16:creationId xmlns:a16="http://schemas.microsoft.com/office/drawing/2014/main" id="{48A8F324-61EA-4865-86AB-67E848C5DF5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xml version='1.0' encoding='UTF-8' standalone='yes'?>
<Relationships xmlns="http://schemas.openxmlformats.org/package/2006/relationships"><Relationship Id="R014de01375a54f1f" Type="http://schemas.openxmlformats.org/officeDocument/2006/relationships/slideLayout" Target="../slideLayouts/slideLayout10.xml"/><Relationship Id="R1159bbcac41e4bf4" Type="http://schemas.openxmlformats.org/officeDocument/2006/relationships/slideLayout" Target="../slideLayouts/slideLayout4.xml"/><Relationship Id="R19d8b93359d5434e" Type="http://schemas.openxmlformats.org/officeDocument/2006/relationships/slideLayout" Target="../slideLayouts/slideLayout3.xml"/><Relationship Id="R1bb73379657749c7" Type="http://schemas.openxmlformats.org/officeDocument/2006/relationships/slideLayout" Target="../slideLayouts/slideLayout12.xml"/><Relationship Id="R407589a4b89f42a3" Type="http://schemas.openxmlformats.org/officeDocument/2006/relationships/slideLayout" Target="../slideLayouts/slideLayout9.xml"/><Relationship Id="R5107ffb99ec44af8" Type="http://schemas.openxmlformats.org/officeDocument/2006/relationships/slideLayout" Target="../slideLayouts/slideLayout6.xml"/><Relationship Id="R56de3e43322d4e14" Type="http://schemas.openxmlformats.org/officeDocument/2006/relationships/slideLayout" Target="../slideLayouts/slideLayout8.xml"/><Relationship Id="R7002553f5eba4f6b" Type="http://schemas.openxmlformats.org/officeDocument/2006/relationships/slideLayout" Target="../slideLayouts/slideLayout2.xml"/><Relationship Id="R7bca7dfc93d84813" Type="http://schemas.openxmlformats.org/officeDocument/2006/relationships/slideLayout" Target="../slideLayouts/slideLayout13.xml"/><Relationship Id="R814a7bd8dd28453f" Type="http://schemas.openxmlformats.org/officeDocument/2006/relationships/slideLayout" Target="../slideLayouts/slideLayout15.xml"/><Relationship Id="R8f9273e59f11487f" Type="http://schemas.openxmlformats.org/officeDocument/2006/relationships/image" Target="../media/image.png"/><Relationship Id="R9530ce47cee14fe1" Type="http://schemas.openxmlformats.org/officeDocument/2006/relationships/slideLayout" Target="../slideLayouts/slideLayout17.xml"/><Relationship Id="R9f712666fe95422c" Type="http://schemas.openxmlformats.org/officeDocument/2006/relationships/slideLayout" Target="../slideLayouts/slideLayout5.xml"/><Relationship Id="Rb2cf3388698e4e3a" Type="http://schemas.openxmlformats.org/officeDocument/2006/relationships/slideLayout" Target="../slideLayouts/slideLayout16.xml"/><Relationship Id="Rcb633b4c892b451e" Type="http://schemas.openxmlformats.org/officeDocument/2006/relationships/slideLayout" Target="../slideLayouts/slideLayout7.xml"/><Relationship Id="Rd401b3277f664d5e" Type="http://schemas.openxmlformats.org/officeDocument/2006/relationships/slideLayout" Target="../slideLayouts/slideLayout14.xml"/><Relationship Id="Re2d9cc57ad574a71" Type="http://schemas.openxmlformats.org/officeDocument/2006/relationships/slideLayout" Target="../slideLayouts/slideLayout11.xml"/><Relationship Id="Reb359e94ec094c36" Type="http://schemas.openxmlformats.org/officeDocument/2006/relationships/theme" Target="theme/theme2.xml"/><Relationship Id="Rff4b819961904b67" Type="http://schemas.openxmlformats.org/officeDocument/2006/relationships/slideLayout" Target="../slideLayouts/slideLayout1.xml"/></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8f9273e59f11487f"/>
          <a:srcRect l="0" t="0" r="0" b="0"/>
          <a:stretch>
            <a:fillRect l="0" t="0" r="0" b="0"/>
          </a:stretch>
        </a:blip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3DB32262-9BF7-4E55-849B-B87597FE4234}"/>
              </a:ext>
            </a:extLst>
          </p:cNvPr>
          <p:cNvSpPr>
            <a:spLocks xmlns:a="http://schemas.openxmlformats.org/drawingml/2006/main" noGrp="1"/>
          </p:cNvSpPr>
          <p:nvPr>
            <p:ph type="title" idx="0" hasCustomPrompt="1"/>
          </p:nvPr>
        </p:nvSpPr>
        <p:spPr>
          <a:xfrm xmlns:a="http://schemas.openxmlformats.org/drawingml/2006/main">
            <a:off x="1206500" y="952500"/>
            <a:ext cx="21971000" cy="1433163"/>
          </a:xfrm>
          <a:prstGeom xmlns:a="http://schemas.openxmlformats.org/drawingml/2006/main" prst="rect">
            <a:avLst/>
          </a:prstGeom>
          <a:ln xmlns:a="http://schemas.openxmlformats.org/drawingml/2006/main" w="12700"/>
        </p:spPr>
        <p:txBody>
          <a:bodyPr xmlns:a="http://schemas.openxmlformats.org/drawingml/2006/main" lIns="50800" tIns="50800" rIns="50800" bIns="50800">
            <a:normAutofit fontScale="100000" lnSpcReduction="0"/>
          </a:bodyPr>
          <a:lstStyle xmlns:a="http://schemas.openxmlformats.org/drawingml/2006/main"/>
          <a:p xmlns:a="http://schemas.openxmlformats.org/drawingml/2006/main">
            <a:pPr>
              <a:buNone/>
            </a:pPr>
            <a:r>
              <a:t>Slide Title</a:t>
            </a:r>
          </a:p>
        </p:txBody>
      </p:sp>
      <p:sp>
        <p:nvSpPr>
          <p:cNvPr id="3" name="Body Level One…">
            <a:extLst xmlns:a="http://schemas.openxmlformats.org/drawingml/2006/main">
              <a:ext uri="{FF2B5EF4-FFF2-40B4-BE49-F238E27FC236}">
                <a16:creationId xmlns:a16="http://schemas.microsoft.com/office/drawing/2014/main" id="{FCCB9D11-3597-4C0C-BD83-A6CDBDA695CA}"/>
              </a:ext>
            </a:extLst>
          </p:cNvPr>
          <p:cNvSpPr>
            <a:spLocks xmlns:a="http://schemas.openxmlformats.org/drawingml/2006/main" noGrp="1"/>
          </p:cNvSpPr>
          <p:nvPr>
            <p:ph type="body" idx="1" hasCustomPrompt="1"/>
          </p:nvPr>
        </p:nvSpPr>
        <p:spPr>
          <a:xfrm xmlns:a="http://schemas.openxmlformats.org/drawingml/2006/main">
            <a:off x="1206500" y="4248504"/>
            <a:ext cx="21971000" cy="8256012"/>
          </a:xfrm>
          <a:prstGeom xmlns:a="http://schemas.openxmlformats.org/drawingml/2006/main" prst="rect">
            <a:avLst/>
          </a:prstGeom>
          <a:ln xmlns:a="http://schemas.openxmlformats.org/drawingml/2006/main" w="12700"/>
        </p:spPr>
        <p:txBody>
          <a:bodyPr xmlns:a="http://schemas.openxmlformats.org/drawingml/2006/main" lIns="50800" tIns="50800" rIns="50800" bIns="50800">
            <a:normAutofit fontScale="100000" lnSpcReduction="0"/>
          </a:bodyPr>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4" name="Slide Number">
            <a:extLst xmlns:a="http://schemas.openxmlformats.org/drawingml/2006/main">
              <a:ext uri="{FF2B5EF4-FFF2-40B4-BE49-F238E27FC236}">
                <a16:creationId xmlns:a16="http://schemas.microsoft.com/office/drawing/2014/main" id="{37752894-906F-49D5-AA71-7E1AE9A43402}"/>
              </a:ext>
            </a:extLst>
          </p:cNvPr>
          <p:cNvSpPr>
            <a:spLocks xmlns:a="http://schemas.openxmlformats.org/drawingml/2006/main" noGrp="1"/>
          </p:cNvSpPr>
          <p:nvPr>
            <p:ph type="sldNum" idx="2"/>
          </p:nvPr>
        </p:nvSpPr>
        <p:spPr>
          <a:xfrm xmlns:a="http://schemas.openxmlformats.org/drawingml/2006/main">
            <a:off x="22809200" y="13080999"/>
            <a:ext cx="368504" cy="374600"/>
          </a:xfrm>
          <a:prstGeom xmlns:a="http://schemas.openxmlformats.org/drawingml/2006/main" prst="rect">
            <a:avLst/>
          </a:prstGeom>
          <a:ln xmlns:a="http://schemas.openxmlformats.org/drawingml/2006/main" w="12700"/>
        </p:spPr>
        <p:txBody>
          <a:bodyPr xmlns:a="http://schemas.openxmlformats.org/drawingml/2006/main" wrap="none" lIns="50800" tIns="50800" rIns="50800" bIns="50800" anchor="b">
            <a:spAutoFit/>
          </a:bodyPr>
          <a:lstStyle xmlns:a="http://schemas.openxmlformats.org/drawingml/2006/main">
            <a:lvl1pPr algn="ctr" defTabSz="584200">
              <a:lnSpc>
                <a:spcPct val="100000"/>
              </a:lnSpc>
              <a:spcBef>
                <a:spcPts val="0"/>
              </a:spcBef>
              <a:buNone/>
              <a:defRPr sz="1800"/>
            </a:lvl1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4b819961904b67"/>
    <p:sldLayoutId xmlns:r="http://schemas.openxmlformats.org/officeDocument/2006/relationships" id="2147483650" r:id="R7002553f5eba4f6b"/>
    <p:sldLayoutId xmlns:r="http://schemas.openxmlformats.org/officeDocument/2006/relationships" id="2147483651" r:id="R19d8b93359d5434e"/>
    <p:sldLayoutId xmlns:r="http://schemas.openxmlformats.org/officeDocument/2006/relationships" id="2147483652" r:id="R1159bbcac41e4bf4"/>
    <p:sldLayoutId xmlns:r="http://schemas.openxmlformats.org/officeDocument/2006/relationships" id="2147483653" r:id="R9f712666fe95422c"/>
    <p:sldLayoutId xmlns:r="http://schemas.openxmlformats.org/officeDocument/2006/relationships" id="2147483654" r:id="R5107ffb99ec44af8"/>
    <p:sldLayoutId xmlns:r="http://schemas.openxmlformats.org/officeDocument/2006/relationships" id="2147483655" r:id="Rcb633b4c892b451e"/>
    <p:sldLayoutId xmlns:r="http://schemas.openxmlformats.org/officeDocument/2006/relationships" id="2147483656" r:id="R56de3e43322d4e14"/>
    <p:sldLayoutId xmlns:r="http://schemas.openxmlformats.org/officeDocument/2006/relationships" id="2147483657" r:id="R407589a4b89f42a3"/>
    <p:sldLayoutId xmlns:r="http://schemas.openxmlformats.org/officeDocument/2006/relationships" id="2147483658" r:id="R014de01375a54f1f"/>
    <p:sldLayoutId xmlns:r="http://schemas.openxmlformats.org/officeDocument/2006/relationships" id="2147483659" r:id="Re2d9cc57ad574a71"/>
    <p:sldLayoutId xmlns:r="http://schemas.openxmlformats.org/officeDocument/2006/relationships" id="2147483660" r:id="R1bb73379657749c7"/>
    <p:sldLayoutId xmlns:r="http://schemas.openxmlformats.org/officeDocument/2006/relationships" id="2147483661" r:id="R7bca7dfc93d84813"/>
    <p:sldLayoutId xmlns:r="http://schemas.openxmlformats.org/officeDocument/2006/relationships" id="2147483662" r:id="Rd401b3277f664d5e"/>
    <p:sldLayoutId xmlns:r="http://schemas.openxmlformats.org/officeDocument/2006/relationships" id="2147483663" r:id="R814a7bd8dd28453f"/>
    <p:sldLayoutId xmlns:r="http://schemas.openxmlformats.org/officeDocument/2006/relationships" id="2147483664" r:id="Rb2cf3388698e4e3a"/>
    <p:sldLayoutId xmlns:r="http://schemas.openxmlformats.org/officeDocument/2006/relationships" id="2147483665" r:id="R9530ce47cee14fe1"/>
  </p:sldLayoutIdLst>
  <p:txStyles>
    <p:titleStyle>
      <a:lvl1pPr xmlns:a="http://schemas.openxmlformats.org/drawingml/2006/main" marL="0" marR="0" indent="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1pPr>
      <a:lvl2pPr xmlns:a="http://schemas.openxmlformats.org/drawingml/2006/main" marL="0" marR="0" indent="4572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2pPr>
      <a:lvl3pPr xmlns:a="http://schemas.openxmlformats.org/drawingml/2006/main" marL="0" marR="0" indent="9144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3pPr>
      <a:lvl4pPr xmlns:a="http://schemas.openxmlformats.org/drawingml/2006/main" marL="0" marR="0" indent="13716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4pPr>
      <a:lvl5pPr xmlns:a="http://schemas.openxmlformats.org/drawingml/2006/main" marL="0" marR="0" indent="18288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5pPr>
      <a:lvl6pPr xmlns:a="http://schemas.openxmlformats.org/drawingml/2006/main" marL="0" marR="0" indent="22860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6pPr>
      <a:lvl7pPr xmlns:a="http://schemas.openxmlformats.org/drawingml/2006/main" marL="0" marR="0" indent="27432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7pPr>
      <a:lvl8pPr xmlns:a="http://schemas.openxmlformats.org/drawingml/2006/main" marL="0" marR="0" indent="32004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8pPr>
      <a:lvl9pPr xmlns:a="http://schemas.openxmlformats.org/drawingml/2006/main" marL="0" marR="0" indent="36576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9pPr>
    </p:titleStyle>
    <p:bodyStyle>
      <a:lvl1pPr xmlns:a="http://schemas.openxmlformats.org/drawingml/2006/main" marL="6096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1pPr>
      <a:lvl2pPr xmlns:a="http://schemas.openxmlformats.org/drawingml/2006/main" marL="12192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2pPr>
      <a:lvl3pPr xmlns:a="http://schemas.openxmlformats.org/drawingml/2006/main" marL="18288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3pPr>
      <a:lvl4pPr xmlns:a="http://schemas.openxmlformats.org/drawingml/2006/main" marL="24384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4pPr>
      <a:lvl5pPr xmlns:a="http://schemas.openxmlformats.org/drawingml/2006/main" marL="30480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5pPr>
      <a:lvl6pPr xmlns:a="http://schemas.openxmlformats.org/drawingml/2006/main" marL="36576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6pPr>
      <a:lvl7pPr xmlns:a="http://schemas.openxmlformats.org/drawingml/2006/main" marL="42672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7pPr>
      <a:lvl8pPr xmlns:a="http://schemas.openxmlformats.org/drawingml/2006/main" marL="48768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8pPr>
      <a:lvl9pPr xmlns:a="http://schemas.openxmlformats.org/drawingml/2006/main" marL="54864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9pPr>
    </p:bodyStyle>
    <p:otherStyle>
      <a:lvl1pPr xmlns:a="http://schemas.openxmlformats.org/drawingml/2006/main" marL="0" marR="0" indent="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1pPr>
      <a:lvl2pPr xmlns:a="http://schemas.openxmlformats.org/drawingml/2006/main" marL="0" marR="0" indent="4572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2pPr>
      <a:lvl3pPr xmlns:a="http://schemas.openxmlformats.org/drawingml/2006/main" marL="0" marR="0" indent="9144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3pPr>
      <a:lvl4pPr xmlns:a="http://schemas.openxmlformats.org/drawingml/2006/main" marL="0" marR="0" indent="13716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4pPr>
      <a:lvl5pPr xmlns:a="http://schemas.openxmlformats.org/drawingml/2006/main" marL="0" marR="0" indent="18288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5pPr>
      <a:lvl6pPr xmlns:a="http://schemas.openxmlformats.org/drawingml/2006/main" marL="0" marR="0" indent="22860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6pPr>
      <a:lvl7pPr xmlns:a="http://schemas.openxmlformats.org/drawingml/2006/main" marL="0" marR="0" indent="27432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7pPr>
      <a:lvl8pPr xmlns:a="http://schemas.openxmlformats.org/drawingml/2006/main" marL="0" marR="0" indent="32004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8pPr>
      <a:lvl9pPr xmlns:a="http://schemas.openxmlformats.org/drawingml/2006/main" marL="0" marR="0" indent="36576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39_DynamicColor">
  <a:themeElements>
    <a:clrScheme name="39_Dynam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9_DynamicColor">
      <a:majorFont>
        <a:latin typeface="Helvetica Neue"/>
        <a:ea typeface="Helvetica Neue"/>
        <a:cs typeface="Helvetica Neue"/>
      </a:majorFont>
      <a:minorFont>
        <a:latin typeface="Helvetica Neue"/>
        <a:ea typeface="Helvetica Neue"/>
        <a:cs typeface="Helvetica Neue"/>
      </a:minorFont>
    </a:fontScheme>
    <a:fmtScheme name="39_Dynam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3d8e9f1c4ca74474" Type="http://schemas.openxmlformats.org/officeDocument/2006/relationships/slideLayout" Target="../slideLayouts/slideLayout1.xml"/><Relationship Id="R61f48504b63042f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6271a15825304320" Type="http://schemas.openxmlformats.org/officeDocument/2006/relationships/notesSlide" Target="../notesSlides/notesSlide2.xml"/><Relationship Id="R7f9c6ca6e76b49ea"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149e1000f2b04cf5" Type="http://schemas.openxmlformats.org/officeDocument/2006/relationships/slideLayout" Target="../slideLayouts/slideLayout4.xml"/><Relationship Id="Rff688ee89007438a"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0c5a6b7258a4131" Type="http://schemas.openxmlformats.org/officeDocument/2006/relationships/notesSlide" Target="../notesSlides/notesSlide4.xml"/><Relationship Id="Rde77cbfb350e425e"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8f6c919638474bdd" Type="http://schemas.openxmlformats.org/officeDocument/2006/relationships/slideLayout" Target="../slideLayouts/slideLayout17.xml"/><Relationship Id="Re94278fc8fb148f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4a03e6aaf414bcb" Type="http://schemas.openxmlformats.org/officeDocument/2006/relationships/image" Target="../media/image5.png"/><Relationship Id="R4688a70c9b6b4532" Type="http://schemas.openxmlformats.org/officeDocument/2006/relationships/notesSlide" Target="../notesSlides/notesSlide6.xml"/><Relationship Id="R68b339d5842a460e" Type="http://schemas.openxmlformats.org/officeDocument/2006/relationships/image" Target="../media/image6.png"/><Relationship Id="R773c7743d5a94af4" Type="http://schemas.openxmlformats.org/officeDocument/2006/relationships/image" Target="../media/image4.png"/><Relationship Id="R7e40cedce6304a1a"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0d9055bd2bf74f16" Type="http://schemas.openxmlformats.org/officeDocument/2006/relationships/image" Target="../media/image7.png"/><Relationship Id="R16bfba5150134368" Type="http://schemas.openxmlformats.org/officeDocument/2006/relationships/slideLayout" Target="../slideLayouts/slideLayout17.xml"/><Relationship Id="R55fa8ffe826144bb" Type="http://schemas.openxmlformats.org/officeDocument/2006/relationships/image" Target="../media/image9.png"/><Relationship Id="R59f178d324da4ab6" Type="http://schemas.openxmlformats.org/officeDocument/2006/relationships/image" Target="../media/image8.png"/><Relationship Id="R85a28a7cfa5f41f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72f1f91e04614e94" Type="http://schemas.openxmlformats.org/officeDocument/2006/relationships/notesSlide" Target="../notesSlides/notesSlide8.xml"/><Relationship Id="Ra1ab5756bc204057"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728e4f8bce314d96" Type="http://schemas.openxmlformats.org/officeDocument/2006/relationships/notesSlide" Target="../notesSlides/notesSlide9.xml"/><Relationship Id="R774b5a6f9bdf402f"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040f3059619b48da" Type="http://schemas.openxmlformats.org/officeDocument/2006/relationships/image" Target="../media/image12.png"/><Relationship Id="R1b07f1ba45d5492f" Type="http://schemas.openxmlformats.org/officeDocument/2006/relationships/image" Target="../media/image10.png"/><Relationship Id="R22d38f8beb0b4a82" Type="http://schemas.openxmlformats.org/officeDocument/2006/relationships/slideLayout" Target="../slideLayouts/slideLayout17.xml"/><Relationship Id="R5b6e43912bcb4470" Type="http://schemas.openxmlformats.org/officeDocument/2006/relationships/notesSlide" Target="../notesSlides/notesSlide10.xml"/><Relationship Id="R85d18df20d02400d" Type="http://schemas.openxmlformats.org/officeDocument/2006/relationships/image" Target="../media/image13.png"/><Relationship Id="Rae3798e1e20c43d2" Type="http://schemas.openxmlformats.org/officeDocument/2006/relationships/image" Target="../media/image11.png"/></Relationships>
</file>

<file path=ppt/slides/_rels/slide11.xml.rels><?xml version='1.0' encoding='UTF-8' standalone='yes'?>
<Relationships xmlns="http://schemas.openxmlformats.org/package/2006/relationships"><Relationship Id="R7e280c93bc944b2a" Type="http://schemas.openxmlformats.org/officeDocument/2006/relationships/image" Target="../media/image15.png"/><Relationship Id="R8ed1e479538c45e9" Type="http://schemas.openxmlformats.org/officeDocument/2006/relationships/notesSlide" Target="../notesSlides/notesSlide11.xml"/><Relationship Id="Rb3ddd04066954211" Type="http://schemas.openxmlformats.org/officeDocument/2006/relationships/slideLayout" Target="../slideLayouts/slideLayout17.xml"/><Relationship Id="Rc8477e41a09b4a02" Type="http://schemas.openxmlformats.org/officeDocument/2006/relationships/image" Target="../media/image16.png"/><Relationship Id="Rece10ee331784d6b" Type="http://schemas.openxmlformats.org/officeDocument/2006/relationships/image" Target="../media/image14.png"/></Relationships>
</file>

<file path=ppt/slides/_rels/slide12.xml.rels><?xml version='1.0' encoding='UTF-8' standalone='yes'?>
<Relationships xmlns="http://schemas.openxmlformats.org/package/2006/relationships"><Relationship Id="R0357fc7d7c664b96" Type="http://schemas.openxmlformats.org/officeDocument/2006/relationships/notesSlide" Target="../notesSlides/notesSlide12.xml"/><Relationship Id="R3f41dec8088948da" Type="http://schemas.openxmlformats.org/officeDocument/2006/relationships/slideLayout" Target="../slideLayouts/slideLayout17.xml"/><Relationship Id="Ra3b12218a8e04027" Type="http://schemas.openxmlformats.org/officeDocument/2006/relationships/image" Target="../media/image17.png"/></Relationships>
</file>

<file path=ppt/slides/_rels/slide13.xml.rels><?xml version='1.0' encoding='UTF-8' standalone='yes'?>
<Relationships xmlns="http://schemas.openxmlformats.org/package/2006/relationships"><Relationship Id="R30eb47405cdb403b" Type="http://schemas.openxmlformats.org/officeDocument/2006/relationships/slideLayout" Target="../slideLayouts/slideLayout17.xml"/><Relationship Id="R4bd46ca7b3f84f50" Type="http://schemas.openxmlformats.org/officeDocument/2006/relationships/notesSlide" Target="../notesSlides/notesSlide13.xml"/><Relationship Id="R5366119eb30e4394" Type="http://schemas.openxmlformats.org/officeDocument/2006/relationships/image" Target="../media/image18.png"/></Relationships>
</file>

<file path=ppt/slides/_rels/slide14.xml.rels><?xml version='1.0' encoding='UTF-8' standalone='yes'?>
<Relationships xmlns="http://schemas.openxmlformats.org/package/2006/relationships"><Relationship Id="R01cf071847634def" Type="http://schemas.openxmlformats.org/officeDocument/2006/relationships/notesSlide" Target="../notesSlides/notesSlide14.xml"/><Relationship Id="R0626f3ba5be54aed" Type="http://schemas.openxmlformats.org/officeDocument/2006/relationships/slideLayout" Target="../slideLayouts/slideLayout17.xml"/><Relationship Id="R1681a9e8aa83479d" Type="http://schemas.openxmlformats.org/officeDocument/2006/relationships/image" Target="../media/image19.png"/><Relationship Id="R5b210c13c33541f8" Type="http://schemas.openxmlformats.org/officeDocument/2006/relationships/image" Target="../media/image20.png"/></Relationships>
</file>

<file path=ppt/slides/_rels/slide15.xml.rels><?xml version='1.0' encoding='UTF-8' standalone='yes'?>
<Relationships xmlns="http://schemas.openxmlformats.org/package/2006/relationships"><Relationship Id="R3e5f25499b3a4b20" Type="http://schemas.openxmlformats.org/officeDocument/2006/relationships/image" Target="../media/image21.png"/><Relationship Id="Rb766bb03cb8c437d" Type="http://schemas.openxmlformats.org/officeDocument/2006/relationships/slideLayout" Target="../slideLayouts/slideLayout17.xml"/><Relationship Id="Rfacb763c49d9440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0ca4ba82e6674928" Type="http://schemas.openxmlformats.org/officeDocument/2006/relationships/slideLayout" Target="../slideLayouts/slideLayout17.xml"/><Relationship Id="R7109d1f1886b43e2" Type="http://schemas.openxmlformats.org/officeDocument/2006/relationships/notesSlide" Target="../notesSlides/notesSlide16.xml"/><Relationship Id="Rd44af85646304bf0" Type="http://schemas.openxmlformats.org/officeDocument/2006/relationships/image" Target="../media/image22.png"/></Relationships>
</file>

<file path=ppt/slides/_rels/slide17.xml.rels><?xml version='1.0' encoding='UTF-8' standalone='yes'?>
<Relationships xmlns="http://schemas.openxmlformats.org/package/2006/relationships"><Relationship Id="Rb73c248a58cf4657" Type="http://schemas.openxmlformats.org/officeDocument/2006/relationships/notesSlide" Target="../notesSlides/notesSlide17.xml"/><Relationship Id="Rbda48608b4ea4b07"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b160136968514b88" Type="http://schemas.openxmlformats.org/officeDocument/2006/relationships/notesSlide" Target="../notesSlides/notesSlide18.xml"/><Relationship Id="Rd413ebac62764d90"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3.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4.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5.pn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6.png"/><Relationship Id="rId3" Type="http://schemas.microsoft.com/office/2007/relationships/media" Target="../media/media5.mp4"/><Relationship Id="rId4" Type="http://schemas.openxmlformats.org/officeDocument/2006/relationships/video" Target="../media/media5.mp4"/><Relationship Id="rId5" Type="http://schemas.openxmlformats.org/officeDocument/2006/relationships/notesSlide" Target="../notesSlides/notesSlide23.xml"/></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2" name="Augmenting Numerical Methods with Deep Learning methods">
            <a:extLst xmlns:a="http://schemas.openxmlformats.org/drawingml/2006/main">
              <a:ext uri="{FF2B5EF4-FFF2-40B4-BE49-F238E27FC236}">
                <a16:creationId xmlns:a16="http://schemas.microsoft.com/office/drawing/2014/main" id="{63479B10-AC2F-4844-96EC-9F542E3010DD}"/>
              </a:ext>
            </a:extLst>
          </p:cNvPr>
          <p:cNvSpPr>
            <a:spLocks xmlns:a="http://schemas.openxmlformats.org/drawingml/2006/main" noGrp="1"/>
          </p:cNvSpPr>
          <p:nvPr>
            <p:ph type="ctrTitle" idx="0"/>
          </p:nvPr>
        </p:nvSpPr>
        <p:spPr>
          <a:xfrm xmlns:a="http://schemas.openxmlformats.org/drawingml/2006/main">
            <a:off x="1219200" y="2571750"/>
            <a:ext cx="21621750" cy="4238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200" b="1">
                <a:solidFill>
                  <a:srgbClr val="17191C"/>
                </a:solidFill>
                <a:latin typeface="Arial"/>
                <a:ea typeface="Helvetica Neue"/>
                <a:cs typeface="Helvetica Neue"/>
              </a:defRPr>
            </a:pPr>
            <a:r>
              <a:rPr sz="10200" b="1">
                <a:solidFill>
                  <a:srgbClr val="17191C"/>
                </a:solidFill>
                <a:latin typeface="Arial"/>
                <a:ea typeface="Helvetica Neue"/>
                <a:cs typeface="Helvetica Neue"/>
              </a:rPr>
              <a:t>Numerical methods</a:t>
            </a:r>
          </a:p>
          <a:p xmlns:a="http://schemas.openxmlformats.org/drawingml/2006/main">
            <a:pPr algn="l">
              <a:buNone/>
              <a:defRPr sz="10200" b="1">
                <a:solidFill>
                  <a:srgbClr val="17191C"/>
                </a:solidFill>
                <a:latin typeface="Arial"/>
                <a:ea typeface="Helvetica Neue"/>
                <a:cs typeface="Helvetica Neue"/>
              </a:defRPr>
            </a:pPr>
            <a:r>
              <a:rPr sz="10200" b="1">
                <a:solidFill>
                  <a:srgbClr val="17191C"/>
                </a:solidFill>
                <a:latin typeface="Arial"/>
                <a:ea typeface="Helvetica Neue"/>
                <a:cs typeface="Helvetica Neue"/>
              </a:rPr>
              <a:t>and deep learning</a:t>
            </a:r>
          </a:p>
        </p:txBody>
      </p:sp>
      <p:sp>
        <p:nvSpPr>
          <p:cNvPr id="173" name="Phase-field fracture and differentiable simulation">
            <a:extLst xmlns:a="http://schemas.openxmlformats.org/drawingml/2006/main">
              <a:ext uri="{FF2B5EF4-FFF2-40B4-BE49-F238E27FC236}">
                <a16:creationId xmlns:a16="http://schemas.microsoft.com/office/drawing/2014/main" id="{437885D8-68FD-42EC-B6BA-8C67B2F3601A}"/>
              </a:ext>
            </a:extLst>
          </p:cNvPr>
          <p:cNvSpPr>
            <a:spLocks xmlns:a="http://schemas.openxmlformats.org/drawingml/2006/main" noGrp="1"/>
          </p:cNvSpPr>
          <p:nvPr/>
        </p:nvSpPr>
        <p:spPr>
          <a:xfrm xmlns:a="http://schemas.openxmlformats.org/drawingml/2006/main">
            <a:off x="1295400" y="8191500"/>
            <a:ext cx="2057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Arial"/>
                <a:ea typeface="Helvetica Neue"/>
                <a:cs typeface="Helvetica Neue"/>
              </a:defRPr>
            </a:pPr>
            <a:r>
              <a:rPr sz="4350" b="0">
                <a:solidFill>
                  <a:srgbClr val="17191C"/>
                </a:solidFill>
                <a:latin typeface="Arial"/>
                <a:ea typeface="Helvetica Neue"/>
                <a:cs typeface="Helvetica Neue"/>
              </a:rPr>
              <a:t>Phase-field fracture and differentiable simulation</a:t>
            </a:r>
          </a:p>
        </p:txBody>
      </p:sp>
      <p:sp>
        <p:nvSpPr>
          <p:cNvPr id="174" name="Presented by&#10;Sathiskumar A. Ponnusami">
            <a:extLst xmlns:a="http://schemas.openxmlformats.org/drawingml/2006/main">
              <a:ext uri="{FF2B5EF4-FFF2-40B4-BE49-F238E27FC236}">
                <a16:creationId xmlns:a16="http://schemas.microsoft.com/office/drawing/2014/main" id="{983DD1E5-DF9C-4A1B-B24E-28705576B5CF}"/>
              </a:ext>
            </a:extLst>
          </p:cNvPr>
          <p:cNvSpPr>
            <a:spLocks xmlns:a="http://schemas.openxmlformats.org/drawingml/2006/main" noGrp="1"/>
          </p:cNvSpPr>
          <p:nvPr/>
        </p:nvSpPr>
        <p:spPr>
          <a:xfrm xmlns:a="http://schemas.openxmlformats.org/drawingml/2006/main">
            <a:off x="1295400" y="10382250"/>
            <a:ext cx="20002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7191C"/>
                </a:solidFill>
                <a:latin typeface="Arial"/>
                <a:ea typeface="Helvetica Neue"/>
                <a:cs typeface="Helvetica Neue"/>
              </a:defRPr>
            </a:pPr>
            <a:r>
              <a:rPr sz="3525" b="0">
                <a:solidFill>
                  <a:srgbClr val="17191C"/>
                </a:solidFill>
                <a:latin typeface="Arial"/>
                <a:ea typeface="Helvetica Neue"/>
                <a:cs typeface="Helvetica Neue"/>
              </a:rPr>
              <a:t>Presented by</a:t>
            </a:r>
          </a:p>
          <a:p xmlns:a="http://schemas.openxmlformats.org/drawingml/2006/main">
            <a:pPr algn="l">
              <a:defRPr sz="3525" b="0">
                <a:solidFill>
                  <a:srgbClr val="17191C"/>
                </a:solidFill>
                <a:latin typeface="Arial"/>
                <a:ea typeface="Helvetica Neue"/>
                <a:cs typeface="Helvetica Neue"/>
              </a:defRPr>
            </a:pPr>
            <a:r>
              <a:rPr sz="3525" b="0">
                <a:solidFill>
                  <a:srgbClr val="17191C"/>
                </a:solidFill>
                <a:latin typeface="Arial"/>
                <a:ea typeface="Helvetica Neue"/>
                <a:cs typeface="Helvetica Neue"/>
              </a:rPr>
              <a:t>Sathiskumar A. Ponnusami</a:t>
            </a:r>
          </a:p>
        </p:txBody>
      </p:sp>
      <p:sp>
        <p:nvSpPr>
          <p:cNvPr id="175" name="Queen Mary University of London · CEMS-Lab&#10;Prepared for the UKACM Autu">
            <a:extLst xmlns:a="http://schemas.openxmlformats.org/drawingml/2006/main">
              <a:ext uri="{FF2B5EF4-FFF2-40B4-BE49-F238E27FC236}">
                <a16:creationId xmlns:a16="http://schemas.microsoft.com/office/drawing/2014/main" id="{842281A2-FA98-4B20-8523-9E72CC517599}"/>
              </a:ext>
            </a:extLst>
          </p:cNvPr>
          <p:cNvSpPr>
            <a:spLocks xmlns:a="http://schemas.openxmlformats.org/drawingml/2006/main" noGrp="1"/>
          </p:cNvSpPr>
          <p:nvPr/>
        </p:nvSpPr>
        <p:spPr>
          <a:xfrm xmlns:a="http://schemas.openxmlformats.org/drawingml/2006/main">
            <a:off x="1295400" y="12096750"/>
            <a:ext cx="2143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191C"/>
                </a:solidFill>
                <a:latin typeface="Arial"/>
                <a:ea typeface="Helvetica Neue"/>
                <a:cs typeface="Helvetica Neue"/>
              </a:defRPr>
            </a:pPr>
            <a:r>
              <a:rPr sz="2325" b="0">
                <a:solidFill>
                  <a:srgbClr val="17191C"/>
                </a:solidFill>
                <a:latin typeface="Arial"/>
                <a:ea typeface="Helvetica Neue"/>
                <a:cs typeface="Helvetica Neue"/>
              </a:rPr>
              <a:t>Queen Mary University of London · CEMS-Lab</a:t>
            </a:r>
          </a:p>
          <a:p xmlns:a="http://schemas.openxmlformats.org/drawingml/2006/main">
            <a:pPr algn="l">
              <a:defRPr sz="2325" b="0">
                <a:solidFill>
                  <a:srgbClr val="17191C"/>
                </a:solidFill>
                <a:latin typeface="Arial"/>
                <a:ea typeface="Helvetica Neue"/>
                <a:cs typeface="Helvetica Neue"/>
              </a:defRPr>
            </a:pPr>
            <a:r>
              <a:rPr sz="2325" b="0">
                <a:solidFill>
                  <a:srgbClr val="17191C"/>
                </a:solidFill>
                <a:latin typeface="Arial"/>
                <a:ea typeface="Helvetica Neue"/>
                <a:cs typeface="Helvetica Neue"/>
              </a:rPr>
              <a:t>Prepared for the UKACM Autumn School 2026</a:t>
            </a:r>
          </a:p>
        </p:txBody>
      </p:sp>
    </p:spTree>
    <p:extLst>
      <p:ext uri="{BB962C8B-B14F-4D97-AF65-F5344CB8AC3E}">
        <p14:creationId xmlns:p14="http://schemas.microsoft.com/office/powerpoint/2010/main" val="209520161"/>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 name="Advantages of Neural Networks for physical methods">
            <a:extLst xmlns:a="http://schemas.openxmlformats.org/drawingml/2006/main">
              <a:ext uri="{FF2B5EF4-FFF2-40B4-BE49-F238E27FC236}">
                <a16:creationId xmlns:a16="http://schemas.microsoft.com/office/drawing/2014/main" id="{CF612B25-51E6-472A-8E43-89C9D46B1061}"/>
              </a:ext>
            </a:extLst>
          </p:cNvPr>
          <p:cNvSpPr>
            <a:spLocks xmlns:a="http://schemas.openxmlformats.org/drawingml/2006/main" noGrp="1"/>
          </p:cNvSpPr>
          <p:nvPr>
            <p:ph type="title" idx="0"/>
          </p:nvPr>
        </p:nvSpPr>
        <p:spPr>
          <a:xfrm xmlns:a="http://schemas.openxmlformats.org/drawingml/2006/main">
            <a:off x="1219200" y="952500"/>
            <a:ext cx="21945600" cy="2095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defTabSz="1365469">
              <a:buNone/>
              <a:defRPr sz="4760" spc="-95"/>
            </a:lvl1pPr>
          </a:lstStyle>
          <a:p xmlns:a="http://schemas.openxmlformats.org/drawingml/2006/main">
            <a:pPr algn="l">
              <a:buNone/>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What learning can contribute</a:t>
            </a:r>
          </a:p>
        </p:txBody>
      </p:sp>
      <p:sp>
        <p:nvSpPr>
          <p:cNvPr id="176" name="Approximation">
            <a:extLst xmlns:a="http://schemas.openxmlformats.org/drawingml/2006/main">
              <a:ext uri="{FF2B5EF4-FFF2-40B4-BE49-F238E27FC236}">
                <a16:creationId xmlns:a16="http://schemas.microsoft.com/office/drawing/2014/main" id="{7CB33EB4-97E6-4B19-BF9A-F3021E64457A}"/>
              </a:ext>
            </a:extLst>
          </p:cNvPr>
          <p:cNvSpPr>
            <a:spLocks xmlns:a="http://schemas.openxmlformats.org/drawingml/2006/main" noGrp="1"/>
          </p:cNvSpPr>
          <p:nvPr/>
        </p:nvSpPr>
        <p:spPr>
          <a:xfrm xmlns:a="http://schemas.openxmlformats.org/drawingml/2006/main">
            <a:off x="1219200" y="3905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Approximation</a:t>
            </a:r>
          </a:p>
        </p:txBody>
      </p:sp>
      <p:sp>
        <p:nvSpPr>
          <p:cNvPr id="177" name="Represent a complex relation between inputs and physical responses.">
            <a:extLst xmlns:a="http://schemas.openxmlformats.org/drawingml/2006/main">
              <a:ext uri="{FF2B5EF4-FFF2-40B4-BE49-F238E27FC236}">
                <a16:creationId xmlns:a16="http://schemas.microsoft.com/office/drawing/2014/main" id="{95468C9D-2EDF-4E08-9B2D-85D69133C7FE}"/>
              </a:ext>
            </a:extLst>
          </p:cNvPr>
          <p:cNvSpPr>
            <a:spLocks xmlns:a="http://schemas.openxmlformats.org/drawingml/2006/main" noGrp="1"/>
          </p:cNvSpPr>
          <p:nvPr/>
        </p:nvSpPr>
        <p:spPr>
          <a:xfrm xmlns:a="http://schemas.openxmlformats.org/drawingml/2006/main">
            <a:off x="8763000" y="3905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Represent a complex relation between inputs and physical responses.</a:t>
            </a:r>
          </a:p>
        </p:txBody>
      </p:sp>
      <p:sp>
        <p:nvSpPr>
          <p:cNvPr id="178" name="Repeated queries">
            <a:extLst xmlns:a="http://schemas.openxmlformats.org/drawingml/2006/main">
              <a:ext uri="{FF2B5EF4-FFF2-40B4-BE49-F238E27FC236}">
                <a16:creationId xmlns:a16="http://schemas.microsoft.com/office/drawing/2014/main" id="{F1D2D696-C010-434D-BB97-57C41F905915}"/>
              </a:ext>
            </a:extLst>
          </p:cNvPr>
          <p:cNvSpPr>
            <a:spLocks xmlns:a="http://schemas.openxmlformats.org/drawingml/2006/main" noGrp="1"/>
          </p:cNvSpPr>
          <p:nvPr/>
        </p:nvSpPr>
        <p:spPr>
          <a:xfrm xmlns:a="http://schemas.openxmlformats.org/drawingml/2006/main">
            <a:off x="1219200" y="64293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Repeated queries</a:t>
            </a:r>
          </a:p>
        </p:txBody>
      </p:sp>
      <p:sp>
        <p:nvSpPr>
          <p:cNvPr id="179" name="Amortise a training investment across many suitable predictions.">
            <a:extLst xmlns:a="http://schemas.openxmlformats.org/drawingml/2006/main">
              <a:ext uri="{FF2B5EF4-FFF2-40B4-BE49-F238E27FC236}">
                <a16:creationId xmlns:a16="http://schemas.microsoft.com/office/drawing/2014/main" id="{A9D494CE-D67D-4ACB-8138-18C9CE135524}"/>
              </a:ext>
            </a:extLst>
          </p:cNvPr>
          <p:cNvSpPr>
            <a:spLocks xmlns:a="http://schemas.openxmlformats.org/drawingml/2006/main" noGrp="1"/>
          </p:cNvSpPr>
          <p:nvPr/>
        </p:nvSpPr>
        <p:spPr>
          <a:xfrm xmlns:a="http://schemas.openxmlformats.org/drawingml/2006/main">
            <a:off x="8763000" y="642937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Amortise a training investment across many suitable predictions.</a:t>
            </a:r>
          </a:p>
        </p:txBody>
      </p:sp>
      <p:sp>
        <p:nvSpPr>
          <p:cNvPr id="180" name="A learned component">
            <a:extLst xmlns:a="http://schemas.openxmlformats.org/drawingml/2006/main">
              <a:ext uri="{FF2B5EF4-FFF2-40B4-BE49-F238E27FC236}">
                <a16:creationId xmlns:a16="http://schemas.microsoft.com/office/drawing/2014/main" id="{4C376E92-BC60-4E45-9169-CF4C059F7FF2}"/>
              </a:ext>
            </a:extLst>
          </p:cNvPr>
          <p:cNvSpPr>
            <a:spLocks xmlns:a="http://schemas.openxmlformats.org/drawingml/2006/main" noGrp="1"/>
          </p:cNvSpPr>
          <p:nvPr/>
        </p:nvSpPr>
        <p:spPr>
          <a:xfrm xmlns:a="http://schemas.openxmlformats.org/drawingml/2006/main">
            <a:off x="1219200" y="89535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A learned component</a:t>
            </a:r>
          </a:p>
        </p:txBody>
      </p:sp>
      <p:sp>
        <p:nvSpPr>
          <p:cNvPr id="181" name="Propose a material response or a correction inside a numerical method.">
            <a:extLst xmlns:a="http://schemas.openxmlformats.org/drawingml/2006/main">
              <a:ext uri="{FF2B5EF4-FFF2-40B4-BE49-F238E27FC236}">
                <a16:creationId xmlns:a16="http://schemas.microsoft.com/office/drawing/2014/main" id="{DA70873F-CC5C-435A-85F8-9A21663CEF47}"/>
              </a:ext>
            </a:extLst>
          </p:cNvPr>
          <p:cNvSpPr>
            <a:spLocks xmlns:a="http://schemas.openxmlformats.org/drawingml/2006/main" noGrp="1"/>
          </p:cNvSpPr>
          <p:nvPr/>
        </p:nvSpPr>
        <p:spPr>
          <a:xfrm xmlns:a="http://schemas.openxmlformats.org/drawingml/2006/main">
            <a:off x="8763000" y="89535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Propose a material response or a correction inside a numerical method.</a:t>
            </a:r>
          </a:p>
        </p:txBody>
      </p:sp>
      <p:sp>
        <p:nvSpPr>
          <p:cNvPr id="182" name="CEMS-Lab · UKACM Autumn School 2026">
            <a:extLst xmlns:a="http://schemas.openxmlformats.org/drawingml/2006/main">
              <a:ext uri="{FF2B5EF4-FFF2-40B4-BE49-F238E27FC236}">
                <a16:creationId xmlns:a16="http://schemas.microsoft.com/office/drawing/2014/main" id="{D6766EB8-2D3B-4A82-85E5-F8C5785DD4D2}"/>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183" name="02">
            <a:extLst xmlns:a="http://schemas.openxmlformats.org/drawingml/2006/main">
              <a:ext uri="{FF2B5EF4-FFF2-40B4-BE49-F238E27FC236}">
                <a16:creationId xmlns:a16="http://schemas.microsoft.com/office/drawing/2014/main" id="{8B2CAB38-0FB0-4C78-986B-B9D127901B4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18</a:t>
            </a:r>
          </a:p>
        </p:txBody>
      </p:sp>
      <p:sp>
        <p:nvSpPr>
          <p:cNvPr id="184" name="Compare data generation, training, prediction and correction costs sep">
            <a:extLst xmlns:a="http://schemas.openxmlformats.org/drawingml/2006/main">
              <a:ext uri="{FF2B5EF4-FFF2-40B4-BE49-F238E27FC236}">
                <a16:creationId xmlns:a16="http://schemas.microsoft.com/office/drawing/2014/main" id="{9BF26D9F-22BD-46C8-91A2-B2970F2B14E3}"/>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Compare data generation, training, prediction and correction costs separately.</a:t>
            </a:r>
          </a:p>
        </p:txBody>
      </p:sp>
    </p:spTree>
    <p:extLst>
      <p:ext uri="{BB962C8B-B14F-4D97-AF65-F5344CB8AC3E}">
        <p14:creationId xmlns:p14="http://schemas.microsoft.com/office/powerpoint/2010/main" val="159841320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9" name="Underlying issues to resolve while solving PDEs with machine learning">
            <a:extLst xmlns:a="http://schemas.openxmlformats.org/drawingml/2006/main">
              <a:ext uri="{FF2B5EF4-FFF2-40B4-BE49-F238E27FC236}">
                <a16:creationId xmlns:a16="http://schemas.microsoft.com/office/drawing/2014/main" id="{E3C0808E-2E6D-4982-887F-828C526B3BC1}"/>
              </a:ext>
            </a:extLst>
          </p:cNvPr>
          <p:cNvSpPr>
            <a:spLocks xmlns:a="http://schemas.openxmlformats.org/drawingml/2006/main" noGrp="1"/>
          </p:cNvSpPr>
          <p:nvPr>
            <p:ph type="title" idx="0"/>
          </p:nvPr>
        </p:nvSpPr>
        <p:spPr>
          <a:xfrm xmlns:a="http://schemas.openxmlformats.org/drawingml/2006/main">
            <a:off x="1219200" y="952500"/>
            <a:ext cx="21945600" cy="2095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lvl="1" indent="278892" algn="l" defTabSz="1487386">
              <a:buNone/>
              <a:defRPr sz="6600" b="1" spc="-103">
                <a:solidFill>
                  <a:srgbClr val="B91862"/>
                </a:solidFill>
                <a:latin typeface="Arial"/>
                <a:ea typeface="Helvetica Neue"/>
                <a:cs typeface="Helvetica Neue"/>
              </a:defRPr>
            </a:pPr>
            <a:r>
              <a:rPr sz="6600" b="1" spc="-103">
                <a:solidFill>
                  <a:srgbClr val="245A81"/>
                </a:solidFill>
                <a:latin typeface="Arial"/>
                <a:ea typeface="Helvetica Neue"/>
                <a:cs typeface="Helvetica Neue"/>
              </a:rPr>
              <a:t>What a prediction must satisfy</a:t>
            </a:r>
          </a:p>
        </p:txBody>
      </p:sp>
      <p:sp>
        <p:nvSpPr>
          <p:cNvPr id="180" name="Physical conditions">
            <a:extLst xmlns:a="http://schemas.openxmlformats.org/drawingml/2006/main">
              <a:ext uri="{FF2B5EF4-FFF2-40B4-BE49-F238E27FC236}">
                <a16:creationId xmlns:a16="http://schemas.microsoft.com/office/drawing/2014/main" id="{74C8A74A-B0BC-4988-876A-A905EB25A2A9}"/>
              </a:ext>
            </a:extLst>
          </p:cNvPr>
          <p:cNvSpPr>
            <a:spLocks xmlns:a="http://schemas.openxmlformats.org/drawingml/2006/main" noGrp="1"/>
          </p:cNvSpPr>
          <p:nvPr/>
        </p:nvSpPr>
        <p:spPr>
          <a:xfrm xmlns:a="http://schemas.openxmlformats.org/drawingml/2006/main">
            <a:off x="1219200" y="3905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Physical conditions</a:t>
            </a:r>
          </a:p>
        </p:txBody>
      </p:sp>
      <p:sp>
        <p:nvSpPr>
          <p:cNvPr id="181" name="Boundary conditions, balance laws and admissible material states.">
            <a:extLst xmlns:a="http://schemas.openxmlformats.org/drawingml/2006/main">
              <a:ext uri="{FF2B5EF4-FFF2-40B4-BE49-F238E27FC236}">
                <a16:creationId xmlns:a16="http://schemas.microsoft.com/office/drawing/2014/main" id="{5282A35B-5E90-48E1-96EC-6A1767069EA2}"/>
              </a:ext>
            </a:extLst>
          </p:cNvPr>
          <p:cNvSpPr>
            <a:spLocks xmlns:a="http://schemas.openxmlformats.org/drawingml/2006/main" noGrp="1"/>
          </p:cNvSpPr>
          <p:nvPr/>
        </p:nvSpPr>
        <p:spPr>
          <a:xfrm xmlns:a="http://schemas.openxmlformats.org/drawingml/2006/main">
            <a:off x="8763000" y="3905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Boundary conditions, balance laws and admissible material states.</a:t>
            </a:r>
          </a:p>
        </p:txBody>
      </p:sp>
      <p:sp>
        <p:nvSpPr>
          <p:cNvPr id="182" name="Numerical accuracy">
            <a:extLst xmlns:a="http://schemas.openxmlformats.org/drawingml/2006/main">
              <a:ext uri="{FF2B5EF4-FFF2-40B4-BE49-F238E27FC236}">
                <a16:creationId xmlns:a16="http://schemas.microsoft.com/office/drawing/2014/main" id="{BD97AA86-1DA8-4FDA-AED3-3FA0110678CB}"/>
              </a:ext>
            </a:extLst>
          </p:cNvPr>
          <p:cNvSpPr>
            <a:spLocks xmlns:a="http://schemas.openxmlformats.org/drawingml/2006/main" noGrp="1"/>
          </p:cNvSpPr>
          <p:nvPr/>
        </p:nvSpPr>
        <p:spPr>
          <a:xfrm xmlns:a="http://schemas.openxmlformats.org/drawingml/2006/main">
            <a:off x="1219200" y="64293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Numerical accuracy</a:t>
            </a:r>
          </a:p>
        </p:txBody>
      </p:sp>
      <p:sp>
        <p:nvSpPr>
          <p:cNvPr id="183" name="Discretisation error, solver tolerance and the chosen observation.">
            <a:extLst xmlns:a="http://schemas.openxmlformats.org/drawingml/2006/main">
              <a:ext uri="{FF2B5EF4-FFF2-40B4-BE49-F238E27FC236}">
                <a16:creationId xmlns:a16="http://schemas.microsoft.com/office/drawing/2014/main" id="{6443257F-02FC-48C8-8BD1-51335E6AEA5B}"/>
              </a:ext>
            </a:extLst>
          </p:cNvPr>
          <p:cNvSpPr>
            <a:spLocks xmlns:a="http://schemas.openxmlformats.org/drawingml/2006/main" noGrp="1"/>
          </p:cNvSpPr>
          <p:nvPr/>
        </p:nvSpPr>
        <p:spPr>
          <a:xfrm xmlns:a="http://schemas.openxmlformats.org/drawingml/2006/main">
            <a:off x="8763000" y="642937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Discretisation error, solver tolerance and the chosen observation.</a:t>
            </a:r>
          </a:p>
        </p:txBody>
      </p:sp>
      <p:sp>
        <p:nvSpPr>
          <p:cNvPr id="184" name="Use beyond training">
            <a:extLst xmlns:a="http://schemas.openxmlformats.org/drawingml/2006/main">
              <a:ext uri="{FF2B5EF4-FFF2-40B4-BE49-F238E27FC236}">
                <a16:creationId xmlns:a16="http://schemas.microsoft.com/office/drawing/2014/main" id="{9859D331-2FAD-42C1-81B3-9B3AAEF9A883}"/>
              </a:ext>
            </a:extLst>
          </p:cNvPr>
          <p:cNvSpPr>
            <a:spLocks xmlns:a="http://schemas.openxmlformats.org/drawingml/2006/main" noGrp="1"/>
          </p:cNvSpPr>
          <p:nvPr/>
        </p:nvSpPr>
        <p:spPr>
          <a:xfrm xmlns:a="http://schemas.openxmlformats.org/drawingml/2006/main">
            <a:off x="1219200" y="89535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Use beyond training</a:t>
            </a:r>
          </a:p>
        </p:txBody>
      </p:sp>
      <p:sp>
        <p:nvSpPr>
          <p:cNvPr id="185" name="Unseen loads, geometries and material parameters require evaluation.">
            <a:extLst xmlns:a="http://schemas.openxmlformats.org/drawingml/2006/main">
              <a:ext uri="{FF2B5EF4-FFF2-40B4-BE49-F238E27FC236}">
                <a16:creationId xmlns:a16="http://schemas.microsoft.com/office/drawing/2014/main" id="{B92DE0B7-6B8F-4964-8BC6-774666D1A22A}"/>
              </a:ext>
            </a:extLst>
          </p:cNvPr>
          <p:cNvSpPr>
            <a:spLocks xmlns:a="http://schemas.openxmlformats.org/drawingml/2006/main" noGrp="1"/>
          </p:cNvSpPr>
          <p:nvPr/>
        </p:nvSpPr>
        <p:spPr>
          <a:xfrm xmlns:a="http://schemas.openxmlformats.org/drawingml/2006/main">
            <a:off x="8763000" y="89535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Unseen loads, geometries and material parameters require evaluation.</a:t>
            </a:r>
          </a:p>
        </p:txBody>
      </p:sp>
      <p:sp>
        <p:nvSpPr>
          <p:cNvPr id="186" name="CEMS-Lab · UKACM Autumn School 2026">
            <a:extLst xmlns:a="http://schemas.openxmlformats.org/drawingml/2006/main">
              <a:ext uri="{FF2B5EF4-FFF2-40B4-BE49-F238E27FC236}">
                <a16:creationId xmlns:a16="http://schemas.microsoft.com/office/drawing/2014/main" id="{B86D1933-C0EC-481B-A0D1-5D843B8E1A3C}"/>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187" name="03">
            <a:extLst xmlns:a="http://schemas.openxmlformats.org/drawingml/2006/main">
              <a:ext uri="{FF2B5EF4-FFF2-40B4-BE49-F238E27FC236}">
                <a16:creationId xmlns:a16="http://schemas.microsoft.com/office/drawing/2014/main" id="{BEA69CF5-112A-48EB-8304-C0E2741A9A01}"/>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19</a:t>
            </a:r>
          </a:p>
        </p:txBody>
      </p:sp>
      <p:sp>
        <p:nvSpPr>
          <p:cNvPr id="188" name="Assess prediction accuracy and physical consistency separately.">
            <a:extLst xmlns:a="http://schemas.openxmlformats.org/drawingml/2006/main">
              <a:ext uri="{FF2B5EF4-FFF2-40B4-BE49-F238E27FC236}">
                <a16:creationId xmlns:a16="http://schemas.microsoft.com/office/drawing/2014/main" id="{13E487E8-ED83-4EB7-B66C-7E6A8F99E965}"/>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Assess prediction accuracy and physical consistency separately.</a:t>
            </a:r>
          </a:p>
        </p:txBody>
      </p:sp>
    </p:spTree>
    <p:extLst>
      <p:ext uri="{BB962C8B-B14F-4D97-AF65-F5344CB8AC3E}">
        <p14:creationId xmlns:p14="http://schemas.microsoft.com/office/powerpoint/2010/main" val="287289988"/>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3" name="General theme of the talk: Bridging numerical methods + Neural networks">
            <a:extLst xmlns:a="http://schemas.openxmlformats.org/drawingml/2006/main">
              <a:ext uri="{FF2B5EF4-FFF2-40B4-BE49-F238E27FC236}">
                <a16:creationId xmlns:a16="http://schemas.microsoft.com/office/drawing/2014/main" id="{D5FDB926-FF19-4ECD-87C0-C73FFFD82150}"/>
              </a:ext>
            </a:extLst>
          </p:cNvPr>
          <p:cNvSpPr>
            <a:spLocks xmlns:a="http://schemas.openxmlformats.org/drawingml/2006/main" noGrp="1"/>
          </p:cNvSpPr>
          <p:nvPr>
            <p:ph type="title" idx="0"/>
          </p:nvPr>
        </p:nvSpPr>
        <p:spPr>
          <a:xfrm xmlns:a="http://schemas.openxmlformats.org/drawingml/2006/main">
            <a:off x="1219200" y="952500"/>
            <a:ext cx="21945600" cy="2095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lvl="1" indent="265175" algn="l" defTabSz="1414236">
              <a:buNone/>
              <a:defRPr sz="6600" b="1" spc="-98">
                <a:solidFill>
                  <a:srgbClr val="B91862"/>
                </a:solidFill>
                <a:latin typeface="Arial"/>
                <a:ea typeface="Helvetica Neue"/>
                <a:cs typeface="Helvetica Neue"/>
              </a:defRPr>
            </a:pPr>
            <a:r>
              <a:rPr sz="6600" b="1" spc="-98">
                <a:solidFill>
                  <a:srgbClr val="245A81"/>
                </a:solidFill>
                <a:latin typeface="Arial"/>
                <a:ea typeface="Helvetica Neue"/>
                <a:cs typeface="Helvetica Neue"/>
              </a:rPr>
              <a:t>Coupling a network and a solver</a:t>
            </a:r>
          </a:p>
        </p:txBody>
      </p:sp>
      <p:sp>
        <p:nvSpPr>
          <p:cNvPr id="184" name="Prediction with a learned component">
            <a:extLst xmlns:a="http://schemas.openxmlformats.org/drawingml/2006/main">
              <a:ext uri="{FF2B5EF4-FFF2-40B4-BE49-F238E27FC236}">
                <a16:creationId xmlns:a16="http://schemas.microsoft.com/office/drawing/2014/main" id="{CB56CC38-6C60-4A30-90DB-0BE1C828AD8B}"/>
              </a:ext>
            </a:extLst>
          </p:cNvPr>
          <p:cNvSpPr>
            <a:spLocks xmlns:a="http://schemas.openxmlformats.org/drawingml/2006/main" noGrp="1"/>
          </p:cNvSpPr>
          <p:nvPr/>
        </p:nvSpPr>
        <p:spPr>
          <a:xfrm xmlns:a="http://schemas.openxmlformats.org/drawingml/2006/main">
            <a:off x="1219200" y="3619500"/>
            <a:ext cx="2152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7191C"/>
                </a:solidFill>
                <a:latin typeface="Arial"/>
                <a:ea typeface="Helvetica Neue"/>
                <a:cs typeface="Helvetica Neue"/>
              </a:defRPr>
            </a:pPr>
            <a:r>
              <a:rPr sz="3975" b="1">
                <a:solidFill>
                  <a:srgbClr val="17191C"/>
                </a:solidFill>
                <a:latin typeface="Arial"/>
                <a:ea typeface="Helvetica Neue"/>
                <a:cs typeface="Helvetica Neue"/>
              </a:rPr>
              <a:t>Prediction with a learned component</a:t>
            </a:r>
          </a:p>
        </p:txBody>
      </p:sp>
      <p:sp>
        <p:nvSpPr>
          <p:cNvPr id="185" name="Physical state">
            <a:extLst xmlns:a="http://schemas.openxmlformats.org/drawingml/2006/main">
              <a:ext uri="{FF2B5EF4-FFF2-40B4-BE49-F238E27FC236}">
                <a16:creationId xmlns:a16="http://schemas.microsoft.com/office/drawing/2014/main" id="{B97A18C2-10EF-42D6-A8DD-A780F455DEC5}"/>
              </a:ext>
            </a:extLst>
          </p:cNvPr>
          <p:cNvSpPr>
            <a:spLocks xmlns:a="http://schemas.openxmlformats.org/drawingml/2006/main" noGrp="1"/>
          </p:cNvSpPr>
          <p:nvPr/>
        </p:nvSpPr>
        <p:spPr>
          <a:xfrm xmlns:a="http://schemas.openxmlformats.org/drawingml/2006/main">
            <a:off x="1219200" y="4857750"/>
            <a:ext cx="4572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Physical state</a:t>
            </a:r>
          </a:p>
        </p:txBody>
      </p:sp>
      <p:sp>
        <p:nvSpPr>
          <p:cNvPr id="186" name="Learned proposal">
            <a:extLst xmlns:a="http://schemas.openxmlformats.org/drawingml/2006/main">
              <a:ext uri="{FF2B5EF4-FFF2-40B4-BE49-F238E27FC236}">
                <a16:creationId xmlns:a16="http://schemas.microsoft.com/office/drawing/2014/main" id="{AB9F39F0-7BC9-47B8-B88D-3A212ECCBA3F}"/>
              </a:ext>
            </a:extLst>
          </p:cNvPr>
          <p:cNvSpPr>
            <a:spLocks xmlns:a="http://schemas.openxmlformats.org/drawingml/2006/main" noGrp="1"/>
          </p:cNvSpPr>
          <p:nvPr/>
        </p:nvSpPr>
        <p:spPr>
          <a:xfrm xmlns:a="http://schemas.openxmlformats.org/drawingml/2006/main">
            <a:off x="8172450" y="4857750"/>
            <a:ext cx="4572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Learned proposal</a:t>
            </a:r>
          </a:p>
        </p:txBody>
      </p:sp>
      <p:sp>
        <p:nvSpPr>
          <p:cNvPr id="187" name="Solver + checks">
            <a:extLst xmlns:a="http://schemas.openxmlformats.org/drawingml/2006/main">
              <a:ext uri="{FF2B5EF4-FFF2-40B4-BE49-F238E27FC236}">
                <a16:creationId xmlns:a16="http://schemas.microsoft.com/office/drawing/2014/main" id="{1B506D30-3943-49F9-B67A-E5AC9CAC5EDB}"/>
              </a:ext>
            </a:extLst>
          </p:cNvPr>
          <p:cNvSpPr>
            <a:spLocks xmlns:a="http://schemas.openxmlformats.org/drawingml/2006/main" noGrp="1"/>
          </p:cNvSpPr>
          <p:nvPr/>
        </p:nvSpPr>
        <p:spPr>
          <a:xfrm xmlns:a="http://schemas.openxmlformats.org/drawingml/2006/main">
            <a:off x="15125700" y="4857750"/>
            <a:ext cx="67627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Solver + checks</a:t>
            </a:r>
          </a:p>
        </p:txBody>
      </p:sp>
      <p:cxnSp>
        <p:nvCxnSpPr>
          <p:cNvPr id="205" name=""/>
          <p:cNvCxnSpPr>
            <a:stCxn xmlns:a="http://schemas.openxmlformats.org/drawingml/2006/main" id="185" idx="3"/>
            <a:endCxn xmlns:a="http://schemas.openxmlformats.org/drawingml/2006/main" id="186" idx="1"/>
          </p:cNvCxnSpPr>
          <p:nvPr/>
        </p:nvCxnSpPr>
        <p:spPr>
          <a:xfrm xmlns:a="http://schemas.openxmlformats.org/drawingml/2006/main">
            <a:off x="5791200" y="5457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06" name=""/>
          <p:cNvCxnSpPr>
            <a:stCxn xmlns:a="http://schemas.openxmlformats.org/drawingml/2006/main" id="186" idx="3"/>
            <a:endCxn xmlns:a="http://schemas.openxmlformats.org/drawingml/2006/main" id="187" idx="1"/>
          </p:cNvCxnSpPr>
          <p:nvPr/>
        </p:nvCxnSpPr>
        <p:spPr>
          <a:xfrm xmlns:a="http://schemas.openxmlformats.org/drawingml/2006/main">
            <a:off x="12744450" y="5457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90" name="Training through the numerical response">
            <a:extLst xmlns:a="http://schemas.openxmlformats.org/drawingml/2006/main">
              <a:ext uri="{FF2B5EF4-FFF2-40B4-BE49-F238E27FC236}">
                <a16:creationId xmlns:a16="http://schemas.microsoft.com/office/drawing/2014/main" id="{4283A8E1-5DF0-4A87-876D-03B830F66ADE}"/>
              </a:ext>
            </a:extLst>
          </p:cNvPr>
          <p:cNvSpPr>
            <a:spLocks xmlns:a="http://schemas.openxmlformats.org/drawingml/2006/main" noGrp="1"/>
          </p:cNvSpPr>
          <p:nvPr/>
        </p:nvSpPr>
        <p:spPr>
          <a:xfrm xmlns:a="http://schemas.openxmlformats.org/drawingml/2006/main">
            <a:off x="1219200" y="7810500"/>
            <a:ext cx="2152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7191C"/>
                </a:solidFill>
                <a:latin typeface="Arial"/>
                <a:ea typeface="Helvetica Neue"/>
                <a:cs typeface="Helvetica Neue"/>
              </a:defRPr>
            </a:pPr>
            <a:r>
              <a:rPr sz="3975" b="1">
                <a:solidFill>
                  <a:srgbClr val="17191C"/>
                </a:solidFill>
                <a:latin typeface="Arial"/>
                <a:ea typeface="Helvetica Neue"/>
                <a:cs typeface="Helvetica Neue"/>
              </a:rPr>
              <a:t>Training through the numerical response</a:t>
            </a:r>
          </a:p>
        </p:txBody>
      </p:sp>
      <p:sp>
        <p:nvSpPr>
          <p:cNvPr id="191" name="Model weights">
            <a:extLst xmlns:a="http://schemas.openxmlformats.org/drawingml/2006/main">
              <a:ext uri="{FF2B5EF4-FFF2-40B4-BE49-F238E27FC236}">
                <a16:creationId xmlns:a16="http://schemas.microsoft.com/office/drawing/2014/main" id="{758E6650-C2E8-490D-8A33-8A7F23FDF43F}"/>
              </a:ext>
            </a:extLst>
          </p:cNvPr>
          <p:cNvSpPr>
            <a:spLocks xmlns:a="http://schemas.openxmlformats.org/drawingml/2006/main" noGrp="1"/>
          </p:cNvSpPr>
          <p:nvPr/>
        </p:nvSpPr>
        <p:spPr>
          <a:xfrm xmlns:a="http://schemas.openxmlformats.org/drawingml/2006/main">
            <a:off x="1219200" y="9048750"/>
            <a:ext cx="4572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Model weights</a:t>
            </a:r>
          </a:p>
        </p:txBody>
      </p:sp>
      <p:sp>
        <p:nvSpPr>
          <p:cNvPr id="192" name="Differentiable solve">
            <a:extLst xmlns:a="http://schemas.openxmlformats.org/drawingml/2006/main">
              <a:ext uri="{FF2B5EF4-FFF2-40B4-BE49-F238E27FC236}">
                <a16:creationId xmlns:a16="http://schemas.microsoft.com/office/drawing/2014/main" id="{60A3725D-B41F-4EB6-8BEF-D6BE091CFDF4}"/>
              </a:ext>
            </a:extLst>
          </p:cNvPr>
          <p:cNvSpPr>
            <a:spLocks xmlns:a="http://schemas.openxmlformats.org/drawingml/2006/main" noGrp="1"/>
          </p:cNvSpPr>
          <p:nvPr/>
        </p:nvSpPr>
        <p:spPr>
          <a:xfrm xmlns:a="http://schemas.openxmlformats.org/drawingml/2006/main">
            <a:off x="8172450" y="9048750"/>
            <a:ext cx="5715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Differentiable solve</a:t>
            </a:r>
          </a:p>
        </p:txBody>
      </p:sp>
      <p:sp>
        <p:nvSpPr>
          <p:cNvPr id="193" name="Observation loss">
            <a:extLst xmlns:a="http://schemas.openxmlformats.org/drawingml/2006/main">
              <a:ext uri="{FF2B5EF4-FFF2-40B4-BE49-F238E27FC236}">
                <a16:creationId xmlns:a16="http://schemas.microsoft.com/office/drawing/2014/main" id="{8CA04691-BF67-4F32-B608-73ACB2A9A6E1}"/>
              </a:ext>
            </a:extLst>
          </p:cNvPr>
          <p:cNvSpPr>
            <a:spLocks xmlns:a="http://schemas.openxmlformats.org/drawingml/2006/main" noGrp="1"/>
          </p:cNvSpPr>
          <p:nvPr/>
        </p:nvSpPr>
        <p:spPr>
          <a:xfrm xmlns:a="http://schemas.openxmlformats.org/drawingml/2006/main">
            <a:off x="16268700" y="9048750"/>
            <a:ext cx="56197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Observation loss</a:t>
            </a:r>
          </a:p>
        </p:txBody>
      </p:sp>
      <p:cxnSp>
        <p:nvCxnSpPr>
          <p:cNvPr id="211" name=""/>
          <p:cNvCxnSpPr>
            <a:stCxn xmlns:a="http://schemas.openxmlformats.org/drawingml/2006/main" id="191" idx="3"/>
            <a:endCxn xmlns:a="http://schemas.openxmlformats.org/drawingml/2006/main" id="192" idx="1"/>
          </p:cNvCxnSpPr>
          <p:nvPr/>
        </p:nvCxnSpPr>
        <p:spPr>
          <a:xfrm xmlns:a="http://schemas.openxmlformats.org/drawingml/2006/main">
            <a:off x="5791200" y="9648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12" name=""/>
          <p:cNvCxnSpPr>
            <a:stCxn xmlns:a="http://schemas.openxmlformats.org/drawingml/2006/main" id="192" idx="3"/>
            <a:endCxn xmlns:a="http://schemas.openxmlformats.org/drawingml/2006/main" id="193" idx="1"/>
          </p:cNvCxnSpPr>
          <p:nvPr/>
        </p:nvCxnSpPr>
        <p:spPr>
          <a:xfrm xmlns:a="http://schemas.openxmlformats.org/drawingml/2006/main">
            <a:off x="13887450" y="9648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96" name="Backward sensitivity: loss → solve → model weights">
            <a:extLst xmlns:a="http://schemas.openxmlformats.org/drawingml/2006/main">
              <a:ext uri="{FF2B5EF4-FFF2-40B4-BE49-F238E27FC236}">
                <a16:creationId xmlns:a16="http://schemas.microsoft.com/office/drawing/2014/main" id="{2B9E07E7-45F5-4B67-BE60-4A014C990657}"/>
              </a:ext>
            </a:extLst>
          </p:cNvPr>
          <p:cNvSpPr>
            <a:spLocks xmlns:a="http://schemas.openxmlformats.org/drawingml/2006/main" noGrp="1"/>
          </p:cNvSpPr>
          <p:nvPr/>
        </p:nvSpPr>
        <p:spPr>
          <a:xfrm xmlns:a="http://schemas.openxmlformats.org/drawingml/2006/main">
            <a:off x="1219200" y="10763250"/>
            <a:ext cx="2152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B85C20"/>
                </a:solidFill>
                <a:latin typeface="Arial"/>
                <a:ea typeface="Helvetica Neue"/>
                <a:cs typeface="Helvetica Neue"/>
              </a:defRPr>
            </a:pPr>
            <a:r>
              <a:rPr sz="3300" b="0">
                <a:solidFill>
                  <a:srgbClr val="B85C20"/>
                </a:solidFill>
                <a:latin typeface="Arial"/>
                <a:ea typeface="Helvetica Neue"/>
                <a:cs typeface="Helvetica Neue"/>
              </a:rPr>
              <a:t>Backward sensitivity: loss → solve → model weights</a:t>
            </a:r>
          </a:p>
        </p:txBody>
      </p:sp>
      <p:sp>
        <p:nvSpPr>
          <p:cNvPr id="197" name="CEMS-Lab · UKACM Autumn School 2026">
            <a:extLst xmlns:a="http://schemas.openxmlformats.org/drawingml/2006/main">
              <a:ext uri="{FF2B5EF4-FFF2-40B4-BE49-F238E27FC236}">
                <a16:creationId xmlns:a16="http://schemas.microsoft.com/office/drawing/2014/main" id="{DBFDCA31-BCE9-4ECF-B142-E593FFDA3EE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198" name="04">
            <a:extLst xmlns:a="http://schemas.openxmlformats.org/drawingml/2006/main">
              <a:ext uri="{FF2B5EF4-FFF2-40B4-BE49-F238E27FC236}">
                <a16:creationId xmlns:a16="http://schemas.microsoft.com/office/drawing/2014/main" id="{E2A4240E-3CAF-4FAD-8940-3500BC64282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20</a:t>
            </a:r>
          </a:p>
        </p:txBody>
      </p:sp>
      <p:sp>
        <p:nvSpPr>
          <p:cNvPr id="199" name="Blue: forward evaluation. Orange: backward sensitivity. Each interface">
            <a:extLst xmlns:a="http://schemas.openxmlformats.org/drawingml/2006/main">
              <a:ext uri="{FF2B5EF4-FFF2-40B4-BE49-F238E27FC236}">
                <a16:creationId xmlns:a16="http://schemas.microsoft.com/office/drawing/2014/main" id="{2CB228F9-0261-41FA-A895-E1A6A9D99582}"/>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Blue: forward evaluation. Orange: backward sensitivity. Each interface has a contract.</a:t>
            </a:r>
          </a:p>
        </p:txBody>
      </p:sp>
    </p:spTree>
    <p:extLst>
      <p:ext uri="{BB962C8B-B14F-4D97-AF65-F5344CB8AC3E}">
        <p14:creationId xmlns:p14="http://schemas.microsoft.com/office/powerpoint/2010/main" val="6411964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he six-hour learning sequence">
            <a:extLst xmlns:a="http://schemas.openxmlformats.org/drawingml/2006/main">
              <a:ext uri="{FF2B5EF4-FFF2-40B4-BE49-F238E27FC236}">
                <a16:creationId xmlns:a16="http://schemas.microsoft.com/office/drawing/2014/main" id="{811D139B-EA3D-4444-9A93-5D0905094A43}"/>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The six-hour learning sequence</a:t>
            </a:r>
          </a:p>
        </p:txBody>
      </p:sp>
      <p:sp>
        <p:nvSpPr>
          <p:cNvPr id="2" name="CEMS-Lab · UKACM Autumn School 2026">
            <a:extLst xmlns:a="http://schemas.openxmlformats.org/drawingml/2006/main">
              <a:ext uri="{FF2B5EF4-FFF2-40B4-BE49-F238E27FC236}">
                <a16:creationId xmlns:a16="http://schemas.microsoft.com/office/drawing/2014/main" id="{3E2C5DCA-2F66-4BD1-9AD8-09B332988C85}"/>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05">
            <a:extLst xmlns:a="http://schemas.openxmlformats.org/drawingml/2006/main">
              <a:ext uri="{FF2B5EF4-FFF2-40B4-BE49-F238E27FC236}">
                <a16:creationId xmlns:a16="http://schemas.microsoft.com/office/drawing/2014/main" id="{6BA5C344-9902-4E95-8C3A-52B3C015438D}"/>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02</a:t>
            </a:r>
          </a:p>
        </p:txBody>
      </p:sp>
      <p:sp>
        <p:nvSpPr>
          <p:cNvPr id="4" name="Lecture questions">
            <a:extLst xmlns:a="http://schemas.openxmlformats.org/drawingml/2006/main">
              <a:ext uri="{FF2B5EF4-FFF2-40B4-BE49-F238E27FC236}">
                <a16:creationId xmlns:a16="http://schemas.microsoft.com/office/drawing/2014/main" id="{B9607916-FD1D-4FE2-88DB-4D98A70CF875}"/>
              </a:ext>
            </a:extLst>
          </p:cNvPr>
          <p:cNvSpPr>
            <a:spLocks xmlns:a="http://schemas.openxmlformats.org/drawingml/2006/main" noGrp="1"/>
          </p:cNvSpPr>
          <p:nvPr/>
        </p:nvSpPr>
        <p:spPr>
          <a:xfrm xmlns:a="http://schemas.openxmlformats.org/drawingml/2006/main">
            <a:off x="1219200" y="3333750"/>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245A81"/>
                </a:solidFill>
                <a:latin typeface="Arial"/>
                <a:ea typeface="Helvetica Neue"/>
                <a:cs typeface="Helvetica Neue"/>
              </a:defRPr>
            </a:pPr>
            <a:r>
              <a:rPr sz="4200" b="1">
                <a:solidFill>
                  <a:srgbClr val="245A81"/>
                </a:solidFill>
                <a:latin typeface="Arial"/>
                <a:ea typeface="Helvetica Neue"/>
                <a:cs typeface="Helvetica Neue"/>
              </a:rPr>
              <a:t>Lecture questions</a:t>
            </a:r>
          </a:p>
        </p:txBody>
      </p:sp>
      <p:sp>
        <p:nvSpPr>
          <p:cNvPr id="5" name="Practical evidence">
            <a:extLst xmlns:a="http://schemas.openxmlformats.org/drawingml/2006/main">
              <a:ext uri="{FF2B5EF4-FFF2-40B4-BE49-F238E27FC236}">
                <a16:creationId xmlns:a16="http://schemas.microsoft.com/office/drawing/2014/main" id="{7F4FEC97-A939-464E-85F0-262A8FBE7B80}"/>
              </a:ext>
            </a:extLst>
          </p:cNvPr>
          <p:cNvSpPr>
            <a:spLocks xmlns:a="http://schemas.openxmlformats.org/drawingml/2006/main" noGrp="1"/>
          </p:cNvSpPr>
          <p:nvPr/>
        </p:nvSpPr>
        <p:spPr>
          <a:xfrm xmlns:a="http://schemas.openxmlformats.org/drawingml/2006/main">
            <a:off x="11430000" y="33337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B85C20"/>
                </a:solidFill>
                <a:latin typeface="Arial"/>
                <a:ea typeface="Helvetica Neue"/>
                <a:cs typeface="Helvetica Neue"/>
              </a:defRPr>
            </a:pPr>
            <a:r>
              <a:rPr sz="4200" b="1">
                <a:solidFill>
                  <a:srgbClr val="B85C20"/>
                </a:solidFill>
                <a:latin typeface="Arial"/>
                <a:ea typeface="Helvetica Neue"/>
                <a:cs typeface="Helvetica Neue"/>
              </a:rPr>
              <a:t>Practical evidence</a:t>
            </a:r>
          </a:p>
        </p:txBody>
      </p:sp>
      <p:sp>
        <p:nvSpPr>
          <p:cNvPr id="6" name="1. Fracture and numerical solution">
            <a:extLst xmlns:a="http://schemas.openxmlformats.org/drawingml/2006/main">
              <a:ext uri="{FF2B5EF4-FFF2-40B4-BE49-F238E27FC236}">
                <a16:creationId xmlns:a16="http://schemas.microsoft.com/office/drawing/2014/main" id="{4BDACED3-FB33-46B5-AD90-509A2BE2BFAB}"/>
              </a:ext>
            </a:extLst>
          </p:cNvPr>
          <p:cNvSpPr>
            <a:spLocks xmlns:a="http://schemas.openxmlformats.org/drawingml/2006/main" noGrp="1"/>
          </p:cNvSpPr>
          <p:nvPr/>
        </p:nvSpPr>
        <p:spPr>
          <a:xfrm xmlns:a="http://schemas.openxmlformats.org/drawingml/2006/main">
            <a:off x="1219200" y="5000625"/>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Arial"/>
                <a:ea typeface="Helvetica Neue"/>
                <a:cs typeface="Helvetica Neue"/>
              </a:defRPr>
            </a:pPr>
            <a:r>
              <a:rPr sz="3750" b="0">
                <a:solidFill>
                  <a:srgbClr val="17191C"/>
                </a:solidFill>
                <a:latin typeface="Arial"/>
                <a:ea typeface="Helvetica Neue"/>
                <a:cs typeface="Helvetica Neue"/>
              </a:rPr>
              <a:t>1. Fracture and numerical solution</a:t>
            </a:r>
          </a:p>
        </p:txBody>
      </p:sp>
      <p:sp>
        <p:nvSpPr>
          <p:cNvPr id="7" name="1. A small PhAST forward calculation">
            <a:extLst xmlns:a="http://schemas.openxmlformats.org/drawingml/2006/main">
              <a:ext uri="{FF2B5EF4-FFF2-40B4-BE49-F238E27FC236}">
                <a16:creationId xmlns:a16="http://schemas.microsoft.com/office/drawing/2014/main" id="{2FE769BA-4AE4-4065-8AF5-A9A5167310C3}"/>
              </a:ext>
            </a:extLst>
          </p:cNvPr>
          <p:cNvSpPr>
            <a:spLocks xmlns:a="http://schemas.openxmlformats.org/drawingml/2006/main" noGrp="1"/>
          </p:cNvSpPr>
          <p:nvPr/>
        </p:nvSpPr>
        <p:spPr>
          <a:xfrm xmlns:a="http://schemas.openxmlformats.org/drawingml/2006/main">
            <a:off x="11430000" y="5000625"/>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Arial"/>
                <a:ea typeface="Helvetica Neue"/>
                <a:cs typeface="Helvetica Neue"/>
              </a:defRPr>
            </a:pPr>
            <a:r>
              <a:rPr sz="3750" b="0">
                <a:solidFill>
                  <a:srgbClr val="17191C"/>
                </a:solidFill>
                <a:latin typeface="Arial"/>
                <a:ea typeface="Helvetica Neue"/>
                <a:cs typeface="Helvetica Neue"/>
              </a:rPr>
              <a:t>1. A small PhAST forward calculation</a:t>
            </a:r>
          </a:p>
        </p:txBody>
      </p:sp>
      <p:sp>
        <p:nvSpPr>
          <p:cNvPr id="8" name="2. Differentiation through a solve">
            <a:extLst xmlns:a="http://schemas.openxmlformats.org/drawingml/2006/main">
              <a:ext uri="{FF2B5EF4-FFF2-40B4-BE49-F238E27FC236}">
                <a16:creationId xmlns:a16="http://schemas.microsoft.com/office/drawing/2014/main" id="{20974B51-7B32-4536-A38C-4D7C2CF39F34}"/>
              </a:ext>
            </a:extLst>
          </p:cNvPr>
          <p:cNvSpPr>
            <a:spLocks xmlns:a="http://schemas.openxmlformats.org/drawingml/2006/main" noGrp="1"/>
          </p:cNvSpPr>
          <p:nvPr/>
        </p:nvSpPr>
        <p:spPr>
          <a:xfrm xmlns:a="http://schemas.openxmlformats.org/drawingml/2006/main">
            <a:off x="1219200" y="7286625"/>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Arial"/>
                <a:ea typeface="Helvetica Neue"/>
                <a:cs typeface="Helvetica Neue"/>
              </a:defRPr>
            </a:pPr>
            <a:r>
              <a:rPr sz="3750" b="0">
                <a:solidFill>
                  <a:srgbClr val="17191C"/>
                </a:solidFill>
                <a:latin typeface="Arial"/>
                <a:ea typeface="Helvetica Neue"/>
                <a:cs typeface="Helvetica Neue"/>
              </a:rPr>
              <a:t>2. Differentiation through a solve</a:t>
            </a:r>
          </a:p>
        </p:txBody>
      </p:sp>
      <p:sp>
        <p:nvSpPr>
          <p:cNvPr id="9" name="2. A checked sensitivity and recovery">
            <a:extLst xmlns:a="http://schemas.openxmlformats.org/drawingml/2006/main">
              <a:ext uri="{FF2B5EF4-FFF2-40B4-BE49-F238E27FC236}">
                <a16:creationId xmlns:a16="http://schemas.microsoft.com/office/drawing/2014/main" id="{CBBFF8D5-E6DE-441A-9488-2AABE4882D12}"/>
              </a:ext>
            </a:extLst>
          </p:cNvPr>
          <p:cNvSpPr>
            <a:spLocks xmlns:a="http://schemas.openxmlformats.org/drawingml/2006/main" noGrp="1"/>
          </p:cNvSpPr>
          <p:nvPr/>
        </p:nvSpPr>
        <p:spPr>
          <a:xfrm xmlns:a="http://schemas.openxmlformats.org/drawingml/2006/main">
            <a:off x="11430000" y="7286625"/>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Arial"/>
                <a:ea typeface="Helvetica Neue"/>
                <a:cs typeface="Helvetica Neue"/>
              </a:defRPr>
            </a:pPr>
            <a:r>
              <a:rPr sz="3750" b="0">
                <a:solidFill>
                  <a:srgbClr val="17191C"/>
                </a:solidFill>
                <a:latin typeface="Arial"/>
                <a:ea typeface="Helvetica Neue"/>
                <a:cs typeface="Helvetica Neue"/>
              </a:rPr>
              <a:t>2. A checked sensitivity and recovery</a:t>
            </a:r>
          </a:p>
        </p:txBody>
      </p:sp>
      <p:sp>
        <p:nvSpPr>
          <p:cNvPr id="10" name="3. Learning inside numerical methods">
            <a:extLst xmlns:a="http://schemas.openxmlformats.org/drawingml/2006/main">
              <a:ext uri="{FF2B5EF4-FFF2-40B4-BE49-F238E27FC236}">
                <a16:creationId xmlns:a16="http://schemas.microsoft.com/office/drawing/2014/main" id="{4CC7CCF9-375C-4D1D-8F77-B38D23BF08EC}"/>
              </a:ext>
            </a:extLst>
          </p:cNvPr>
          <p:cNvSpPr>
            <a:spLocks xmlns:a="http://schemas.openxmlformats.org/drawingml/2006/main" noGrp="1"/>
          </p:cNvSpPr>
          <p:nvPr/>
        </p:nvSpPr>
        <p:spPr>
          <a:xfrm xmlns:a="http://schemas.openxmlformats.org/drawingml/2006/main">
            <a:off x="1219200" y="9572625"/>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Arial"/>
                <a:ea typeface="Helvetica Neue"/>
                <a:cs typeface="Helvetica Neue"/>
              </a:defRPr>
            </a:pPr>
            <a:r>
              <a:rPr sz="3750" b="0">
                <a:solidFill>
                  <a:srgbClr val="17191C"/>
                </a:solidFill>
                <a:latin typeface="Arial"/>
                <a:ea typeface="Helvetica Neue"/>
                <a:cs typeface="Helvetica Neue"/>
              </a:rPr>
              <a:t>3. Learning inside numerical methods</a:t>
            </a:r>
          </a:p>
        </p:txBody>
      </p:sp>
      <p:sp>
        <p:nvSpPr>
          <p:cNvPr id="11" name="3. Train, reload and assess a proposal">
            <a:extLst xmlns:a="http://schemas.openxmlformats.org/drawingml/2006/main">
              <a:ext uri="{FF2B5EF4-FFF2-40B4-BE49-F238E27FC236}">
                <a16:creationId xmlns:a16="http://schemas.microsoft.com/office/drawing/2014/main" id="{8E28807B-20C6-459E-A9E7-27646474F561}"/>
              </a:ext>
            </a:extLst>
          </p:cNvPr>
          <p:cNvSpPr>
            <a:spLocks xmlns:a="http://schemas.openxmlformats.org/drawingml/2006/main" noGrp="1"/>
          </p:cNvSpPr>
          <p:nvPr/>
        </p:nvSpPr>
        <p:spPr>
          <a:xfrm xmlns:a="http://schemas.openxmlformats.org/drawingml/2006/main">
            <a:off x="11430000" y="9572625"/>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Arial"/>
                <a:ea typeface="Helvetica Neue"/>
                <a:cs typeface="Helvetica Neue"/>
              </a:defRPr>
            </a:pPr>
            <a:r>
              <a:rPr sz="3750" b="0">
                <a:solidFill>
                  <a:srgbClr val="17191C"/>
                </a:solidFill>
                <a:latin typeface="Arial"/>
                <a:ea typeface="Helvetica Neue"/>
                <a:cs typeface="Helvetica Neue"/>
              </a:rPr>
              <a:t>3. Train, reload and assess a proposal</a:t>
            </a:r>
          </a:p>
        </p:txBody>
      </p:sp>
      <p:sp>
        <p:nvSpPr>
          <p:cNvPr id="12" name="Three lecture hours, followed by three practical hours.">
            <a:extLst xmlns:a="http://schemas.openxmlformats.org/drawingml/2006/main">
              <a:ext uri="{FF2B5EF4-FFF2-40B4-BE49-F238E27FC236}">
                <a16:creationId xmlns:a16="http://schemas.microsoft.com/office/drawing/2014/main" id="{DD098D3F-05EF-4772-A588-010CDDC14E45}"/>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Three lecture hours, followed by three practical hours.</a:t>
            </a:r>
          </a:p>
        </p:txBody>
      </p:sp>
    </p:spTree>
    <p:extLst>
      <p:ext uri="{BB962C8B-B14F-4D97-AF65-F5344CB8AC3E}">
        <p14:creationId xmlns:p14="http://schemas.microsoft.com/office/powerpoint/2010/main" val="10869350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 crack represented by a damage field">
            <a:extLst xmlns:a="http://schemas.openxmlformats.org/drawingml/2006/main">
              <a:ext uri="{FF2B5EF4-FFF2-40B4-BE49-F238E27FC236}">
                <a16:creationId xmlns:a16="http://schemas.microsoft.com/office/drawing/2014/main" id="{4FB4B202-E100-46A5-83D2-053A55A8186F}"/>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A crack represented by a damage field</a:t>
            </a:r>
          </a:p>
        </p:txBody>
      </p:sp>
      <p:sp>
        <p:nvSpPr>
          <p:cNvPr id="2" name="CEMS-Lab · UKACM Autumn School 2026">
            <a:extLst xmlns:a="http://schemas.openxmlformats.org/drawingml/2006/main">
              <a:ext uri="{FF2B5EF4-FFF2-40B4-BE49-F238E27FC236}">
                <a16:creationId xmlns:a16="http://schemas.microsoft.com/office/drawing/2014/main" id="{D1CBEBD2-8FAB-4EBD-B6D4-92BC3D24B861}"/>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06">
            <a:extLst xmlns:a="http://schemas.openxmlformats.org/drawingml/2006/main">
              <a:ext uri="{FF2B5EF4-FFF2-40B4-BE49-F238E27FC236}">
                <a16:creationId xmlns:a16="http://schemas.microsoft.com/office/drawing/2014/main" id="{13859B04-E0F8-4BB7-9481-F4D0F41EABA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03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3c7743d5a94af4"/>
          <a:stretch xmlns:a="http://schemas.openxmlformats.org/drawingml/2006/main"/>
        </p:blipFill>
        <p:spPr>
          <a:xfrm xmlns:a="http://schemas.openxmlformats.org/drawingml/2006/main">
            <a:off x="1955930" y="3190875"/>
            <a:ext cx="15100041" cy="11430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a03e6aaf414bcb"/>
          <a:stretch xmlns:a="http://schemas.openxmlformats.org/drawingml/2006/main"/>
        </p:blipFill>
        <p:spPr>
          <a:xfrm xmlns:a="http://schemas.openxmlformats.org/drawingml/2006/main">
            <a:off x="1707976" y="4953000"/>
            <a:ext cx="20548947" cy="176212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8b339d5842a460e"/>
          <a:stretch xmlns:a="http://schemas.openxmlformats.org/drawingml/2006/main"/>
        </p:blipFill>
        <p:spPr>
          <a:xfrm xmlns:a="http://schemas.openxmlformats.org/drawingml/2006/main">
            <a:off x="4155922" y="7572375"/>
            <a:ext cx="11081055" cy="1762125"/>
          </a:xfrm>
          <a:prstGeom xmlns:a="http://schemas.openxmlformats.org/drawingml/2006/main" prst="rect">
            <a:avLst/>
          </a:prstGeom>
        </p:spPr>
      </p:pic>
      <p:sp>
        <p:nvSpPr>
          <p:cNvPr id="7" name="Stored elastic energy">
            <a:extLst xmlns:a="http://schemas.openxmlformats.org/drawingml/2006/main">
              <a:ext uri="{FF2B5EF4-FFF2-40B4-BE49-F238E27FC236}">
                <a16:creationId xmlns:a16="http://schemas.microsoft.com/office/drawing/2014/main" id="{F6632530-D116-40F0-9F37-1E417CE30E3A}"/>
              </a:ext>
            </a:extLst>
          </p:cNvPr>
          <p:cNvSpPr>
            <a:spLocks xmlns:a="http://schemas.openxmlformats.org/drawingml/2006/main" noGrp="1"/>
          </p:cNvSpPr>
          <p:nvPr/>
        </p:nvSpPr>
        <p:spPr>
          <a:xfrm xmlns:a="http://schemas.openxmlformats.org/drawingml/2006/main">
            <a:off x="1219200" y="1038225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245A81"/>
                </a:solidFill>
                <a:latin typeface="Arial"/>
                <a:ea typeface="Helvetica Neue"/>
                <a:cs typeface="Helvetica Neue"/>
              </a:defRPr>
            </a:pPr>
            <a:r>
              <a:rPr sz="3525" b="0">
                <a:solidFill>
                  <a:srgbClr val="245A81"/>
                </a:solidFill>
                <a:latin typeface="Arial"/>
                <a:ea typeface="Helvetica Neue"/>
                <a:cs typeface="Helvetica Neue"/>
              </a:rPr>
              <a:t>Stored elastic energy</a:t>
            </a:r>
          </a:p>
        </p:txBody>
      </p:sp>
      <p:sp>
        <p:nvSpPr>
          <p:cNvPr id="8" name="Regularised crack cost">
            <a:extLst xmlns:a="http://schemas.openxmlformats.org/drawingml/2006/main">
              <a:ext uri="{FF2B5EF4-FFF2-40B4-BE49-F238E27FC236}">
                <a16:creationId xmlns:a16="http://schemas.microsoft.com/office/drawing/2014/main" id="{D69BE5E8-C7E2-46DE-8CF8-82DA6A049362}"/>
              </a:ext>
            </a:extLst>
          </p:cNvPr>
          <p:cNvSpPr>
            <a:spLocks xmlns:a="http://schemas.openxmlformats.org/drawingml/2006/main" noGrp="1"/>
          </p:cNvSpPr>
          <p:nvPr/>
        </p:nvSpPr>
        <p:spPr>
          <a:xfrm xmlns:a="http://schemas.openxmlformats.org/drawingml/2006/main">
            <a:off x="8477250" y="1038225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B85C20"/>
                </a:solidFill>
                <a:latin typeface="Arial"/>
                <a:ea typeface="Helvetica Neue"/>
                <a:cs typeface="Helvetica Neue"/>
              </a:defRPr>
            </a:pPr>
            <a:r>
              <a:rPr sz="3525" b="0">
                <a:solidFill>
                  <a:srgbClr val="B85C20"/>
                </a:solidFill>
                <a:latin typeface="Arial"/>
                <a:ea typeface="Helvetica Neue"/>
                <a:cs typeface="Helvetica Neue"/>
              </a:rPr>
              <a:t>Regularised crack cost</a:t>
            </a:r>
          </a:p>
        </p:txBody>
      </p:sp>
      <p:sp>
        <p:nvSpPr>
          <p:cNvPr id="9" name="External work">
            <a:extLst xmlns:a="http://schemas.openxmlformats.org/drawingml/2006/main">
              <a:ext uri="{FF2B5EF4-FFF2-40B4-BE49-F238E27FC236}">
                <a16:creationId xmlns:a16="http://schemas.microsoft.com/office/drawing/2014/main" id="{2FA74420-CED6-4815-B381-917FD9388FEC}"/>
              </a:ext>
            </a:extLst>
          </p:cNvPr>
          <p:cNvSpPr>
            <a:spLocks xmlns:a="http://schemas.openxmlformats.org/drawingml/2006/main" noGrp="1"/>
          </p:cNvSpPr>
          <p:nvPr/>
        </p:nvSpPr>
        <p:spPr>
          <a:xfrm xmlns:a="http://schemas.openxmlformats.org/drawingml/2006/main">
            <a:off x="16668750" y="103822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525D67"/>
                </a:solidFill>
                <a:latin typeface="Arial"/>
                <a:ea typeface="Helvetica Neue"/>
                <a:cs typeface="Helvetica Neue"/>
              </a:defRPr>
            </a:pPr>
            <a:r>
              <a:rPr sz="3525" b="0">
                <a:solidFill>
                  <a:srgbClr val="525D67"/>
                </a:solidFill>
                <a:latin typeface="Arial"/>
                <a:ea typeface="Helvetica Neue"/>
                <a:cs typeface="Helvetica Neue"/>
              </a:rPr>
              <a:t>External work</a:t>
            </a:r>
          </a:p>
        </p:txBody>
      </p:sp>
      <p:sp>
        <p:nvSpPr>
          <p:cNvPr id="10" name="Illustrative isotropic AT2 energy; tension/compression splits are a se">
            <a:extLst xmlns:a="http://schemas.openxmlformats.org/drawingml/2006/main">
              <a:ext uri="{FF2B5EF4-FFF2-40B4-BE49-F238E27FC236}">
                <a16:creationId xmlns:a16="http://schemas.microsoft.com/office/drawing/2014/main" id="{7AB49DD8-E8AD-4453-B58D-2D85AE84BC62}"/>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Illustrative isotropic AT2 energy; tension/compression splits are a separate modelling choice.</a:t>
            </a:r>
          </a:p>
        </p:txBody>
      </p:sp>
    </p:spTree>
    <p:extLst>
      <p:ext uri="{BB962C8B-B14F-4D97-AF65-F5344CB8AC3E}">
        <p14:creationId xmlns:p14="http://schemas.microsoft.com/office/powerpoint/2010/main" val="14910695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ow damage changes stiffness">
            <a:extLst xmlns:a="http://schemas.openxmlformats.org/drawingml/2006/main">
              <a:ext uri="{FF2B5EF4-FFF2-40B4-BE49-F238E27FC236}">
                <a16:creationId xmlns:a16="http://schemas.microsoft.com/office/drawing/2014/main" id="{7EB594AC-86A7-4BA3-9120-12EC5D74C42E}"/>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How damage changes stiffness</a:t>
            </a:r>
          </a:p>
        </p:txBody>
      </p:sp>
      <p:sp>
        <p:nvSpPr>
          <p:cNvPr id="2" name="CEMS-Lab · UKACM Autumn School 2026">
            <a:extLst xmlns:a="http://schemas.openxmlformats.org/drawingml/2006/main">
              <a:ext uri="{FF2B5EF4-FFF2-40B4-BE49-F238E27FC236}">
                <a16:creationId xmlns:a16="http://schemas.microsoft.com/office/drawing/2014/main" id="{7D05A182-ABC8-48E5-B04D-E2949668B07D}"/>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07">
            <a:extLst xmlns:a="http://schemas.openxmlformats.org/drawingml/2006/main">
              <a:ext uri="{FF2B5EF4-FFF2-40B4-BE49-F238E27FC236}">
                <a16:creationId xmlns:a16="http://schemas.microsoft.com/office/drawing/2014/main" id="{12F494E7-5BEA-4578-B027-2AD63A91DC80}"/>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05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d9055bd2bf74f16"/>
          <a:stretch xmlns:a="http://schemas.openxmlformats.org/drawingml/2006/main"/>
        </p:blipFill>
        <p:spPr>
          <a:xfrm xmlns:a="http://schemas.openxmlformats.org/drawingml/2006/main">
            <a:off x="1219200" y="3521261"/>
            <a:ext cx="12334875" cy="7006852"/>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9f178d324da4ab6"/>
          <a:stretch xmlns:a="http://schemas.openxmlformats.org/drawingml/2006/main"/>
        </p:blipFill>
        <p:spPr>
          <a:xfrm xmlns:a="http://schemas.openxmlformats.org/drawingml/2006/main">
            <a:off x="14382750" y="4768836"/>
            <a:ext cx="8334375" cy="1130327"/>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5fa8ffe826144bb"/>
          <a:stretch xmlns:a="http://schemas.openxmlformats.org/drawingml/2006/main"/>
        </p:blipFill>
        <p:spPr>
          <a:xfrm xmlns:a="http://schemas.openxmlformats.org/drawingml/2006/main">
            <a:off x="14382750" y="7171811"/>
            <a:ext cx="8334375" cy="1182128"/>
          </a:xfrm>
          <a:prstGeom xmlns:a="http://schemas.openxmlformats.org/drawingml/2006/main" prst="rect">
            <a:avLst/>
          </a:prstGeom>
        </p:spPr>
      </p:pic>
      <p:sp>
        <p:nvSpPr>
          <p:cNvPr id="7" name="Predict the sign of the derivative.&#10;What changes near complete damage?">
            <a:extLst xmlns:a="http://schemas.openxmlformats.org/drawingml/2006/main">
              <a:ext uri="{FF2B5EF4-FFF2-40B4-BE49-F238E27FC236}">
                <a16:creationId xmlns:a16="http://schemas.microsoft.com/office/drawing/2014/main" id="{72E22B09-3E57-42C9-99E1-2080EB6A78DC}"/>
              </a:ext>
            </a:extLst>
          </p:cNvPr>
          <p:cNvSpPr>
            <a:spLocks xmlns:a="http://schemas.openxmlformats.org/drawingml/2006/main" noGrp="1"/>
          </p:cNvSpPr>
          <p:nvPr/>
        </p:nvSpPr>
        <p:spPr>
          <a:xfrm xmlns:a="http://schemas.openxmlformats.org/drawingml/2006/main">
            <a:off x="14382750" y="9429750"/>
            <a:ext cx="8334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7191C"/>
                </a:solidFill>
                <a:latin typeface="Arial"/>
                <a:ea typeface="Helvetica Neue"/>
                <a:cs typeface="Helvetica Neue"/>
              </a:defRPr>
            </a:pPr>
            <a:r>
              <a:rPr sz="3450" b="0">
                <a:solidFill>
                  <a:srgbClr val="17191C"/>
                </a:solidFill>
                <a:latin typeface="Arial"/>
                <a:ea typeface="Helvetica Neue"/>
                <a:cs typeface="Helvetica Neue"/>
              </a:rPr>
              <a:t>Predict the sign of the derivative.</a:t>
            </a:r>
          </a:p>
          <a:p xmlns:a="http://schemas.openxmlformats.org/drawingml/2006/main">
            <a:pPr algn="l">
              <a:defRPr sz="3450" b="0">
                <a:solidFill>
                  <a:srgbClr val="17191C"/>
                </a:solidFill>
                <a:latin typeface="Arial"/>
                <a:ea typeface="Helvetica Neue"/>
                <a:cs typeface="Helvetica Neue"/>
              </a:defRPr>
            </a:pPr>
            <a:r>
              <a:rPr sz="3450" b="0">
                <a:solidFill>
                  <a:srgbClr val="17191C"/>
                </a:solidFill>
                <a:latin typeface="Arial"/>
                <a:ea typeface="Helvetica Neue"/>
                <a:cs typeface="Helvetica Neue"/>
              </a:rPr>
              <a:t>What changes near complete damage?</a:t>
            </a:r>
          </a:p>
        </p:txBody>
      </p:sp>
      <p:sp>
        <p:nvSpPr>
          <p:cNvPr id="8" name="Quadratic baseline with illustrative cubic and rational alternatives.">
            <a:extLst xmlns:a="http://schemas.openxmlformats.org/drawingml/2006/main">
              <a:ext uri="{FF2B5EF4-FFF2-40B4-BE49-F238E27FC236}">
                <a16:creationId xmlns:a16="http://schemas.microsoft.com/office/drawing/2014/main" id="{293F7266-380A-4969-91FE-84AB4976980B}"/>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Quadratic baseline with illustrative cubic and rational alternatives.</a:t>
            </a:r>
          </a:p>
        </p:txBody>
      </p:sp>
    </p:spTree>
    <p:extLst>
      <p:ext uri="{BB962C8B-B14F-4D97-AF65-F5344CB8AC3E}">
        <p14:creationId xmlns:p14="http://schemas.microsoft.com/office/powerpoint/2010/main" val="5654628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he staggered solution">
            <a:extLst xmlns:a="http://schemas.openxmlformats.org/drawingml/2006/main">
              <a:ext uri="{FF2B5EF4-FFF2-40B4-BE49-F238E27FC236}">
                <a16:creationId xmlns:a16="http://schemas.microsoft.com/office/drawing/2014/main" id="{BA1BEFF2-B758-416C-ABDB-B6A5E72F6E93}"/>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The staggered solution</a:t>
            </a:r>
          </a:p>
        </p:txBody>
      </p:sp>
      <p:sp>
        <p:nvSpPr>
          <p:cNvPr id="2" name="CEMS-Lab · UKACM Autumn School 2026">
            <a:extLst xmlns:a="http://schemas.openxmlformats.org/drawingml/2006/main">
              <a:ext uri="{FF2B5EF4-FFF2-40B4-BE49-F238E27FC236}">
                <a16:creationId xmlns:a16="http://schemas.microsoft.com/office/drawing/2014/main" id="{176769EA-D4A4-4D0B-BFF1-911959CFF63A}"/>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08">
            <a:extLst xmlns:a="http://schemas.openxmlformats.org/drawingml/2006/main">
              <a:ext uri="{FF2B5EF4-FFF2-40B4-BE49-F238E27FC236}">
                <a16:creationId xmlns:a16="http://schemas.microsoft.com/office/drawing/2014/main" id="{EFB40FA4-2EBC-4193-92AF-7EE9E766191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06</a:t>
            </a:r>
          </a:p>
        </p:txBody>
      </p:sp>
      <p:sp>
        <p:nvSpPr>
          <p:cNvPr id="4" name="At a fixed load increment, update one coupled field at a time.">
            <a:extLst xmlns:a="http://schemas.openxmlformats.org/drawingml/2006/main">
              <a:ext uri="{FF2B5EF4-FFF2-40B4-BE49-F238E27FC236}">
                <a16:creationId xmlns:a16="http://schemas.microsoft.com/office/drawing/2014/main" id="{B9380CB0-A2FB-467C-AAFF-B0C2E5A62924}"/>
              </a:ext>
            </a:extLst>
          </p:cNvPr>
          <p:cNvSpPr>
            <a:spLocks xmlns:a="http://schemas.openxmlformats.org/drawingml/2006/main" noGrp="1"/>
          </p:cNvSpPr>
          <p:nvPr/>
        </p:nvSpPr>
        <p:spPr>
          <a:xfrm xmlns:a="http://schemas.openxmlformats.org/drawingml/2006/main">
            <a:off x="1219200" y="3381375"/>
            <a:ext cx="2124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0">
                <a:solidFill>
                  <a:srgbClr val="17191C"/>
                </a:solidFill>
                <a:latin typeface="Arial"/>
                <a:ea typeface="Helvetica Neue"/>
                <a:cs typeface="Helvetica Neue"/>
              </a:defRPr>
            </a:pPr>
            <a:r>
              <a:rPr sz="4200" b="0">
                <a:solidFill>
                  <a:srgbClr val="17191C"/>
                </a:solidFill>
                <a:latin typeface="Arial"/>
                <a:ea typeface="Helvetica Neue"/>
                <a:cs typeface="Helvetica Neue"/>
              </a:rPr>
              <a:t>At a fixed load increment, update one coupled field at a time.</a:t>
            </a:r>
          </a:p>
        </p:txBody>
      </p:sp>
      <p:sp>
        <p:nvSpPr>
          <p:cNvPr id="5" name="Mechanics">
            <a:extLst xmlns:a="http://schemas.openxmlformats.org/drawingml/2006/main">
              <a:ext uri="{FF2B5EF4-FFF2-40B4-BE49-F238E27FC236}">
                <a16:creationId xmlns:a16="http://schemas.microsoft.com/office/drawing/2014/main" id="{69D441CD-D7F6-4442-8DA3-37E36364ED8B}"/>
              </a:ext>
            </a:extLst>
          </p:cNvPr>
          <p:cNvSpPr>
            <a:spLocks xmlns:a="http://schemas.openxmlformats.org/drawingml/2006/main" noGrp="1"/>
          </p:cNvSpPr>
          <p:nvPr/>
        </p:nvSpPr>
        <p:spPr>
          <a:xfrm xmlns:a="http://schemas.openxmlformats.org/drawingml/2006/main">
            <a:off x="1219200" y="6238875"/>
            <a:ext cx="5334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Mechanics</a:t>
            </a:r>
          </a:p>
        </p:txBody>
      </p:sp>
      <p:sp>
        <p:nvSpPr>
          <p:cNvPr id="6" name="Driving energy">
            <a:extLst xmlns:a="http://schemas.openxmlformats.org/drawingml/2006/main">
              <a:ext uri="{FF2B5EF4-FFF2-40B4-BE49-F238E27FC236}">
                <a16:creationId xmlns:a16="http://schemas.microsoft.com/office/drawing/2014/main" id="{9FD5E43F-7D5A-49D0-9971-C9BCDC9CC408}"/>
              </a:ext>
            </a:extLst>
          </p:cNvPr>
          <p:cNvSpPr>
            <a:spLocks xmlns:a="http://schemas.openxmlformats.org/drawingml/2006/main" noGrp="1"/>
          </p:cNvSpPr>
          <p:nvPr/>
        </p:nvSpPr>
        <p:spPr>
          <a:xfrm xmlns:a="http://schemas.openxmlformats.org/drawingml/2006/main">
            <a:off x="9334500" y="6238875"/>
            <a:ext cx="5334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Driving energy</a:t>
            </a:r>
          </a:p>
        </p:txBody>
      </p:sp>
      <p:sp>
        <p:nvSpPr>
          <p:cNvPr id="7" name="Damage">
            <a:extLst xmlns:a="http://schemas.openxmlformats.org/drawingml/2006/main">
              <a:ext uri="{FF2B5EF4-FFF2-40B4-BE49-F238E27FC236}">
                <a16:creationId xmlns:a16="http://schemas.microsoft.com/office/drawing/2014/main" id="{FB790589-0FE8-489F-AAB9-A1E4EF059E1E}"/>
              </a:ext>
            </a:extLst>
          </p:cNvPr>
          <p:cNvSpPr>
            <a:spLocks xmlns:a="http://schemas.openxmlformats.org/drawingml/2006/main" noGrp="1"/>
          </p:cNvSpPr>
          <p:nvPr/>
        </p:nvSpPr>
        <p:spPr>
          <a:xfrm xmlns:a="http://schemas.openxmlformats.org/drawingml/2006/main">
            <a:off x="17449800" y="6238875"/>
            <a:ext cx="5334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Damage</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6553200" y="6977063"/>
            <a:ext cx="278130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14668500" y="6977063"/>
            <a:ext cx="278130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0" name="Hold damage fixed">
            <a:extLst xmlns:a="http://schemas.openxmlformats.org/drawingml/2006/main">
              <a:ext uri="{FF2B5EF4-FFF2-40B4-BE49-F238E27FC236}">
                <a16:creationId xmlns:a16="http://schemas.microsoft.com/office/drawing/2014/main" id="{75ABAAEB-8EED-4C40-A0EC-DFBF217A1630}"/>
              </a:ext>
            </a:extLst>
          </p:cNvPr>
          <p:cNvSpPr>
            <a:spLocks xmlns:a="http://schemas.openxmlformats.org/drawingml/2006/main" noGrp="1"/>
          </p:cNvSpPr>
          <p:nvPr/>
        </p:nvSpPr>
        <p:spPr>
          <a:xfrm xmlns:a="http://schemas.openxmlformats.org/drawingml/2006/main">
            <a:off x="1219200" y="847725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45A81"/>
                </a:solidFill>
                <a:latin typeface="Arial"/>
                <a:ea typeface="Helvetica Neue"/>
                <a:cs typeface="Helvetica Neue"/>
              </a:defRPr>
            </a:pPr>
            <a:r>
              <a:rPr sz="3225" b="0">
                <a:solidFill>
                  <a:srgbClr val="245A81"/>
                </a:solidFill>
                <a:latin typeface="Arial"/>
                <a:ea typeface="Helvetica Neue"/>
                <a:cs typeface="Helvetica Neue"/>
              </a:rPr>
              <a:t>Hold damage fixed</a:t>
            </a:r>
          </a:p>
        </p:txBody>
      </p:sp>
      <p:sp>
        <p:nvSpPr>
          <p:cNvPr id="11" name="Update the history">
            <a:extLst xmlns:a="http://schemas.openxmlformats.org/drawingml/2006/main">
              <a:ext uri="{FF2B5EF4-FFF2-40B4-BE49-F238E27FC236}">
                <a16:creationId xmlns:a16="http://schemas.microsoft.com/office/drawing/2014/main" id="{BDEF1EC4-18F3-4F76-8013-4E39EA90834C}"/>
              </a:ext>
            </a:extLst>
          </p:cNvPr>
          <p:cNvSpPr>
            <a:spLocks xmlns:a="http://schemas.openxmlformats.org/drawingml/2006/main" noGrp="1"/>
          </p:cNvSpPr>
          <p:nvPr/>
        </p:nvSpPr>
        <p:spPr>
          <a:xfrm xmlns:a="http://schemas.openxmlformats.org/drawingml/2006/main">
            <a:off x="9334500" y="847725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45A81"/>
                </a:solidFill>
                <a:latin typeface="Arial"/>
                <a:ea typeface="Helvetica Neue"/>
                <a:cs typeface="Helvetica Neue"/>
              </a:defRPr>
            </a:pPr>
            <a:r>
              <a:rPr sz="3225" b="0">
                <a:solidFill>
                  <a:srgbClr val="245A81"/>
                </a:solidFill>
                <a:latin typeface="Arial"/>
                <a:ea typeface="Helvetica Neue"/>
                <a:cs typeface="Helvetica Neue"/>
              </a:rPr>
              <a:t>Update the history</a:t>
            </a:r>
          </a:p>
        </p:txBody>
      </p:sp>
      <p:sp>
        <p:nvSpPr>
          <p:cNvPr id="12" name="Enforce admissibility">
            <a:extLst xmlns:a="http://schemas.openxmlformats.org/drawingml/2006/main">
              <a:ext uri="{FF2B5EF4-FFF2-40B4-BE49-F238E27FC236}">
                <a16:creationId xmlns:a16="http://schemas.microsoft.com/office/drawing/2014/main" id="{2C463DE7-0143-42E6-8F84-8FFCD549FF50}"/>
              </a:ext>
            </a:extLst>
          </p:cNvPr>
          <p:cNvSpPr>
            <a:spLocks xmlns:a="http://schemas.openxmlformats.org/drawingml/2006/main" noGrp="1"/>
          </p:cNvSpPr>
          <p:nvPr/>
        </p:nvSpPr>
        <p:spPr>
          <a:xfrm xmlns:a="http://schemas.openxmlformats.org/drawingml/2006/main">
            <a:off x="17145000" y="8477250"/>
            <a:ext cx="609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45A81"/>
                </a:solidFill>
                <a:latin typeface="Arial"/>
                <a:ea typeface="Helvetica Neue"/>
                <a:cs typeface="Helvetica Neue"/>
              </a:defRPr>
            </a:pPr>
            <a:r>
              <a:rPr sz="3225" b="0">
                <a:solidFill>
                  <a:srgbClr val="245A81"/>
                </a:solidFill>
                <a:latin typeface="Arial"/>
                <a:ea typeface="Helvetica Neue"/>
                <a:cs typeface="Helvetica Neue"/>
              </a:rPr>
              <a:t>Enforce admissibility</a:t>
            </a:r>
          </a:p>
        </p:txBody>
      </p:sp>
      <p:sp>
        <p:nvSpPr>
          <p:cNvPr id="13" name="Repeat with the updated damage until the chosen convergence checks pas">
            <a:extLst xmlns:a="http://schemas.openxmlformats.org/drawingml/2006/main">
              <a:ext uri="{FF2B5EF4-FFF2-40B4-BE49-F238E27FC236}">
                <a16:creationId xmlns:a16="http://schemas.microsoft.com/office/drawing/2014/main" id="{00F0C3DC-7E0D-4627-937B-00CD82225D41}"/>
              </a:ext>
            </a:extLst>
          </p:cNvPr>
          <p:cNvSpPr>
            <a:spLocks xmlns:a="http://schemas.openxmlformats.org/drawingml/2006/main" noGrp="1"/>
          </p:cNvSpPr>
          <p:nvPr/>
        </p:nvSpPr>
        <p:spPr>
          <a:xfrm xmlns:a="http://schemas.openxmlformats.org/drawingml/2006/main">
            <a:off x="1219200" y="10382250"/>
            <a:ext cx="2133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B85C20"/>
                </a:solidFill>
                <a:latin typeface="Arial"/>
                <a:ea typeface="Helvetica Neue"/>
                <a:cs typeface="Helvetica Neue"/>
              </a:defRPr>
            </a:pPr>
            <a:r>
              <a:rPr sz="3750" b="0">
                <a:solidFill>
                  <a:srgbClr val="B85C20"/>
                </a:solidFill>
                <a:latin typeface="Arial"/>
                <a:ea typeface="Helvetica Neue"/>
                <a:cs typeface="Helvetica Neue"/>
              </a:rPr>
              <a:t>Repeat with the updated damage until the chosen convergence checks pass.</a:t>
            </a:r>
          </a:p>
        </p:txBody>
      </p:sp>
      <p:sp>
        <p:nvSpPr>
          <p:cNvPr id="14" name="Load increment, staggered iteration and physical time are different in">
            <a:extLst xmlns:a="http://schemas.openxmlformats.org/drawingml/2006/main">
              <a:ext uri="{FF2B5EF4-FFF2-40B4-BE49-F238E27FC236}">
                <a16:creationId xmlns:a16="http://schemas.microsoft.com/office/drawing/2014/main" id="{CCDDB76C-06AA-4626-A88A-8674235D576E}"/>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Load increment, staggered iteration and physical time are different indices.</a:t>
            </a:r>
          </a:p>
        </p:txBody>
      </p:sp>
    </p:spTree>
    <p:extLst>
      <p:ext uri="{BB962C8B-B14F-4D97-AF65-F5344CB8AC3E}">
        <p14:creationId xmlns:p14="http://schemas.microsoft.com/office/powerpoint/2010/main" val="18046925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inite elements as tensor operations">
            <a:extLst xmlns:a="http://schemas.openxmlformats.org/drawingml/2006/main">
              <a:ext uri="{FF2B5EF4-FFF2-40B4-BE49-F238E27FC236}">
                <a16:creationId xmlns:a16="http://schemas.microsoft.com/office/drawing/2014/main" id="{72E2E486-C3FE-4E31-ADF4-92FD68CE7617}"/>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Finite elements as tensor operations</a:t>
            </a:r>
          </a:p>
        </p:txBody>
      </p:sp>
      <p:sp>
        <p:nvSpPr>
          <p:cNvPr id="2" name="CEMS-Lab · UKACM Autumn School 2026">
            <a:extLst xmlns:a="http://schemas.openxmlformats.org/drawingml/2006/main">
              <a:ext uri="{FF2B5EF4-FFF2-40B4-BE49-F238E27FC236}">
                <a16:creationId xmlns:a16="http://schemas.microsoft.com/office/drawing/2014/main" id="{80ACF4D4-F252-4D00-91D8-96775FB38B16}"/>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09">
            <a:extLst xmlns:a="http://schemas.openxmlformats.org/drawingml/2006/main">
              <a:ext uri="{FF2B5EF4-FFF2-40B4-BE49-F238E27FC236}">
                <a16:creationId xmlns:a16="http://schemas.microsoft.com/office/drawing/2014/main" id="{67A1930C-7F53-479F-8172-6CBB74AA67C4}"/>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08</a:t>
            </a:r>
          </a:p>
        </p:txBody>
      </p:sp>
      <p:sp>
        <p:nvSpPr>
          <p:cNvPr id="4" name="Gather nodal values">
            <a:extLst xmlns:a="http://schemas.openxmlformats.org/drawingml/2006/main">
              <a:ext uri="{FF2B5EF4-FFF2-40B4-BE49-F238E27FC236}">
                <a16:creationId xmlns:a16="http://schemas.microsoft.com/office/drawing/2014/main" id="{30F9DD99-758C-4FC7-B283-9DD4C186DBD2}"/>
              </a:ext>
            </a:extLst>
          </p:cNvPr>
          <p:cNvSpPr>
            <a:spLocks xmlns:a="http://schemas.openxmlformats.org/drawingml/2006/main" noGrp="1"/>
          </p:cNvSpPr>
          <p:nvPr/>
        </p:nvSpPr>
        <p:spPr>
          <a:xfrm xmlns:a="http://schemas.openxmlformats.org/drawingml/2006/main">
            <a:off x="121920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Gather nodal values</a:t>
            </a:r>
          </a:p>
        </p:txBody>
      </p:sp>
      <p:sp>
        <p:nvSpPr>
          <p:cNvPr id="5" name="Element kernels">
            <a:extLst xmlns:a="http://schemas.openxmlformats.org/drawingml/2006/main">
              <a:ext uri="{FF2B5EF4-FFF2-40B4-BE49-F238E27FC236}">
                <a16:creationId xmlns:a16="http://schemas.microsoft.com/office/drawing/2014/main" id="{709D0520-508F-4565-B2D2-B0B9D0847CE8}"/>
              </a:ext>
            </a:extLst>
          </p:cNvPr>
          <p:cNvSpPr>
            <a:spLocks xmlns:a="http://schemas.openxmlformats.org/drawingml/2006/main" noGrp="1"/>
          </p:cNvSpPr>
          <p:nvPr/>
        </p:nvSpPr>
        <p:spPr>
          <a:xfrm xmlns:a="http://schemas.openxmlformats.org/drawingml/2006/main">
            <a:off x="691515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Element kernels</a:t>
            </a:r>
          </a:p>
        </p:txBody>
      </p:sp>
      <p:sp>
        <p:nvSpPr>
          <p:cNvPr id="6" name="Quadrature reduction">
            <a:extLst xmlns:a="http://schemas.openxmlformats.org/drawingml/2006/main">
              <a:ext uri="{FF2B5EF4-FFF2-40B4-BE49-F238E27FC236}">
                <a16:creationId xmlns:a16="http://schemas.microsoft.com/office/drawing/2014/main" id="{3623074D-6BBC-499D-9BCC-EC4979B26088}"/>
              </a:ext>
            </a:extLst>
          </p:cNvPr>
          <p:cNvSpPr>
            <a:spLocks xmlns:a="http://schemas.openxmlformats.org/drawingml/2006/main" noGrp="1"/>
          </p:cNvSpPr>
          <p:nvPr/>
        </p:nvSpPr>
        <p:spPr>
          <a:xfrm xmlns:a="http://schemas.openxmlformats.org/drawingml/2006/main">
            <a:off x="1261110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Quadrature reduction</a:t>
            </a:r>
          </a:p>
        </p:txBody>
      </p:sp>
      <p:sp>
        <p:nvSpPr>
          <p:cNvPr id="7" name="Scatter contributions">
            <a:extLst xmlns:a="http://schemas.openxmlformats.org/drawingml/2006/main">
              <a:ext uri="{FF2B5EF4-FFF2-40B4-BE49-F238E27FC236}">
                <a16:creationId xmlns:a16="http://schemas.microsoft.com/office/drawing/2014/main" id="{C482FE24-1D8A-44EA-9F0C-21CEC6F32639}"/>
              </a:ext>
            </a:extLst>
          </p:cNvPr>
          <p:cNvSpPr>
            <a:spLocks xmlns:a="http://schemas.openxmlformats.org/drawingml/2006/main" noGrp="1"/>
          </p:cNvSpPr>
          <p:nvPr/>
        </p:nvSpPr>
        <p:spPr>
          <a:xfrm xmlns:a="http://schemas.openxmlformats.org/drawingml/2006/main">
            <a:off x="1830705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Arial"/>
                <a:ea typeface="Helvetica Neue"/>
                <a:cs typeface="Helvetica Neue"/>
              </a:defRPr>
            </a:pPr>
            <a:r>
              <a:rPr sz="3600">
                <a:solidFill>
                  <a:srgbClr val="245A81"/>
                </a:solidFill>
                <a:latin typeface="Arial"/>
                <a:ea typeface="Helvetica Neue"/>
                <a:cs typeface="Helvetica Neue"/>
              </a:rPr>
              <a:t>Scatter contributions</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34075" y="5715000"/>
            <a:ext cx="981075"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11630025" y="5715000"/>
            <a:ext cx="981075"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17325975" y="5715000"/>
            <a:ext cx="981075"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1" name="Element, quadrature and component axes express the numerical structure">
            <a:extLst xmlns:a="http://schemas.openxmlformats.org/drawingml/2006/main">
              <a:ext uri="{FF2B5EF4-FFF2-40B4-BE49-F238E27FC236}">
                <a16:creationId xmlns:a16="http://schemas.microsoft.com/office/drawing/2014/main" id="{F6ED66EC-8BA2-4F8F-892F-5DC8566B2929}"/>
              </a:ext>
            </a:extLst>
          </p:cNvPr>
          <p:cNvSpPr>
            <a:spLocks xmlns:a="http://schemas.openxmlformats.org/drawingml/2006/main" noGrp="1"/>
          </p:cNvSpPr>
          <p:nvPr/>
        </p:nvSpPr>
        <p:spPr>
          <a:xfrm xmlns:a="http://schemas.openxmlformats.org/drawingml/2006/main">
            <a:off x="1219200" y="8191500"/>
            <a:ext cx="2162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Arial"/>
                <a:ea typeface="Helvetica Neue"/>
                <a:cs typeface="Helvetica Neue"/>
              </a:defRPr>
            </a:pPr>
            <a:r>
              <a:rPr sz="4350" b="0">
                <a:solidFill>
                  <a:srgbClr val="17191C"/>
                </a:solidFill>
                <a:latin typeface="Arial"/>
                <a:ea typeface="Helvetica Neue"/>
                <a:cs typeface="Helvetica Neue"/>
              </a:rPr>
              <a:t>Element, quadrature and component axes express the numerical structure.</a:t>
            </a:r>
          </a:p>
        </p:txBody>
      </p:sp>
      <p:sp>
        <p:nvSpPr>
          <p:cNvPr id="12" name="The same operations can expose derivatives when the computational path">
            <a:extLst xmlns:a="http://schemas.openxmlformats.org/drawingml/2006/main">
              <a:ext uri="{FF2B5EF4-FFF2-40B4-BE49-F238E27FC236}">
                <a16:creationId xmlns:a16="http://schemas.microsoft.com/office/drawing/2014/main" id="{D55D4D96-3C46-4265-9738-FAE090C880B7}"/>
              </a:ext>
            </a:extLst>
          </p:cNvPr>
          <p:cNvSpPr>
            <a:spLocks xmlns:a="http://schemas.openxmlformats.org/drawingml/2006/main" noGrp="1"/>
          </p:cNvSpPr>
          <p:nvPr/>
        </p:nvSpPr>
        <p:spPr>
          <a:xfrm xmlns:a="http://schemas.openxmlformats.org/drawingml/2006/main">
            <a:off x="1219200" y="10287000"/>
            <a:ext cx="2143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245A81"/>
                </a:solidFill>
                <a:latin typeface="Arial"/>
                <a:ea typeface="Helvetica Neue"/>
                <a:cs typeface="Helvetica Neue"/>
              </a:defRPr>
            </a:pPr>
            <a:r>
              <a:rPr sz="3825" b="0">
                <a:solidFill>
                  <a:srgbClr val="245A81"/>
                </a:solidFill>
                <a:latin typeface="Arial"/>
                <a:ea typeface="Helvetica Neue"/>
                <a:cs typeface="Helvetica Neue"/>
              </a:rPr>
              <a:t>The same operations can expose derivatives when the computational path supports them.</a:t>
            </a:r>
          </a:p>
        </p:txBody>
      </p:sp>
      <p:sp>
        <p:nvSpPr>
          <p:cNvPr id="13" name="Differentiability depends on the operations along the computational pa">
            <a:extLst xmlns:a="http://schemas.openxmlformats.org/drawingml/2006/main">
              <a:ext uri="{FF2B5EF4-FFF2-40B4-BE49-F238E27FC236}">
                <a16:creationId xmlns:a16="http://schemas.microsoft.com/office/drawing/2014/main" id="{B1BEC7F8-363D-4540-AAC0-F299F984CDC6}"/>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Differentiability depends on the operations along the computational path.</a:t>
            </a:r>
          </a:p>
        </p:txBody>
      </p:sp>
    </p:spTree>
    <p:extLst>
      <p:ext uri="{BB962C8B-B14F-4D97-AF65-F5344CB8AC3E}">
        <p14:creationId xmlns:p14="http://schemas.microsoft.com/office/powerpoint/2010/main" val="12080350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rom an input to a final observation">
            <a:extLst xmlns:a="http://schemas.openxmlformats.org/drawingml/2006/main">
              <a:ext uri="{FF2B5EF4-FFF2-40B4-BE49-F238E27FC236}">
                <a16:creationId xmlns:a16="http://schemas.microsoft.com/office/drawing/2014/main" id="{24B1FA73-C91F-4A0B-9394-76DC79DF4AF5}"/>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From an input to a final observation</a:t>
            </a:r>
          </a:p>
        </p:txBody>
      </p:sp>
      <p:sp>
        <p:nvSpPr>
          <p:cNvPr id="2" name="CEMS-Lab · UKACM Autumn School 2026">
            <a:extLst xmlns:a="http://schemas.openxmlformats.org/drawingml/2006/main">
              <a:ext uri="{FF2B5EF4-FFF2-40B4-BE49-F238E27FC236}">
                <a16:creationId xmlns:a16="http://schemas.microsoft.com/office/drawing/2014/main" id="{035BE089-48A2-4CEF-A7F8-BD0973BDCD6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0">
            <a:extLst xmlns:a="http://schemas.openxmlformats.org/drawingml/2006/main">
              <a:ext uri="{FF2B5EF4-FFF2-40B4-BE49-F238E27FC236}">
                <a16:creationId xmlns:a16="http://schemas.microsoft.com/office/drawing/2014/main" id="{5EAD74AC-612F-40BF-99B3-EACC240B9B7D}"/>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11</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b07f1ba45d5492f"/>
          <a:stretch xmlns:a="http://schemas.openxmlformats.org/drawingml/2006/main"/>
        </p:blipFill>
        <p:spPr>
          <a:xfrm xmlns:a="http://schemas.openxmlformats.org/drawingml/2006/main">
            <a:off x="3749761" y="3524250"/>
            <a:ext cx="15893878" cy="166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6B6028-E1A2-4EFD-A3C3-5EB6442DD62C}"/>
              </a:ext>
            </a:extLst>
          </p:cNvPr>
          <p:cNvSpPr>
            <a:spLocks xmlns:a="http://schemas.openxmlformats.org/drawingml/2006/main" noGrp="1"/>
          </p:cNvSpPr>
          <p:nvPr/>
        </p:nvSpPr>
        <p:spPr>
          <a:xfrm xmlns:a="http://schemas.openxmlformats.org/drawingml/2006/main">
            <a:off x="1219200" y="6858000"/>
            <a:ext cx="51435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defRPr>
                <a:latin typeface="Arial"/>
              </a:defRPr>
            </a:pPr>
            <a:r>
              <a:rPr>
                <a:solidFill/>
                <a:latin typeface="Arial"/>
              </a:rPr>
              <a:t/>
            </a:r>
          </a:p>
        </p:txBody>
      </p:sp>
      <p:sp>
        <p:nvSpPr>
          <p:cNvPr id="6" name="">
            <a:extLst xmlns:a="http://schemas.openxmlformats.org/drawingml/2006/main">
              <a:ext uri="{FF2B5EF4-FFF2-40B4-BE49-F238E27FC236}">
                <a16:creationId xmlns:a16="http://schemas.microsoft.com/office/drawing/2014/main" id="{BE5B8DEE-BA13-4AD1-8E25-DD5DD364ACE2}"/>
              </a:ext>
            </a:extLst>
          </p:cNvPr>
          <p:cNvSpPr>
            <a:spLocks xmlns:a="http://schemas.openxmlformats.org/drawingml/2006/main" noGrp="1"/>
          </p:cNvSpPr>
          <p:nvPr/>
        </p:nvSpPr>
        <p:spPr>
          <a:xfrm xmlns:a="http://schemas.openxmlformats.org/drawingml/2006/main">
            <a:off x="8820150" y="6858000"/>
            <a:ext cx="51435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defRPr>
                <a:latin typeface="Arial"/>
              </a:defRPr>
            </a:pPr>
            <a:r>
              <a:rPr>
                <a:solidFill/>
                <a:latin typeface="Arial"/>
              </a:rPr>
              <a:t/>
            </a:r>
          </a:p>
        </p:txBody>
      </p:sp>
      <p:sp>
        <p:nvSpPr>
          <p:cNvPr id="7" name="">
            <a:extLst xmlns:a="http://schemas.openxmlformats.org/drawingml/2006/main">
              <a:ext uri="{FF2B5EF4-FFF2-40B4-BE49-F238E27FC236}">
                <a16:creationId xmlns:a16="http://schemas.microsoft.com/office/drawing/2014/main" id="{B6C808DB-4836-4137-8599-BD66DA0F8823}"/>
              </a:ext>
            </a:extLst>
          </p:cNvPr>
          <p:cNvSpPr>
            <a:spLocks xmlns:a="http://schemas.openxmlformats.org/drawingml/2006/main" noGrp="1"/>
          </p:cNvSpPr>
          <p:nvPr/>
        </p:nvSpPr>
        <p:spPr>
          <a:xfrm xmlns:a="http://schemas.openxmlformats.org/drawingml/2006/main">
            <a:off x="16421100" y="6858000"/>
            <a:ext cx="59055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defRPr>
                <a:latin typeface="Arial"/>
              </a:defRPr>
            </a:pPr>
            <a:r>
              <a:rPr>
                <a:solidFill/>
                <a:latin typeface="Arial"/>
              </a:rPr>
              <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e3798e1e20c43d2"/>
          <a:stretch xmlns:a="http://schemas.openxmlformats.org/drawingml/2006/main"/>
        </p:blipFill>
        <p:spPr>
          <a:xfrm xmlns:a="http://schemas.openxmlformats.org/drawingml/2006/main">
            <a:off x="1799933" y="7019925"/>
            <a:ext cx="3982033" cy="8096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40f3059619b48da"/>
          <a:stretch xmlns:a="http://schemas.openxmlformats.org/drawingml/2006/main"/>
        </p:blipFill>
        <p:spPr>
          <a:xfrm xmlns:a="http://schemas.openxmlformats.org/drawingml/2006/main">
            <a:off x="9100716" y="7019925"/>
            <a:ext cx="4582367" cy="80962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5d18df20d02400d"/>
          <a:stretch xmlns:a="http://schemas.openxmlformats.org/drawingml/2006/main"/>
        </p:blipFill>
        <p:spPr>
          <a:xfrm xmlns:a="http://schemas.openxmlformats.org/drawingml/2006/main">
            <a:off x="17435156" y="7019925"/>
            <a:ext cx="3877388" cy="809625"/>
          </a:xfrm>
          <a:prstGeom xmlns:a="http://schemas.openxmlformats.org/drawingml/2006/main" prst="rect">
            <a:avLst/>
          </a:prstGeom>
        </p:spPr>
      </p:pic>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6362700" y="7458075"/>
            <a:ext cx="245745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13963650" y="7458075"/>
            <a:ext cx="245745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3" name="Input: a material parameter, a load parameter or model weights">
            <a:extLst xmlns:a="http://schemas.openxmlformats.org/drawingml/2006/main">
              <a:ext uri="{FF2B5EF4-FFF2-40B4-BE49-F238E27FC236}">
                <a16:creationId xmlns:a16="http://schemas.microsoft.com/office/drawing/2014/main" id="{CC5962F5-7CE5-4093-8CEC-A249102A8884}"/>
              </a:ext>
            </a:extLst>
          </p:cNvPr>
          <p:cNvSpPr>
            <a:spLocks xmlns:a="http://schemas.openxmlformats.org/drawingml/2006/main" noGrp="1"/>
          </p:cNvSpPr>
          <p:nvPr/>
        </p:nvSpPr>
        <p:spPr>
          <a:xfrm xmlns:a="http://schemas.openxmlformats.org/drawingml/2006/main">
            <a:off x="1219200" y="9620250"/>
            <a:ext cx="2152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0">
                <a:solidFill>
                  <a:srgbClr val="245A81"/>
                </a:solidFill>
                <a:latin typeface="Arial"/>
                <a:ea typeface="Helvetica Neue"/>
                <a:cs typeface="Helvetica Neue"/>
              </a:defRPr>
            </a:pPr>
            <a:r>
              <a:rPr sz="3900" b="0">
                <a:solidFill>
                  <a:srgbClr val="245A81"/>
                </a:solidFill>
                <a:latin typeface="Arial"/>
                <a:ea typeface="Helvetica Neue"/>
                <a:cs typeface="Helvetica Neue"/>
              </a:rPr>
              <a:t>Input: a material parameter, a load parameter or model weights</a:t>
            </a:r>
          </a:p>
        </p:txBody>
      </p:sp>
      <p:sp>
        <p:nvSpPr>
          <p:cNvPr id="14" name="Observation: a fixed map from the final state to the measured quantiti">
            <a:extLst xmlns:a="http://schemas.openxmlformats.org/drawingml/2006/main">
              <a:ext uri="{FF2B5EF4-FFF2-40B4-BE49-F238E27FC236}">
                <a16:creationId xmlns:a16="http://schemas.microsoft.com/office/drawing/2014/main" id="{496A0079-DD43-4896-8CA2-8ECB70C6164A}"/>
              </a:ext>
            </a:extLst>
          </p:cNvPr>
          <p:cNvSpPr>
            <a:spLocks xmlns:a="http://schemas.openxmlformats.org/drawingml/2006/main" noGrp="1"/>
          </p:cNvSpPr>
          <p:nvPr/>
        </p:nvSpPr>
        <p:spPr>
          <a:xfrm xmlns:a="http://schemas.openxmlformats.org/drawingml/2006/main">
            <a:off x="1219200" y="10858500"/>
            <a:ext cx="2152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7191C"/>
                </a:solidFill>
                <a:latin typeface="Arial"/>
                <a:ea typeface="Helvetica Neue"/>
                <a:cs typeface="Helvetica Neue"/>
              </a:defRPr>
            </a:pPr>
            <a:r>
              <a:rPr sz="3675" b="0">
                <a:solidFill>
                  <a:srgbClr val="17191C"/>
                </a:solidFill>
                <a:latin typeface="Arial"/>
                <a:ea typeface="Helvetica Neue"/>
                <a:cs typeface="Helvetica Neue"/>
              </a:rPr>
              <a:t>Observation: a fixed map from the final state to the measured quantities</a:t>
            </a:r>
          </a:p>
        </p:txBody>
      </p:sp>
      <p:sp>
        <p:nvSpPr>
          <p:cNvPr id="15" name="Differentiate the final scalar loss with respect to a defined input.">
            <a:extLst xmlns:a="http://schemas.openxmlformats.org/drawingml/2006/main">
              <a:ext uri="{FF2B5EF4-FFF2-40B4-BE49-F238E27FC236}">
                <a16:creationId xmlns:a16="http://schemas.microsoft.com/office/drawing/2014/main" id="{E99017F3-5A0B-4F78-BCC9-833DFF3C324B}"/>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Differentiate the final scalar loss with respect to a defined input.</a:t>
            </a:r>
          </a:p>
        </p:txBody>
      </p:sp>
    </p:spTree>
    <p:extLst>
      <p:ext uri="{BB962C8B-B14F-4D97-AF65-F5344CB8AC3E}">
        <p14:creationId xmlns:p14="http://schemas.microsoft.com/office/powerpoint/2010/main" val="9883617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backward pass through time steps">
            <a:extLst xmlns:a="http://schemas.openxmlformats.org/drawingml/2006/main">
              <a:ext uri="{FF2B5EF4-FFF2-40B4-BE49-F238E27FC236}">
                <a16:creationId xmlns:a16="http://schemas.microsoft.com/office/drawing/2014/main" id="{BC029AD2-1A7A-4D54-9692-73643DD202A2}"/>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The backward pass through time steps</a:t>
            </a:r>
          </a:p>
        </p:txBody>
      </p:sp>
      <p:sp>
        <p:nvSpPr>
          <p:cNvPr id="2" name="CEMS-Lab · UKACM Autumn School 2026">
            <a:extLst xmlns:a="http://schemas.openxmlformats.org/drawingml/2006/main">
              <a:ext uri="{FF2B5EF4-FFF2-40B4-BE49-F238E27FC236}">
                <a16:creationId xmlns:a16="http://schemas.microsoft.com/office/drawing/2014/main" id="{0ABCA77F-2887-42C8-91D1-ED52F8E2B4A9}"/>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1">
            <a:extLst xmlns:a="http://schemas.openxmlformats.org/drawingml/2006/main">
              <a:ext uri="{FF2B5EF4-FFF2-40B4-BE49-F238E27FC236}">
                <a16:creationId xmlns:a16="http://schemas.microsoft.com/office/drawing/2014/main" id="{A5B16D02-68A3-4B46-8FA2-1FD8E3CB9137}"/>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ce10ee331784d6b"/>
          <a:stretch xmlns:a="http://schemas.openxmlformats.org/drawingml/2006/main"/>
        </p:blipFill>
        <p:spPr>
          <a:xfrm xmlns:a="http://schemas.openxmlformats.org/drawingml/2006/main">
            <a:off x="5932063" y="3286125"/>
            <a:ext cx="6385775" cy="14287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e280c93bc944b2a"/>
          <a:stretch xmlns:a="http://schemas.openxmlformats.org/drawingml/2006/main"/>
        </p:blipFill>
        <p:spPr>
          <a:xfrm xmlns:a="http://schemas.openxmlformats.org/drawingml/2006/main">
            <a:off x="3426959" y="5762625"/>
            <a:ext cx="17206232" cy="1714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8477e41a09b4a02"/>
          <a:stretch xmlns:a="http://schemas.openxmlformats.org/drawingml/2006/main"/>
        </p:blipFill>
        <p:spPr>
          <a:xfrm xmlns:a="http://schemas.openxmlformats.org/drawingml/2006/main">
            <a:off x="4201299" y="8858250"/>
            <a:ext cx="4513303" cy="1857375"/>
          </a:xfrm>
          <a:prstGeom xmlns:a="http://schemas.openxmlformats.org/drawingml/2006/main" prst="rect">
            <a:avLst/>
          </a:prstGeom>
        </p:spPr>
      </p:pic>
      <p:sp>
        <p:nvSpPr>
          <p:cNvPr id="7" name="Each use of the same parameter&#10;contributes to the final gradient.">
            <a:extLst xmlns:a="http://schemas.openxmlformats.org/drawingml/2006/main">
              <a:ext uri="{FF2B5EF4-FFF2-40B4-BE49-F238E27FC236}">
                <a16:creationId xmlns:a16="http://schemas.microsoft.com/office/drawing/2014/main" id="{3417D06E-8608-43AC-A063-2A7615865495}"/>
              </a:ext>
            </a:extLst>
          </p:cNvPr>
          <p:cNvSpPr>
            <a:spLocks xmlns:a="http://schemas.openxmlformats.org/drawingml/2006/main" noGrp="1"/>
          </p:cNvSpPr>
          <p:nvPr/>
        </p:nvSpPr>
        <p:spPr>
          <a:xfrm xmlns:a="http://schemas.openxmlformats.org/drawingml/2006/main">
            <a:off x="12668250" y="8858250"/>
            <a:ext cx="962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B85C20"/>
                </a:solidFill>
                <a:latin typeface="Arial"/>
                <a:ea typeface="Helvetica Neue"/>
                <a:cs typeface="Helvetica Neue"/>
              </a:defRPr>
            </a:pPr>
            <a:r>
              <a:rPr sz="4050" b="0">
                <a:solidFill>
                  <a:srgbClr val="B85C20"/>
                </a:solidFill>
                <a:latin typeface="Arial"/>
                <a:ea typeface="Helvetica Neue"/>
                <a:cs typeface="Helvetica Neue"/>
              </a:rPr>
              <a:t>Each use of the same parameter</a:t>
            </a:r>
          </a:p>
          <a:p xmlns:a="http://schemas.openxmlformats.org/drawingml/2006/main">
            <a:pPr algn="l">
              <a:defRPr sz="4050" b="0">
                <a:solidFill>
                  <a:srgbClr val="B85C20"/>
                </a:solidFill>
                <a:latin typeface="Arial"/>
                <a:ea typeface="Helvetica Neue"/>
                <a:cs typeface="Helvetica Neue"/>
              </a:defRPr>
            </a:pPr>
            <a:r>
              <a:rPr sz="4050" b="0">
                <a:solidFill>
                  <a:srgbClr val="B85C20"/>
                </a:solidFill>
                <a:latin typeface="Arial"/>
                <a:ea typeface="Helvetica Neue"/>
                <a:cs typeface="Helvetica Neue"/>
              </a:rPr>
              <a:t>contributes to the final gradient.</a:t>
            </a:r>
          </a:p>
        </p:txBody>
      </p:sp>
      <p:sp>
        <p:nvSpPr>
          <p:cNvPr id="8" name="Fixed initial state and observation map; parameter dependence enters t">
            <a:extLst xmlns:a="http://schemas.openxmlformats.org/drawingml/2006/main">
              <a:ext uri="{FF2B5EF4-FFF2-40B4-BE49-F238E27FC236}">
                <a16:creationId xmlns:a16="http://schemas.microsoft.com/office/drawing/2014/main" id="{65D1F707-9A60-4F35-8441-66BE0ADCAA20}"/>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Fixed initial state and observation map; parameter dependence enters through the updates.</a:t>
            </a:r>
          </a:p>
        </p:txBody>
      </p:sp>
    </p:spTree>
    <p:extLst>
      <p:ext uri="{BB962C8B-B14F-4D97-AF65-F5344CB8AC3E}">
        <p14:creationId xmlns:p14="http://schemas.microsoft.com/office/powerpoint/2010/main" val="15527998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mplicit differentiation of a solved equation">
            <a:extLst xmlns:a="http://schemas.openxmlformats.org/drawingml/2006/main">
              <a:ext uri="{FF2B5EF4-FFF2-40B4-BE49-F238E27FC236}">
                <a16:creationId xmlns:a16="http://schemas.microsoft.com/office/drawing/2014/main" id="{7775F0E4-E9DE-4351-A59F-7E4370854100}"/>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Implicit differentiation of a solved equation</a:t>
            </a:r>
          </a:p>
        </p:txBody>
      </p:sp>
      <p:sp>
        <p:nvSpPr>
          <p:cNvPr id="2" name="CEMS-Lab · UKACM Autumn School 2026">
            <a:extLst xmlns:a="http://schemas.openxmlformats.org/drawingml/2006/main">
              <a:ext uri="{FF2B5EF4-FFF2-40B4-BE49-F238E27FC236}">
                <a16:creationId xmlns:a16="http://schemas.microsoft.com/office/drawing/2014/main" id="{EB2839B4-1409-485E-89CF-C55DDBB806FE}"/>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2">
            <a:extLst xmlns:a="http://schemas.openxmlformats.org/drawingml/2006/main">
              <a:ext uri="{FF2B5EF4-FFF2-40B4-BE49-F238E27FC236}">
                <a16:creationId xmlns:a16="http://schemas.microsoft.com/office/drawing/2014/main" id="{F42B2216-E3C9-4E79-9158-2C0915F99548}"/>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3b12218a8e04027"/>
          <a:stretch xmlns:a="http://schemas.openxmlformats.org/drawingml/2006/main"/>
        </p:blipFill>
        <p:spPr>
          <a:xfrm xmlns:a="http://schemas.openxmlformats.org/drawingml/2006/main">
            <a:off x="1219200" y="4226724"/>
            <a:ext cx="21812250" cy="1833552"/>
          </a:xfrm>
          <a:prstGeom xmlns:a="http://schemas.openxmlformats.org/drawingml/2006/main" prst="rect">
            <a:avLst/>
          </a:prstGeom>
        </p:spPr>
      </p:pic>
      <p:sp>
        <p:nvSpPr>
          <p:cNvPr id="5" name="Forward calculation">
            <a:extLst xmlns:a="http://schemas.openxmlformats.org/drawingml/2006/main">
              <a:ext uri="{FF2B5EF4-FFF2-40B4-BE49-F238E27FC236}">
                <a16:creationId xmlns:a16="http://schemas.microsoft.com/office/drawing/2014/main" id="{341CC551-8A0B-4C23-A8DC-DAB29AB0B578}"/>
              </a:ext>
            </a:extLst>
          </p:cNvPr>
          <p:cNvSpPr>
            <a:spLocks xmlns:a="http://schemas.openxmlformats.org/drawingml/2006/main" noGrp="1"/>
          </p:cNvSpPr>
          <p:nvPr/>
        </p:nvSpPr>
        <p:spPr>
          <a:xfrm xmlns:a="http://schemas.openxmlformats.org/drawingml/2006/main">
            <a:off x="1219200" y="78105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Forward solve</a:t>
            </a:r>
          </a:p>
        </p:txBody>
      </p:sp>
      <p:sp>
        <p:nvSpPr>
          <p:cNvPr id="6" name="Find a converged state satisfying the residual equation.">
            <a:extLst xmlns:a="http://schemas.openxmlformats.org/drawingml/2006/main">
              <a:ext uri="{FF2B5EF4-FFF2-40B4-BE49-F238E27FC236}">
                <a16:creationId xmlns:a16="http://schemas.microsoft.com/office/drawing/2014/main" id="{8867F152-8EC4-4523-97D8-C19E606121EB}"/>
              </a:ext>
            </a:extLst>
          </p:cNvPr>
          <p:cNvSpPr>
            <a:spLocks xmlns:a="http://schemas.openxmlformats.org/drawingml/2006/main" noGrp="1"/>
          </p:cNvSpPr>
          <p:nvPr/>
        </p:nvSpPr>
        <p:spPr>
          <a:xfrm xmlns:a="http://schemas.openxmlformats.org/drawingml/2006/main">
            <a:off x="8763000" y="78105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Find a converged state satisfying the residual equation.</a:t>
            </a:r>
          </a:p>
        </p:txBody>
      </p:sp>
      <p:sp>
        <p:nvSpPr>
          <p:cNvPr id="7" name="Backward calculation">
            <a:extLst xmlns:a="http://schemas.openxmlformats.org/drawingml/2006/main">
              <a:ext uri="{FF2B5EF4-FFF2-40B4-BE49-F238E27FC236}">
                <a16:creationId xmlns:a16="http://schemas.microsoft.com/office/drawing/2014/main" id="{542A34B5-C04E-42C7-830B-625AFBDDA090}"/>
              </a:ext>
            </a:extLst>
          </p:cNvPr>
          <p:cNvSpPr>
            <a:spLocks xmlns:a="http://schemas.openxmlformats.org/drawingml/2006/main" noGrp="1"/>
          </p:cNvSpPr>
          <p:nvPr/>
        </p:nvSpPr>
        <p:spPr>
          <a:xfrm xmlns:a="http://schemas.openxmlformats.org/drawingml/2006/main">
            <a:off x="1219200" y="10001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Adjoint solve</a:t>
            </a:r>
          </a:p>
        </p:txBody>
      </p:sp>
      <p:sp>
        <p:nvSpPr>
          <p:cNvPr id="8" name="Solve the transposed sensitivity system, then form the parameter deriv">
            <a:extLst xmlns:a="http://schemas.openxmlformats.org/drawingml/2006/main">
              <a:ext uri="{FF2B5EF4-FFF2-40B4-BE49-F238E27FC236}">
                <a16:creationId xmlns:a16="http://schemas.microsoft.com/office/drawing/2014/main" id="{8B700CE8-6DFB-47F5-AE61-29887B4BC285}"/>
              </a:ext>
            </a:extLst>
          </p:cNvPr>
          <p:cNvSpPr>
            <a:spLocks xmlns:a="http://schemas.openxmlformats.org/drawingml/2006/main" noGrp="1"/>
          </p:cNvSpPr>
          <p:nvPr/>
        </p:nvSpPr>
        <p:spPr>
          <a:xfrm xmlns:a="http://schemas.openxmlformats.org/drawingml/2006/main">
            <a:off x="8763000" y="10001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Solve the transposed sensitivity system, then form the parameter derivative.</a:t>
            </a:r>
          </a:p>
        </p:txBody>
      </p:sp>
      <p:sp>
        <p:nvSpPr>
          <p:cNvPr id="9" name="Requires a differentiable residual and a locally nonsingular state Jac">
            <a:extLst xmlns:a="http://schemas.openxmlformats.org/drawingml/2006/main">
              <a:ext uri="{FF2B5EF4-FFF2-40B4-BE49-F238E27FC236}">
                <a16:creationId xmlns:a16="http://schemas.microsoft.com/office/drawing/2014/main" id="{4DD89B93-0C1F-41EF-B15A-E90A04A9A0B6}"/>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Requires a differentiable residual and a locally nonsingular state Jacobian.</a:t>
            </a:r>
          </a:p>
        </p:txBody>
      </p:sp>
    </p:spTree>
    <p:extLst>
      <p:ext uri="{BB962C8B-B14F-4D97-AF65-F5344CB8AC3E}">
        <p14:creationId xmlns:p14="http://schemas.microsoft.com/office/powerpoint/2010/main" val="11483162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heck the derivative before using it">
            <a:extLst xmlns:a="http://schemas.openxmlformats.org/drawingml/2006/main">
              <a:ext uri="{FF2B5EF4-FFF2-40B4-BE49-F238E27FC236}">
                <a16:creationId xmlns:a16="http://schemas.microsoft.com/office/drawing/2014/main" id="{D1CD9A7F-82E6-4EFE-A0A1-6242047F2278}"/>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Check the derivative before using it</a:t>
            </a:r>
          </a:p>
        </p:txBody>
      </p:sp>
      <p:sp>
        <p:nvSpPr>
          <p:cNvPr id="2" name="CEMS-Lab · UKACM Autumn School 2026">
            <a:extLst xmlns:a="http://schemas.openxmlformats.org/drawingml/2006/main">
              <a:ext uri="{FF2B5EF4-FFF2-40B4-BE49-F238E27FC236}">
                <a16:creationId xmlns:a16="http://schemas.microsoft.com/office/drawing/2014/main" id="{21010FF6-8427-4551-80BD-0A8A581936B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3">
            <a:extLst xmlns:a="http://schemas.openxmlformats.org/drawingml/2006/main">
              <a:ext uri="{FF2B5EF4-FFF2-40B4-BE49-F238E27FC236}">
                <a16:creationId xmlns:a16="http://schemas.microsoft.com/office/drawing/2014/main" id="{F85F42EC-BAE0-4275-B15E-6B641177B42E}"/>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366119eb30e4394"/>
          <a:stretch xmlns:a="http://schemas.openxmlformats.org/drawingml/2006/main"/>
        </p:blipFill>
        <p:spPr>
          <a:xfrm xmlns:a="http://schemas.openxmlformats.org/drawingml/2006/main">
            <a:off x="6821926" y="3524250"/>
            <a:ext cx="6415799" cy="1714500"/>
          </a:xfrm>
          <a:prstGeom xmlns:a="http://schemas.openxmlformats.org/drawingml/2006/main" prst="rect">
            <a:avLst/>
          </a:prstGeom>
        </p:spPr>
      </p:pic>
      <p:sp>
        <p:nvSpPr>
          <p:cNvPr id="5" name="Automatic differentiation">
            <a:extLst xmlns:a="http://schemas.openxmlformats.org/drawingml/2006/main">
              <a:ext uri="{FF2B5EF4-FFF2-40B4-BE49-F238E27FC236}">
                <a16:creationId xmlns:a16="http://schemas.microsoft.com/office/drawing/2014/main" id="{9252C538-084B-4A1B-999F-92D77290926F}"/>
              </a:ext>
            </a:extLst>
          </p:cNvPr>
          <p:cNvSpPr>
            <a:spLocks xmlns:a="http://schemas.openxmlformats.org/drawingml/2006/main" noGrp="1"/>
          </p:cNvSpPr>
          <p:nvPr/>
        </p:nvSpPr>
        <p:spPr>
          <a:xfrm xmlns:a="http://schemas.openxmlformats.org/drawingml/2006/main">
            <a:off x="1219200" y="69056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Automatic differentiation</a:t>
            </a:r>
          </a:p>
        </p:txBody>
      </p:sp>
      <p:sp>
        <p:nvSpPr>
          <p:cNvPr id="6" name="Differentiate the implemented computation.">
            <a:extLst xmlns:a="http://schemas.openxmlformats.org/drawingml/2006/main">
              <a:ext uri="{FF2B5EF4-FFF2-40B4-BE49-F238E27FC236}">
                <a16:creationId xmlns:a16="http://schemas.microsoft.com/office/drawing/2014/main" id="{2B25D1C1-138D-490E-94A0-4D0428EF73BB}"/>
              </a:ext>
            </a:extLst>
          </p:cNvPr>
          <p:cNvSpPr>
            <a:spLocks xmlns:a="http://schemas.openxmlformats.org/drawingml/2006/main" noGrp="1"/>
          </p:cNvSpPr>
          <p:nvPr/>
        </p:nvSpPr>
        <p:spPr>
          <a:xfrm xmlns:a="http://schemas.openxmlformats.org/drawingml/2006/main">
            <a:off x="8763000" y="690562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Differentiate the implemented computation.</a:t>
            </a:r>
          </a:p>
        </p:txBody>
      </p:sp>
      <p:sp>
        <p:nvSpPr>
          <p:cNvPr id="7" name="Independent check">
            <a:extLst xmlns:a="http://schemas.openxmlformats.org/drawingml/2006/main">
              <a:ext uri="{FF2B5EF4-FFF2-40B4-BE49-F238E27FC236}">
                <a16:creationId xmlns:a16="http://schemas.microsoft.com/office/drawing/2014/main" id="{66012C87-B14A-4EB2-85B9-2E14CDF1DCAD}"/>
              </a:ext>
            </a:extLst>
          </p:cNvPr>
          <p:cNvSpPr>
            <a:spLocks xmlns:a="http://schemas.openxmlformats.org/drawingml/2006/main" noGrp="1"/>
          </p:cNvSpPr>
          <p:nvPr/>
        </p:nvSpPr>
        <p:spPr>
          <a:xfrm xmlns:a="http://schemas.openxmlformats.org/drawingml/2006/main">
            <a:off x="1219200" y="88106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Independent check</a:t>
            </a:r>
          </a:p>
        </p:txBody>
      </p:sp>
      <p:sp>
        <p:nvSpPr>
          <p:cNvPr id="8" name="Use an analytical expression or a hand-written adjoint.">
            <a:extLst xmlns:a="http://schemas.openxmlformats.org/drawingml/2006/main">
              <a:ext uri="{FF2B5EF4-FFF2-40B4-BE49-F238E27FC236}">
                <a16:creationId xmlns:a16="http://schemas.microsoft.com/office/drawing/2014/main" id="{6C345C2F-7ABB-4247-B2A1-5E6417F5D7B3}"/>
              </a:ext>
            </a:extLst>
          </p:cNvPr>
          <p:cNvSpPr>
            <a:spLocks xmlns:a="http://schemas.openxmlformats.org/drawingml/2006/main" noGrp="1"/>
          </p:cNvSpPr>
          <p:nvPr/>
        </p:nvSpPr>
        <p:spPr>
          <a:xfrm xmlns:a="http://schemas.openxmlformats.org/drawingml/2006/main">
            <a:off x="8763000" y="881062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Use an analytical expression or a hand-written adjoint.</a:t>
            </a:r>
          </a:p>
        </p:txBody>
      </p:sp>
      <p:sp>
        <p:nvSpPr>
          <p:cNvPr id="9" name="Finite differences">
            <a:extLst xmlns:a="http://schemas.openxmlformats.org/drawingml/2006/main">
              <a:ext uri="{FF2B5EF4-FFF2-40B4-BE49-F238E27FC236}">
                <a16:creationId xmlns:a16="http://schemas.microsoft.com/office/drawing/2014/main" id="{5B7ACB2B-A666-4962-A655-F2654ADA9C44}"/>
              </a:ext>
            </a:extLst>
          </p:cNvPr>
          <p:cNvSpPr>
            <a:spLocks xmlns:a="http://schemas.openxmlformats.org/drawingml/2006/main" noGrp="1"/>
          </p:cNvSpPr>
          <p:nvPr/>
        </p:nvSpPr>
        <p:spPr>
          <a:xfrm xmlns:a="http://schemas.openxmlformats.org/drawingml/2006/main">
            <a:off x="1219200" y="106680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Finite differences</a:t>
            </a:r>
          </a:p>
        </p:txBody>
      </p:sp>
      <p:sp>
        <p:nvSpPr>
          <p:cNvPr id="10" name="Compare several spacings at the same physical state.">
            <a:extLst xmlns:a="http://schemas.openxmlformats.org/drawingml/2006/main">
              <a:ext uri="{FF2B5EF4-FFF2-40B4-BE49-F238E27FC236}">
                <a16:creationId xmlns:a16="http://schemas.microsoft.com/office/drawing/2014/main" id="{358EF942-E298-40FB-BB90-F5C95D0D4D19}"/>
              </a:ext>
            </a:extLst>
          </p:cNvPr>
          <p:cNvSpPr>
            <a:spLocks xmlns:a="http://schemas.openxmlformats.org/drawingml/2006/main" noGrp="1"/>
          </p:cNvSpPr>
          <p:nvPr/>
        </p:nvSpPr>
        <p:spPr>
          <a:xfrm xmlns:a="http://schemas.openxmlformats.org/drawingml/2006/main">
            <a:off x="8763000" y="106680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Compare several spacings at the same physical state.</a:t>
            </a:r>
          </a:p>
        </p:txBody>
      </p:sp>
    </p:spTree>
    <p:extLst>
      <p:ext uri="{BB962C8B-B14F-4D97-AF65-F5344CB8AC3E}">
        <p14:creationId xmlns:p14="http://schemas.microsoft.com/office/powerpoint/2010/main" val="19602375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 small time-stepping notebook">
            <a:extLst xmlns:a="http://schemas.openxmlformats.org/drawingml/2006/main">
              <a:ext uri="{FF2B5EF4-FFF2-40B4-BE49-F238E27FC236}">
                <a16:creationId xmlns:a16="http://schemas.microsoft.com/office/drawing/2014/main" id="{5FCA3E9A-9B41-4287-BB15-0EC766C2132A}"/>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A small time-stepping notebook</a:t>
            </a:r>
          </a:p>
        </p:txBody>
      </p:sp>
      <p:sp>
        <p:nvSpPr>
          <p:cNvPr id="2" name="CEMS-Lab · UKACM Autumn School 2026">
            <a:extLst xmlns:a="http://schemas.openxmlformats.org/drawingml/2006/main">
              <a:ext uri="{FF2B5EF4-FFF2-40B4-BE49-F238E27FC236}">
                <a16:creationId xmlns:a16="http://schemas.microsoft.com/office/drawing/2014/main" id="{BEFFF652-A452-44C8-9C4F-9E895486D53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4">
            <a:extLst xmlns:a="http://schemas.openxmlformats.org/drawingml/2006/main">
              <a:ext uri="{FF2B5EF4-FFF2-40B4-BE49-F238E27FC236}">
                <a16:creationId xmlns:a16="http://schemas.microsoft.com/office/drawing/2014/main" id="{68DE7428-4265-4921-95B7-8FDC551AB730}"/>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681a9e8aa83479d"/>
          <a:stretch xmlns:a="http://schemas.openxmlformats.org/drawingml/2006/main"/>
        </p:blipFill>
        <p:spPr>
          <a:xfrm xmlns:a="http://schemas.openxmlformats.org/drawingml/2006/main">
            <a:off x="4525409" y="3619500"/>
            <a:ext cx="14533081" cy="17621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210c13c33541f8"/>
          <a:stretch xmlns:a="http://schemas.openxmlformats.org/drawingml/2006/main"/>
        </p:blipFill>
        <p:spPr>
          <a:xfrm xmlns:a="http://schemas.openxmlformats.org/drawingml/2006/main">
            <a:off x="1219200" y="6425893"/>
            <a:ext cx="21431250" cy="1245215"/>
          </a:xfrm>
          <a:prstGeom xmlns:a="http://schemas.openxmlformats.org/drawingml/2006/main" prst="rect">
            <a:avLst/>
          </a:prstGeom>
        </p:spPr>
      </p:pic>
      <p:sp>
        <p:nvSpPr>
          <p:cNvPr id="6" name="Plot a forward trajectory.&#10;Differentiate a terminal observation.&#10;Compa">
            <a:extLst xmlns:a="http://schemas.openxmlformats.org/drawingml/2006/main">
              <a:ext uri="{FF2B5EF4-FFF2-40B4-BE49-F238E27FC236}">
                <a16:creationId xmlns:a16="http://schemas.microsoft.com/office/drawing/2014/main" id="{8FC82F17-5149-4AC6-8E79-F48E84CF20DA}"/>
              </a:ext>
            </a:extLst>
          </p:cNvPr>
          <p:cNvSpPr>
            <a:spLocks xmlns:a="http://schemas.openxmlformats.org/drawingml/2006/main" noGrp="1"/>
          </p:cNvSpPr>
          <p:nvPr/>
        </p:nvSpPr>
        <p:spPr>
          <a:xfrm xmlns:a="http://schemas.openxmlformats.org/drawingml/2006/main">
            <a:off x="1219200" y="8620125"/>
            <a:ext cx="217170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7191C"/>
                </a:solidFill>
                <a:latin typeface="Arial"/>
                <a:ea typeface="Helvetica Neue"/>
                <a:cs typeface="Helvetica Neue"/>
              </a:defRPr>
            </a:pPr>
            <a:r>
              <a:rPr sz="3975" b="0">
                <a:solidFill>
                  <a:srgbClr val="17191C"/>
                </a:solidFill>
                <a:latin typeface="Arial"/>
                <a:ea typeface="Helvetica Neue"/>
                <a:cs typeface="Helvetica Neue"/>
              </a:rPr>
              <a:t>Plot a forward trajectory.</a:t>
            </a:r>
          </a:p>
          <a:p xmlns:a="http://schemas.openxmlformats.org/drawingml/2006/main">
            <a:pPr algn="l">
              <a:defRPr sz="3975" b="0">
                <a:solidFill>
                  <a:srgbClr val="17191C"/>
                </a:solidFill>
                <a:latin typeface="Arial"/>
                <a:ea typeface="Helvetica Neue"/>
                <a:cs typeface="Helvetica Neue"/>
              </a:defRPr>
            </a:pPr>
            <a:r>
              <a:rPr sz="3975" b="0">
                <a:solidFill>
                  <a:srgbClr val="17191C"/>
                </a:solidFill>
                <a:latin typeface="Arial"/>
                <a:ea typeface="Helvetica Neue"/>
                <a:cs typeface="Helvetica Neue"/>
              </a:rPr>
              <a:t>Differentiate a terminal observation.</a:t>
            </a:r>
          </a:p>
          <a:p xmlns:a="http://schemas.openxmlformats.org/drawingml/2006/main">
            <a:pPr algn="l">
              <a:defRPr sz="3975" b="0">
                <a:solidFill>
                  <a:srgbClr val="17191C"/>
                </a:solidFill>
                <a:latin typeface="Arial"/>
                <a:ea typeface="Helvetica Neue"/>
                <a:cs typeface="Helvetica Neue"/>
              </a:defRPr>
            </a:pPr>
            <a:r>
              <a:rPr sz="3975" b="0">
                <a:solidFill>
                  <a:srgbClr val="17191C"/>
                </a:solidFill>
                <a:latin typeface="Arial"/>
                <a:ea typeface="Helvetica Neue"/>
                <a:cs typeface="Helvetica Neue"/>
              </a:rPr>
              <a:t>Compare AD, manual reverse mode and finite differences.</a:t>
            </a:r>
          </a:p>
          <a:p xmlns:a="http://schemas.openxmlformats.org/drawingml/2006/main">
            <a:pPr algn="l">
              <a:defRPr sz="3975" b="0">
                <a:solidFill>
                  <a:srgbClr val="17191C"/>
                </a:solidFill>
                <a:latin typeface="Arial"/>
                <a:ea typeface="Helvetica Neue"/>
                <a:cs typeface="Helvetica Neue"/>
              </a:defRPr>
            </a:pPr>
            <a:r>
              <a:rPr sz="3975" b="0">
                <a:solidFill>
                  <a:srgbClr val="17191C"/>
                </a:solidFill>
                <a:latin typeface="Arial"/>
                <a:ea typeface="Helvetica Neue"/>
                <a:cs typeface="Helvetica Neue"/>
              </a:rPr>
              <a:t>Recover a synthetic parameter.</a:t>
            </a:r>
          </a:p>
        </p:txBody>
      </p:sp>
      <p:sp>
        <p:nvSpPr>
          <p:cNvPr id="7" name="One-dimensional diffusion provides a compact example of time-step diff">
            <a:extLst xmlns:a="http://schemas.openxmlformats.org/drawingml/2006/main">
              <a:ext uri="{FF2B5EF4-FFF2-40B4-BE49-F238E27FC236}">
                <a16:creationId xmlns:a16="http://schemas.microsoft.com/office/drawing/2014/main" id="{A35F1E6F-5ED2-492B-8814-4086972384BA}"/>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One-dimensional diffusion provides a compact example of time-step differentiation.</a:t>
            </a:r>
          </a:p>
        </p:txBody>
      </p:sp>
    </p:spTree>
    <p:extLst>
      <p:ext uri="{BB962C8B-B14F-4D97-AF65-F5344CB8AC3E}">
        <p14:creationId xmlns:p14="http://schemas.microsoft.com/office/powerpoint/2010/main" val="133841484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 mesh, a prescribed notch and boundary values">
            <a:extLst xmlns:a="http://schemas.openxmlformats.org/drawingml/2006/main">
              <a:ext uri="{FF2B5EF4-FFF2-40B4-BE49-F238E27FC236}">
                <a16:creationId xmlns:a16="http://schemas.microsoft.com/office/drawing/2014/main" id="{73F0D0EF-20A8-4E01-9E5B-D243D3543753}"/>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A mesh, a prescribed notch and boundary values</a:t>
            </a:r>
          </a:p>
        </p:txBody>
      </p:sp>
      <p:sp>
        <p:nvSpPr>
          <p:cNvPr id="2" name="CEMS-Lab · UKACM Autumn School 2026">
            <a:extLst xmlns:a="http://schemas.openxmlformats.org/drawingml/2006/main">
              <a:ext uri="{FF2B5EF4-FFF2-40B4-BE49-F238E27FC236}">
                <a16:creationId xmlns:a16="http://schemas.microsoft.com/office/drawing/2014/main" id="{970DB62D-F57A-457D-A820-599550656187}"/>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5">
            <a:extLst xmlns:a="http://schemas.openxmlformats.org/drawingml/2006/main">
              <a:ext uri="{FF2B5EF4-FFF2-40B4-BE49-F238E27FC236}">
                <a16:creationId xmlns:a16="http://schemas.microsoft.com/office/drawing/2014/main" id="{C301B971-2C04-46AC-A2F0-5EB9A4F4D114}"/>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e5f25499b3a4b20"/>
          <a:stretch xmlns:a="http://schemas.openxmlformats.org/drawingml/2006/main"/>
        </p:blipFill>
        <p:spPr>
          <a:xfrm xmlns:a="http://schemas.openxmlformats.org/drawingml/2006/main">
            <a:off x="2884311" y="3571875"/>
            <a:ext cx="12100278" cy="7143750"/>
          </a:xfrm>
          <a:prstGeom xmlns:a="http://schemas.openxmlformats.org/drawingml/2006/main" prst="rect">
            <a:avLst/>
          </a:prstGeom>
        </p:spPr>
      </p:pic>
      <p:sp>
        <p:nvSpPr>
          <p:cNvPr id="5" name="Represent the notch by&#10;prescribing fully damaged&#10;nodes on the intact m">
            <a:extLst xmlns:a="http://schemas.openxmlformats.org/drawingml/2006/main">
              <a:ext uri="{FF2B5EF4-FFF2-40B4-BE49-F238E27FC236}">
                <a16:creationId xmlns:a16="http://schemas.microsoft.com/office/drawing/2014/main" id="{20DB2A11-74E1-4635-AE30-E6AAD6DC2334}"/>
              </a:ext>
            </a:extLst>
          </p:cNvPr>
          <p:cNvSpPr>
            <a:spLocks xmlns:a="http://schemas.openxmlformats.org/drawingml/2006/main" noGrp="1"/>
          </p:cNvSpPr>
          <p:nvPr/>
        </p:nvSpPr>
        <p:spPr>
          <a:xfrm xmlns:a="http://schemas.openxmlformats.org/drawingml/2006/main">
            <a:off x="17430750" y="4333875"/>
            <a:ext cx="5715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B85C20"/>
                </a:solidFill>
                <a:latin typeface="Arial"/>
                <a:ea typeface="Helvetica Neue"/>
                <a:cs typeface="Helvetica Neue"/>
              </a:defRPr>
            </a:pPr>
            <a:r>
              <a:rPr sz="3750" b="0">
                <a:solidFill>
                  <a:srgbClr val="B85C20"/>
                </a:solidFill>
                <a:latin typeface="Arial"/>
                <a:ea typeface="Helvetica Neue"/>
                <a:cs typeface="Helvetica Neue"/>
              </a:rPr>
              <a:t>Represent the notch by</a:t>
            </a:r>
          </a:p>
          <a:p xmlns:a="http://schemas.openxmlformats.org/drawingml/2006/main">
            <a:pPr algn="l">
              <a:defRPr sz="3750" b="0">
                <a:solidFill>
                  <a:srgbClr val="B85C20"/>
                </a:solidFill>
                <a:latin typeface="Arial"/>
                <a:ea typeface="Helvetica Neue"/>
                <a:cs typeface="Helvetica Neue"/>
              </a:defRPr>
            </a:pPr>
            <a:r>
              <a:rPr sz="3750" b="0">
                <a:solidFill>
                  <a:srgbClr val="B85C20"/>
                </a:solidFill>
                <a:latin typeface="Arial"/>
                <a:ea typeface="Helvetica Neue"/>
                <a:cs typeface="Helvetica Neue"/>
              </a:rPr>
              <a:t>prescribing fully damaged</a:t>
            </a:r>
          </a:p>
          <a:p xmlns:a="http://schemas.openxmlformats.org/drawingml/2006/main">
            <a:pPr algn="l">
              <a:defRPr sz="3750" b="0">
                <a:solidFill>
                  <a:srgbClr val="B85C20"/>
                </a:solidFill>
                <a:latin typeface="Arial"/>
                <a:ea typeface="Helvetica Neue"/>
                <a:cs typeface="Helvetica Neue"/>
              </a:defRPr>
            </a:pPr>
            <a:r>
              <a:rPr sz="3750" b="0">
                <a:solidFill>
                  <a:srgbClr val="B85C20"/>
                </a:solidFill>
                <a:latin typeface="Arial"/>
                <a:ea typeface="Helvetica Neue"/>
                <a:cs typeface="Helvetica Neue"/>
              </a:rPr>
              <a:t>nodes on the intact mesh.</a:t>
            </a:r>
          </a:p>
        </p:txBody>
      </p:sp>
      <p:sp>
        <p:nvSpPr>
          <p:cNvPr id="6" name="Inspect every boundary set&#10;and displacement component&#10;before solving.">
            <a:extLst xmlns:a="http://schemas.openxmlformats.org/drawingml/2006/main">
              <a:ext uri="{FF2B5EF4-FFF2-40B4-BE49-F238E27FC236}">
                <a16:creationId xmlns:a16="http://schemas.microsoft.com/office/drawing/2014/main" id="{9E6F5BAA-C195-4775-8DE1-F9994805BA1F}"/>
              </a:ext>
            </a:extLst>
          </p:cNvPr>
          <p:cNvSpPr>
            <a:spLocks xmlns:a="http://schemas.openxmlformats.org/drawingml/2006/main" noGrp="1"/>
          </p:cNvSpPr>
          <p:nvPr/>
        </p:nvSpPr>
        <p:spPr>
          <a:xfrm xmlns:a="http://schemas.openxmlformats.org/drawingml/2006/main">
            <a:off x="17430750" y="876300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7191C"/>
                </a:solidFill>
                <a:latin typeface="Arial"/>
                <a:ea typeface="Helvetica Neue"/>
                <a:cs typeface="Helvetica Neue"/>
              </a:defRPr>
            </a:pPr>
            <a:r>
              <a:rPr sz="3600" b="0">
                <a:solidFill>
                  <a:srgbClr val="17191C"/>
                </a:solidFill>
                <a:latin typeface="Arial"/>
                <a:ea typeface="Helvetica Neue"/>
                <a:cs typeface="Helvetica Neue"/>
              </a:rPr>
              <a:t>Inspect every boundary set</a:t>
            </a:r>
          </a:p>
          <a:p xmlns:a="http://schemas.openxmlformats.org/drawingml/2006/main">
            <a:pPr algn="l">
              <a:defRPr sz="3600" b="0">
                <a:solidFill>
                  <a:srgbClr val="17191C"/>
                </a:solidFill>
                <a:latin typeface="Arial"/>
                <a:ea typeface="Helvetica Neue"/>
                <a:cs typeface="Helvetica Neue"/>
              </a:defRPr>
            </a:pPr>
            <a:r>
              <a:rPr sz="3600" b="0">
                <a:solidFill>
                  <a:srgbClr val="17191C"/>
                </a:solidFill>
                <a:latin typeface="Arial"/>
                <a:ea typeface="Helvetica Neue"/>
                <a:cs typeface="Helvetica Neue"/>
              </a:rPr>
              <a:t>and displacement component</a:t>
            </a:r>
          </a:p>
          <a:p xmlns:a="http://schemas.openxmlformats.org/drawingml/2006/main">
            <a:pPr algn="l">
              <a:defRPr sz="3600" b="0">
                <a:solidFill>
                  <a:srgbClr val="17191C"/>
                </a:solidFill>
                <a:latin typeface="Arial"/>
                <a:ea typeface="Helvetica Neue"/>
                <a:cs typeface="Helvetica Neue"/>
              </a:defRPr>
            </a:pPr>
            <a:r>
              <a:rPr sz="3600" b="0">
                <a:solidFill>
                  <a:srgbClr val="17191C"/>
                </a:solidFill>
                <a:latin typeface="Arial"/>
                <a:ea typeface="Helvetica Neue"/>
                <a:cs typeface="Helvetica Neue"/>
              </a:rPr>
              <a:t>before solving.</a:t>
            </a:r>
          </a:p>
        </p:txBody>
      </p:sp>
      <p:sp>
        <p:nvSpPr>
          <p:cNvPr id="7" name="Diagram uses a coarse mesh; the actual quick run has 8,385 nodes and 1">
            <a:extLst xmlns:a="http://schemas.openxmlformats.org/drawingml/2006/main">
              <a:ext uri="{FF2B5EF4-FFF2-40B4-BE49-F238E27FC236}">
                <a16:creationId xmlns:a16="http://schemas.microsoft.com/office/drawing/2014/main" id="{208CEF9A-8025-48B8-B22B-1D85DC3E83C5}"/>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Diagram uses a coarse mesh; the actual quick run has 8,385 nodes and 16,384 triangles.</a:t>
            </a:r>
          </a:p>
        </p:txBody>
      </p:sp>
    </p:spTree>
    <p:extLst>
      <p:ext uri="{BB962C8B-B14F-4D97-AF65-F5344CB8AC3E}">
        <p14:creationId xmlns:p14="http://schemas.microsoft.com/office/powerpoint/2010/main" val="16488421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ad the field as well as the response">
            <a:extLst xmlns:a="http://schemas.openxmlformats.org/drawingml/2006/main">
              <a:ext uri="{FF2B5EF4-FFF2-40B4-BE49-F238E27FC236}">
                <a16:creationId xmlns:a16="http://schemas.microsoft.com/office/drawing/2014/main" id="{ED7686AB-DEF0-4978-8175-DEE6990A4CE7}"/>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Read the field as well as the response</a:t>
            </a:r>
          </a:p>
        </p:txBody>
      </p:sp>
      <p:sp>
        <p:nvSpPr>
          <p:cNvPr id="2" name="CEMS-Lab · UKACM Autumn School 2026">
            <a:extLst xmlns:a="http://schemas.openxmlformats.org/drawingml/2006/main">
              <a:ext uri="{FF2B5EF4-FFF2-40B4-BE49-F238E27FC236}">
                <a16:creationId xmlns:a16="http://schemas.microsoft.com/office/drawing/2014/main" id="{F79D6151-26A4-49EE-ACF7-F4DCF8AF24E0}"/>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6">
            <a:extLst xmlns:a="http://schemas.openxmlformats.org/drawingml/2006/main">
              <a:ext uri="{FF2B5EF4-FFF2-40B4-BE49-F238E27FC236}">
                <a16:creationId xmlns:a16="http://schemas.microsoft.com/office/drawing/2014/main" id="{1176040A-A8FD-48A0-99C3-4C23025D74C2}"/>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4af85646304bf0"/>
          <a:stretch xmlns:a="http://schemas.openxmlformats.org/drawingml/2006/main"/>
        </p:blipFill>
        <p:spPr>
          <a:xfrm xmlns:a="http://schemas.openxmlformats.org/drawingml/2006/main">
            <a:off x="1219200" y="5022768"/>
            <a:ext cx="21945600" cy="4813465"/>
          </a:xfrm>
          <a:prstGeom xmlns:a="http://schemas.openxmlformats.org/drawingml/2006/main" prst="rect">
            <a:avLst/>
          </a:prstGeom>
        </p:spPr>
      </p:pic>
      <p:sp>
        <p:nvSpPr>
          <p:cNvPr id="5" name="Separate the prescribed seed, its diffuse profile and subsequent damag">
            <a:extLst xmlns:a="http://schemas.openxmlformats.org/drawingml/2006/main">
              <a:ext uri="{FF2B5EF4-FFF2-40B4-BE49-F238E27FC236}">
                <a16:creationId xmlns:a16="http://schemas.microsoft.com/office/drawing/2014/main" id="{D9A2EA0E-26AC-42FE-994F-6F80C253CC8D}"/>
              </a:ext>
            </a:extLst>
          </p:cNvPr>
          <p:cNvSpPr>
            <a:spLocks xmlns:a="http://schemas.openxmlformats.org/drawingml/2006/main" noGrp="1"/>
          </p:cNvSpPr>
          <p:nvPr/>
        </p:nvSpPr>
        <p:spPr>
          <a:xfrm xmlns:a="http://schemas.openxmlformats.org/drawingml/2006/main">
            <a:off x="1219200" y="10572750"/>
            <a:ext cx="2152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17191C"/>
                </a:solidFill>
                <a:latin typeface="Arial"/>
                <a:ea typeface="Helvetica Neue"/>
                <a:cs typeface="Helvetica Neue"/>
              </a:defRPr>
            </a:pPr>
            <a:r>
              <a:rPr sz="3825" b="0">
                <a:solidFill>
                  <a:srgbClr val="17191C"/>
                </a:solidFill>
                <a:latin typeface="Arial"/>
                <a:ea typeface="Helvetica Neue"/>
                <a:cs typeface="Helvetica Neue"/>
              </a:rPr>
              <a:t>Separate the prescribed seed, its diffuse profile and subsequent damage change.</a:t>
            </a:r>
          </a:p>
        </p:txBody>
      </p:sp>
      <p:sp>
        <p:nvSpPr>
          <p:cNvPr id="6" name="Quasistatic AT2 response: initial damage, diffuse regularisation and l">
            <a:extLst xmlns:a="http://schemas.openxmlformats.org/drawingml/2006/main">
              <a:ext uri="{FF2B5EF4-FFF2-40B4-BE49-F238E27FC236}">
                <a16:creationId xmlns:a16="http://schemas.microsoft.com/office/drawing/2014/main" id="{A6A489A1-E0FF-4714-B7E9-C650997F7F83}"/>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Quasistatic AT2 response: initial damage, diffuse regularisation and loading-induced change.</a:t>
            </a:r>
          </a:p>
        </p:txBody>
      </p:sp>
    </p:spTree>
    <p:extLst>
      <p:ext uri="{BB962C8B-B14F-4D97-AF65-F5344CB8AC3E}">
        <p14:creationId xmlns:p14="http://schemas.microsoft.com/office/powerpoint/2010/main" val="1483937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eep a reproducible numerical experiment">
            <a:extLst xmlns:a="http://schemas.openxmlformats.org/drawingml/2006/main">
              <a:ext uri="{FF2B5EF4-FFF2-40B4-BE49-F238E27FC236}">
                <a16:creationId xmlns:a16="http://schemas.microsoft.com/office/drawing/2014/main" id="{B6838E81-6B92-4176-8012-5EF504658CA2}"/>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Keep a reproducible numerical experiment</a:t>
            </a:r>
          </a:p>
        </p:txBody>
      </p:sp>
      <p:sp>
        <p:nvSpPr>
          <p:cNvPr id="2" name="CEMS-Lab · UKACM Autumn School 2026">
            <a:extLst xmlns:a="http://schemas.openxmlformats.org/drawingml/2006/main">
              <a:ext uri="{FF2B5EF4-FFF2-40B4-BE49-F238E27FC236}">
                <a16:creationId xmlns:a16="http://schemas.microsoft.com/office/drawing/2014/main" id="{AD60E79E-10D5-4030-9860-591142B08FC1}"/>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7">
            <a:extLst xmlns:a="http://schemas.openxmlformats.org/drawingml/2006/main">
              <a:ext uri="{FF2B5EF4-FFF2-40B4-BE49-F238E27FC236}">
                <a16:creationId xmlns:a16="http://schemas.microsoft.com/office/drawing/2014/main" id="{249C92FC-75DC-492D-8637-3219C047FF45}"/>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22</a:t>
            </a:r>
          </a:p>
        </p:txBody>
      </p:sp>
      <p:sp>
        <p:nvSpPr>
          <p:cNvPr id="4" name="Input specification">
            <a:extLst xmlns:a="http://schemas.openxmlformats.org/drawingml/2006/main">
              <a:ext uri="{FF2B5EF4-FFF2-40B4-BE49-F238E27FC236}">
                <a16:creationId xmlns:a16="http://schemas.microsoft.com/office/drawing/2014/main" id="{BA25BA84-3E3C-4B7F-BD22-39BFC5F1BA6B}"/>
              </a:ext>
            </a:extLst>
          </p:cNvPr>
          <p:cNvSpPr>
            <a:spLocks xmlns:a="http://schemas.openxmlformats.org/drawingml/2006/main" noGrp="1"/>
          </p:cNvSpPr>
          <p:nvPr/>
        </p:nvSpPr>
        <p:spPr>
          <a:xfrm xmlns:a="http://schemas.openxmlformats.org/drawingml/2006/main">
            <a:off x="1219200" y="38576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Input specification</a:t>
            </a:r>
          </a:p>
        </p:txBody>
      </p:sp>
      <p:sp>
        <p:nvSpPr>
          <p:cNvPr id="5" name="Geometry, connectivity, materials, boundary values and loading.">
            <a:extLst xmlns:a="http://schemas.openxmlformats.org/drawingml/2006/main">
              <a:ext uri="{FF2B5EF4-FFF2-40B4-BE49-F238E27FC236}">
                <a16:creationId xmlns:a16="http://schemas.microsoft.com/office/drawing/2014/main" id="{42FE81E2-27F2-4783-A485-B9F03E1C816F}"/>
              </a:ext>
            </a:extLst>
          </p:cNvPr>
          <p:cNvSpPr>
            <a:spLocks xmlns:a="http://schemas.openxmlformats.org/drawingml/2006/main" noGrp="1"/>
          </p:cNvSpPr>
          <p:nvPr/>
        </p:nvSpPr>
        <p:spPr>
          <a:xfrm xmlns:a="http://schemas.openxmlformats.org/drawingml/2006/main">
            <a:off x="8763000" y="385762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Geometry, connectivity, materials, boundary values and loading.</a:t>
            </a:r>
          </a:p>
        </p:txBody>
      </p:sp>
      <p:sp>
        <p:nvSpPr>
          <p:cNvPr id="6" name="Numerical specification">
            <a:extLst xmlns:a="http://schemas.openxmlformats.org/drawingml/2006/main">
              <a:ext uri="{FF2B5EF4-FFF2-40B4-BE49-F238E27FC236}">
                <a16:creationId xmlns:a16="http://schemas.microsoft.com/office/drawing/2014/main" id="{720F701A-24CD-4870-8D1D-CD82157F4D4A}"/>
              </a:ext>
            </a:extLst>
          </p:cNvPr>
          <p:cNvSpPr>
            <a:spLocks xmlns:a="http://schemas.openxmlformats.org/drawingml/2006/main" noGrp="1"/>
          </p:cNvSpPr>
          <p:nvPr/>
        </p:nvSpPr>
        <p:spPr>
          <a:xfrm xmlns:a="http://schemas.openxmlformats.org/drawingml/2006/main">
            <a:off x="1219200" y="6191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Numerical specification</a:t>
            </a:r>
          </a:p>
        </p:txBody>
      </p:sp>
      <p:sp>
        <p:nvSpPr>
          <p:cNvPr id="7" name="Algorithm, precision, tolerances and failure conditions.">
            <a:extLst xmlns:a="http://schemas.openxmlformats.org/drawingml/2006/main">
              <a:ext uri="{FF2B5EF4-FFF2-40B4-BE49-F238E27FC236}">
                <a16:creationId xmlns:a16="http://schemas.microsoft.com/office/drawing/2014/main" id="{920FC642-2C3D-4AC8-B00F-6FC322D73CA1}"/>
              </a:ext>
            </a:extLst>
          </p:cNvPr>
          <p:cNvSpPr>
            <a:spLocks xmlns:a="http://schemas.openxmlformats.org/drawingml/2006/main" noGrp="1"/>
          </p:cNvSpPr>
          <p:nvPr/>
        </p:nvSpPr>
        <p:spPr>
          <a:xfrm xmlns:a="http://schemas.openxmlformats.org/drawingml/2006/main">
            <a:off x="8763000" y="6191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Algorithm, precision, tolerances and failure conditions.</a:t>
            </a:r>
          </a:p>
        </p:txBody>
      </p:sp>
      <p:sp>
        <p:nvSpPr>
          <p:cNvPr id="8" name="Saved evidence">
            <a:extLst xmlns:a="http://schemas.openxmlformats.org/drawingml/2006/main">
              <a:ext uri="{FF2B5EF4-FFF2-40B4-BE49-F238E27FC236}">
                <a16:creationId xmlns:a16="http://schemas.microsoft.com/office/drawing/2014/main" id="{647A7E77-2CC8-4EAC-956A-C10EA72339D8}"/>
              </a:ext>
            </a:extLst>
          </p:cNvPr>
          <p:cNvSpPr>
            <a:spLocks xmlns:a="http://schemas.openxmlformats.org/drawingml/2006/main" noGrp="1"/>
          </p:cNvSpPr>
          <p:nvPr/>
        </p:nvSpPr>
        <p:spPr>
          <a:xfrm xmlns:a="http://schemas.openxmlformats.org/drawingml/2006/main">
            <a:off x="1219200" y="85248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Arial"/>
                <a:ea typeface="Helvetica Neue"/>
                <a:cs typeface="Helvetica Neue"/>
              </a:defRPr>
            </a:pPr>
            <a:r>
              <a:rPr sz="4350" b="1">
                <a:solidFill>
                  <a:srgbClr val="245A81"/>
                </a:solidFill>
                <a:latin typeface="Arial"/>
                <a:ea typeface="Helvetica Neue"/>
                <a:cs typeface="Helvetica Neue"/>
              </a:rPr>
              <a:t>Saved evidence</a:t>
            </a:r>
          </a:p>
        </p:txBody>
      </p:sp>
      <p:sp>
        <p:nvSpPr>
          <p:cNvPr id="9" name="Field arrays, response history, configuration and source revision.">
            <a:extLst xmlns:a="http://schemas.openxmlformats.org/drawingml/2006/main">
              <a:ext uri="{FF2B5EF4-FFF2-40B4-BE49-F238E27FC236}">
                <a16:creationId xmlns:a16="http://schemas.microsoft.com/office/drawing/2014/main" id="{7454D798-0CFC-41ED-8FCD-71FCCF780C59}"/>
              </a:ext>
            </a:extLst>
          </p:cNvPr>
          <p:cNvSpPr>
            <a:spLocks xmlns:a="http://schemas.openxmlformats.org/drawingml/2006/main" noGrp="1"/>
          </p:cNvSpPr>
          <p:nvPr/>
        </p:nvSpPr>
        <p:spPr>
          <a:xfrm xmlns:a="http://schemas.openxmlformats.org/drawingml/2006/main">
            <a:off x="8763000" y="852487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Arial"/>
                <a:ea typeface="Helvetica Neue"/>
                <a:cs typeface="Helvetica Neue"/>
              </a:defRPr>
            </a:pPr>
            <a:r>
              <a:rPr sz="4050" b="0">
                <a:solidFill>
                  <a:srgbClr val="17191C"/>
                </a:solidFill>
                <a:latin typeface="Arial"/>
                <a:ea typeface="Helvetica Neue"/>
                <a:cs typeface="Helvetica Neue"/>
              </a:rPr>
              <a:t>Field arrays, response history, configuration and source revision.</a:t>
            </a:r>
          </a:p>
        </p:txBody>
      </p:sp>
      <p:sp>
        <p:nvSpPr>
          <p:cNvPr id="10" name="Reload the saved data into fresh variables, then reproduce a plot.">
            <a:extLst xmlns:a="http://schemas.openxmlformats.org/drawingml/2006/main">
              <a:ext uri="{FF2B5EF4-FFF2-40B4-BE49-F238E27FC236}">
                <a16:creationId xmlns:a16="http://schemas.microsoft.com/office/drawing/2014/main" id="{A08FAE94-46D3-49CD-931D-01C37053A9CE}"/>
              </a:ext>
            </a:extLst>
          </p:cNvPr>
          <p:cNvSpPr>
            <a:spLocks xmlns:a="http://schemas.openxmlformats.org/drawingml/2006/main" noGrp="1"/>
          </p:cNvSpPr>
          <p:nvPr/>
        </p:nvSpPr>
        <p:spPr>
          <a:xfrm xmlns:a="http://schemas.openxmlformats.org/drawingml/2006/main">
            <a:off x="1219200" y="11001375"/>
            <a:ext cx="2152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B85C20"/>
                </a:solidFill>
                <a:latin typeface="Arial"/>
                <a:ea typeface="Helvetica Neue"/>
                <a:cs typeface="Helvetica Neue"/>
              </a:defRPr>
            </a:pPr>
            <a:r>
              <a:rPr sz="4050" b="0">
                <a:solidFill>
                  <a:srgbClr val="B85C20"/>
                </a:solidFill>
                <a:latin typeface="Arial"/>
                <a:ea typeface="Helvetica Neue"/>
                <a:cs typeface="Helvetica Neue"/>
              </a:rPr>
              <a:t>Reload the saved data into fresh variables, then reproduce a plot.</a:t>
            </a:r>
          </a:p>
        </p:txBody>
      </p:sp>
    </p:spTree>
    <p:extLst>
      <p:ext uri="{BB962C8B-B14F-4D97-AF65-F5344CB8AC3E}">
        <p14:creationId xmlns:p14="http://schemas.microsoft.com/office/powerpoint/2010/main" val="14936190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practical learning cycle">
            <a:extLst xmlns:a="http://schemas.openxmlformats.org/drawingml/2006/main">
              <a:ext uri="{FF2B5EF4-FFF2-40B4-BE49-F238E27FC236}">
                <a16:creationId xmlns:a16="http://schemas.microsoft.com/office/drawing/2014/main" id="{28DD7F4A-047E-4D25-BFFA-7AEF63915CCC}"/>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Arial"/>
                <a:ea typeface="Helvetica Neue"/>
                <a:cs typeface="Helvetica Neue"/>
              </a:defRPr>
            </a:pPr>
            <a:r>
              <a:rPr sz="6600" b="1">
                <a:solidFill>
                  <a:srgbClr val="245A81"/>
                </a:solidFill>
                <a:latin typeface="Arial"/>
                <a:ea typeface="Helvetica Neue"/>
                <a:cs typeface="Helvetica Neue"/>
              </a:rPr>
              <a:t>The practical learning cycle</a:t>
            </a:r>
          </a:p>
        </p:txBody>
      </p:sp>
      <p:sp>
        <p:nvSpPr>
          <p:cNvPr id="2" name="CEMS-Lab · UKACM Autumn School 2026">
            <a:extLst xmlns:a="http://schemas.openxmlformats.org/drawingml/2006/main">
              <a:ext uri="{FF2B5EF4-FFF2-40B4-BE49-F238E27FC236}">
                <a16:creationId xmlns:a16="http://schemas.microsoft.com/office/drawing/2014/main" id="{41D58A5F-3F69-4B7A-9210-3797E7990FBA}"/>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Arial"/>
                <a:ea typeface="Helvetica Neue"/>
                <a:cs typeface="Helvetica Neue"/>
              </a:defRPr>
            </a:pPr>
            <a:r>
              <a:rPr sz="1800" b="0">
                <a:solidFill>
                  <a:srgbClr val="525D67"/>
                </a:solidFill>
                <a:latin typeface="Arial"/>
                <a:ea typeface="Helvetica Neue"/>
                <a:cs typeface="Helvetica Neue"/>
              </a:rPr>
              <a:t>CEMS-Lab · UKACM Autumn School 2026</a:t>
            </a:r>
          </a:p>
        </p:txBody>
      </p:sp>
      <p:sp>
        <p:nvSpPr>
          <p:cNvPr id="3" name="18">
            <a:extLst xmlns:a="http://schemas.openxmlformats.org/drawingml/2006/main">
              <a:ext uri="{FF2B5EF4-FFF2-40B4-BE49-F238E27FC236}">
                <a16:creationId xmlns:a16="http://schemas.microsoft.com/office/drawing/2014/main" id="{ACA3E646-9BB1-4D83-817D-8944B3E7509E}"/>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23</a:t>
            </a:r>
          </a:p>
        </p:txBody>
      </p:sp>
      <p:sp>
        <p:nvSpPr>
          <p:cNvPr id="4" name="Predict">
            <a:extLst xmlns:a="http://schemas.openxmlformats.org/drawingml/2006/main">
              <a:ext uri="{FF2B5EF4-FFF2-40B4-BE49-F238E27FC236}">
                <a16:creationId xmlns:a16="http://schemas.microsoft.com/office/drawing/2014/main" id="{12094BD4-47A9-4FE3-8038-46D1BEC8E6DF}"/>
              </a:ext>
            </a:extLst>
          </p:cNvPr>
          <p:cNvSpPr>
            <a:spLocks xmlns:a="http://schemas.openxmlformats.org/drawingml/2006/main" noGrp="1"/>
          </p:cNvSpPr>
          <p:nvPr/>
        </p:nvSpPr>
        <p:spPr>
          <a:xfrm xmlns:a="http://schemas.openxmlformats.org/drawingml/2006/main">
            <a:off x="1219200" y="3857625"/>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245A81"/>
                </a:solidFill>
                <a:latin typeface="Arial"/>
                <a:ea typeface="Helvetica Neue"/>
                <a:cs typeface="Helvetica Neue"/>
              </a:defRPr>
            </a:pPr>
            <a:r>
              <a:rPr sz="5550" b="1">
                <a:solidFill>
                  <a:srgbClr val="245A81"/>
                </a:solidFill>
                <a:latin typeface="Arial"/>
                <a:ea typeface="Helvetica Neue"/>
                <a:cs typeface="Helvetica Neue"/>
              </a:rPr>
              <a:t>Predict</a:t>
            </a:r>
          </a:p>
        </p:txBody>
      </p:sp>
      <p:sp>
        <p:nvSpPr>
          <p:cNvPr id="5" name="What should change, and in which direction?">
            <a:extLst xmlns:a="http://schemas.openxmlformats.org/drawingml/2006/main">
              <a:ext uri="{FF2B5EF4-FFF2-40B4-BE49-F238E27FC236}">
                <a16:creationId xmlns:a16="http://schemas.microsoft.com/office/drawing/2014/main" id="{E7D0E01B-0986-4473-9C87-E610EA55CB5F}"/>
              </a:ext>
            </a:extLst>
          </p:cNvPr>
          <p:cNvSpPr>
            <a:spLocks xmlns:a="http://schemas.openxmlformats.org/drawingml/2006/main" noGrp="1"/>
          </p:cNvSpPr>
          <p:nvPr/>
        </p:nvSpPr>
        <p:spPr>
          <a:xfrm xmlns:a="http://schemas.openxmlformats.org/drawingml/2006/main">
            <a:off x="9144000" y="3905250"/>
            <a:ext cx="1362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Arial"/>
                <a:ea typeface="Helvetica Neue"/>
                <a:cs typeface="Helvetica Neue"/>
              </a:defRPr>
            </a:pPr>
            <a:r>
              <a:rPr sz="4350" b="0">
                <a:solidFill>
                  <a:srgbClr val="17191C"/>
                </a:solidFill>
                <a:latin typeface="Arial"/>
                <a:ea typeface="Helvetica Neue"/>
                <a:cs typeface="Helvetica Neue"/>
              </a:rPr>
              <a:t>What should change, and in which direction?</a:t>
            </a:r>
          </a:p>
        </p:txBody>
      </p:sp>
      <p:sp>
        <p:nvSpPr>
          <p:cNvPr id="6" name="Compute">
            <a:extLst xmlns:a="http://schemas.openxmlformats.org/drawingml/2006/main">
              <a:ext uri="{FF2B5EF4-FFF2-40B4-BE49-F238E27FC236}">
                <a16:creationId xmlns:a16="http://schemas.microsoft.com/office/drawing/2014/main" id="{C56D6EC6-AA6B-41DA-9573-91593E284ADD}"/>
              </a:ext>
            </a:extLst>
          </p:cNvPr>
          <p:cNvSpPr>
            <a:spLocks xmlns:a="http://schemas.openxmlformats.org/drawingml/2006/main" noGrp="1"/>
          </p:cNvSpPr>
          <p:nvPr/>
        </p:nvSpPr>
        <p:spPr>
          <a:xfrm xmlns:a="http://schemas.openxmlformats.org/drawingml/2006/main">
            <a:off x="1219200" y="6619875"/>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245A81"/>
                </a:solidFill>
                <a:latin typeface="Arial"/>
                <a:ea typeface="Helvetica Neue"/>
                <a:cs typeface="Helvetica Neue"/>
              </a:defRPr>
            </a:pPr>
            <a:r>
              <a:rPr sz="5550" b="1">
                <a:solidFill>
                  <a:srgbClr val="245A81"/>
                </a:solidFill>
                <a:latin typeface="Arial"/>
                <a:ea typeface="Helvetica Neue"/>
                <a:cs typeface="Helvetica Neue"/>
              </a:rPr>
              <a:t>Compute</a:t>
            </a:r>
          </a:p>
        </p:txBody>
      </p:sp>
      <p:sp>
        <p:nvSpPr>
          <p:cNvPr id="7" name="Run one short, inspectable calculation.">
            <a:extLst xmlns:a="http://schemas.openxmlformats.org/drawingml/2006/main">
              <a:ext uri="{FF2B5EF4-FFF2-40B4-BE49-F238E27FC236}">
                <a16:creationId xmlns:a16="http://schemas.microsoft.com/office/drawing/2014/main" id="{DB419C54-57BF-49F9-AAEE-53DFE29086C8}"/>
              </a:ext>
            </a:extLst>
          </p:cNvPr>
          <p:cNvSpPr>
            <a:spLocks xmlns:a="http://schemas.openxmlformats.org/drawingml/2006/main" noGrp="1"/>
          </p:cNvSpPr>
          <p:nvPr/>
        </p:nvSpPr>
        <p:spPr>
          <a:xfrm xmlns:a="http://schemas.openxmlformats.org/drawingml/2006/main">
            <a:off x="9144000" y="6667500"/>
            <a:ext cx="1362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Arial"/>
                <a:ea typeface="Helvetica Neue"/>
                <a:cs typeface="Helvetica Neue"/>
              </a:defRPr>
            </a:pPr>
            <a:r>
              <a:rPr sz="4350" b="0">
                <a:solidFill>
                  <a:srgbClr val="17191C"/>
                </a:solidFill>
                <a:latin typeface="Arial"/>
                <a:ea typeface="Helvetica Neue"/>
                <a:cs typeface="Helvetica Neue"/>
              </a:rPr>
              <a:t>Run one short, inspectable calculation.</a:t>
            </a:r>
          </a:p>
        </p:txBody>
      </p:sp>
      <p:sp>
        <p:nvSpPr>
          <p:cNvPr id="8" name="Explain">
            <a:extLst xmlns:a="http://schemas.openxmlformats.org/drawingml/2006/main">
              <a:ext uri="{FF2B5EF4-FFF2-40B4-BE49-F238E27FC236}">
                <a16:creationId xmlns:a16="http://schemas.microsoft.com/office/drawing/2014/main" id="{0C6B1A16-02AD-4650-A73C-A6499CB15293}"/>
              </a:ext>
            </a:extLst>
          </p:cNvPr>
          <p:cNvSpPr>
            <a:spLocks xmlns:a="http://schemas.openxmlformats.org/drawingml/2006/main" noGrp="1"/>
          </p:cNvSpPr>
          <p:nvPr/>
        </p:nvSpPr>
        <p:spPr>
          <a:xfrm xmlns:a="http://schemas.openxmlformats.org/drawingml/2006/main">
            <a:off x="1219200" y="9382125"/>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B85C20"/>
                </a:solidFill>
                <a:latin typeface="Arial"/>
                <a:ea typeface="Helvetica Neue"/>
                <a:cs typeface="Helvetica Neue"/>
              </a:defRPr>
            </a:pPr>
            <a:r>
              <a:rPr sz="5550" b="1">
                <a:solidFill>
                  <a:srgbClr val="B85C20"/>
                </a:solidFill>
                <a:latin typeface="Arial"/>
                <a:ea typeface="Helvetica Neue"/>
                <a:cs typeface="Helvetica Neue"/>
              </a:rPr>
              <a:t>Explain</a:t>
            </a:r>
          </a:p>
        </p:txBody>
      </p:sp>
      <p:sp>
        <p:nvSpPr>
          <p:cNvPr id="9" name="Use a field, a response and an independent check.">
            <a:extLst xmlns:a="http://schemas.openxmlformats.org/drawingml/2006/main">
              <a:ext uri="{FF2B5EF4-FFF2-40B4-BE49-F238E27FC236}">
                <a16:creationId xmlns:a16="http://schemas.microsoft.com/office/drawing/2014/main" id="{DD1D1FE6-6DA3-40E3-8FDD-7F1F31D4F842}"/>
              </a:ext>
            </a:extLst>
          </p:cNvPr>
          <p:cNvSpPr>
            <a:spLocks xmlns:a="http://schemas.openxmlformats.org/drawingml/2006/main" noGrp="1"/>
          </p:cNvSpPr>
          <p:nvPr/>
        </p:nvSpPr>
        <p:spPr>
          <a:xfrm xmlns:a="http://schemas.openxmlformats.org/drawingml/2006/main">
            <a:off x="9144000" y="9429750"/>
            <a:ext cx="13620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Arial"/>
                <a:ea typeface="Helvetica Neue"/>
                <a:cs typeface="Helvetica Neue"/>
              </a:defRPr>
            </a:pPr>
            <a:r>
              <a:rPr sz="4350" b="0">
                <a:solidFill>
                  <a:srgbClr val="17191C"/>
                </a:solidFill>
                <a:latin typeface="Arial"/>
                <a:ea typeface="Helvetica Neue"/>
                <a:cs typeface="Helvetica Neue"/>
              </a:rPr>
              <a:t>Use a field, a response and an independent check.</a:t>
            </a:r>
          </a:p>
        </p:txBody>
      </p:sp>
      <p:sp>
        <p:nvSpPr>
          <p:cNvPr id="10" name="Companion book, executable notebooks and worked solutions: CEMS-Lab au">
            <a:extLst xmlns:a="http://schemas.openxmlformats.org/drawingml/2006/main">
              <a:ext uri="{FF2B5EF4-FFF2-40B4-BE49-F238E27FC236}">
                <a16:creationId xmlns:a16="http://schemas.microsoft.com/office/drawing/2014/main" id="{967382B7-4F7D-46D5-8861-350549E8E749}"/>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Arial"/>
                <a:ea typeface="Helvetica Neue"/>
                <a:cs typeface="Helvetica Neue"/>
              </a:defRPr>
            </a:pPr>
            <a:r>
              <a:rPr sz="2250" b="0">
                <a:solidFill>
                  <a:srgbClr val="525D67"/>
                </a:solidFill>
                <a:latin typeface="Arial"/>
                <a:ea typeface="Helvetica Neue"/>
                <a:cs typeface="Helvetica Neue"/>
              </a:rPr>
              <a:t>Companion book, executable notebooks and worked solutions: CEMS-Lab autumn-school.</a:t>
            </a:r>
          </a:p>
        </p:txBody>
      </p:sp>
    </p:spTree>
    <p:extLst>
      <p:ext uri="{BB962C8B-B14F-4D97-AF65-F5344CB8AC3E}">
        <p14:creationId xmlns:p14="http://schemas.microsoft.com/office/powerpoint/2010/main" val="864855909"/>
      </p:ext>
    </p:extLst>
  </p:cSld>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19200" y="857250"/>
            <a:ext cx="21945600" cy="1381125"/>
          </a:xfrm>
          <a:prstGeom prst="rect">
            <a:avLst/>
          </a:prstGeom>
          <a:noFill/>
        </p:spPr>
        <p:txBody>
          <a:bodyPr wrap="square" lIns="0" rIns="0" tIns="0" bIns="0">
            <a:spAutoFit/>
          </a:bodyPr>
          <a:lstStyle/>
          <a:p>
            <a:pPr>
              <a:defRPr sz="7000" b="1">
                <a:solidFill>
                  <a:srgbClr val="245A81"/>
                </a:solidFill>
                <a:latin typeface="Arial"/>
              </a:defRPr>
            </a:pPr>
            <a:r>
              <a:t>The length scale controls the crack band</a:t>
            </a:r>
          </a:p>
        </p:txBody>
      </p:sp>
      <p:pic>
        <p:nvPicPr>
          <p:cNvPr id="3" name="Static fallback: phase_field_band" descr="phase_field_band_poster.png"/>
          <p:cNvPicPr>
            <a:picLocks noChangeAspect="1"/>
          </p:cNvPicPr>
          <p:nvPr/>
        </p:nvPicPr>
        <p:blipFill>
          <a:blip r:embed="rId2"/>
          <a:stretch>
            <a:fillRect/>
          </a:stretch>
        </p:blipFill>
        <p:spPr>
          <a:xfrm>
            <a:off x="952500" y="2714625"/>
            <a:ext cx="16764000" cy="9429750"/>
          </a:xfrm>
          <a:prstGeom prst="rect">
            <a:avLst/>
          </a:prstGeom>
        </p:spPr>
      </p:pic>
      <p:pic>
        <p:nvPicPr>
          <p:cNvPr id="4" name="Play: phase_field_band" descr="Analytic isolated AT2 profile. Lengths use one arbitrary unit. How should the mesh change when the regularisation length is halved?">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952500" y="2714625"/>
            <a:ext cx="16764000" cy="9429750"/>
          </a:xfrm>
          <a:prstGeom prst="rect">
            <a:avLst/>
          </a:prstGeom>
        </p:spPr>
      </p:pic>
      <p:sp>
        <p:nvSpPr>
          <p:cNvPr id="5" name="TextBox 4"/>
          <p:cNvSpPr txBox="1"/>
          <p:nvPr/>
        </p:nvSpPr>
        <p:spPr>
          <a:xfrm>
            <a:off x="18526125" y="3190875"/>
            <a:ext cx="4333875" cy="762000"/>
          </a:xfrm>
          <a:prstGeom prst="rect">
            <a:avLst/>
          </a:prstGeom>
          <a:noFill/>
        </p:spPr>
        <p:txBody>
          <a:bodyPr wrap="square" lIns="0" rIns="0" tIns="0" bIns="0">
            <a:spAutoFit/>
          </a:bodyPr>
          <a:lstStyle/>
          <a:p>
            <a:pPr>
              <a:defRPr sz="4600" b="1">
                <a:solidFill>
                  <a:srgbClr val="B85C20"/>
                </a:solidFill>
                <a:latin typeface="Arial"/>
              </a:defRPr>
            </a:pPr>
            <a:r>
              <a:t>Observe</a:t>
            </a:r>
          </a:p>
        </p:txBody>
      </p:sp>
      <p:sp>
        <p:nvSpPr>
          <p:cNvPr id="6" name="TextBox 5"/>
          <p:cNvSpPr txBox="1"/>
          <p:nvPr/>
        </p:nvSpPr>
        <p:spPr>
          <a:xfrm>
            <a:off x="18526125" y="4333875"/>
            <a:ext cx="4333875" cy="6619875"/>
          </a:xfrm>
          <a:prstGeom prst="rect">
            <a:avLst/>
          </a:prstGeom>
          <a:noFill/>
        </p:spPr>
        <p:txBody>
          <a:bodyPr wrap="square" lIns="0" rIns="0" tIns="0" bIns="0">
            <a:spAutoFit/>
          </a:bodyPr>
          <a:lstStyle/>
          <a:p>
            <a:pPr>
              <a:defRPr sz="4500" b="0">
                <a:solidFill>
                  <a:srgbClr val="17191C"/>
                </a:solidFill>
                <a:latin typeface="Arial"/>
              </a:defRPr>
            </a:pPr>
            <a:r>
              <a:t>Larger length scale</a:t>
            </a:r>
          </a:p>
          <a:p>
            <a:pPr>
              <a:defRPr sz="4500" b="0">
                <a:solidFill>
                  <a:srgbClr val="17191C"/>
                </a:solidFill>
                <a:latin typeface="Arial"/>
              </a:defRPr>
            </a:pPr>
          </a:p>
          <a:p>
            <a:pPr>
              <a:defRPr sz="4500" b="0">
                <a:solidFill>
                  <a:srgbClr val="17191C"/>
                </a:solidFill>
                <a:latin typeface="Arial"/>
              </a:defRPr>
            </a:pPr>
            <a:r>
              <a:t>Wider diffuse band</a:t>
            </a:r>
          </a:p>
          <a:p>
            <a:pPr>
              <a:defRPr sz="4500" b="0">
                <a:solidFill>
                  <a:srgbClr val="17191C"/>
                </a:solidFill>
                <a:latin typeface="Arial"/>
              </a:defRPr>
            </a:pPr>
          </a:p>
          <a:p>
            <a:pPr>
              <a:defRPr sz="4500" b="0">
                <a:solidFill>
                  <a:srgbClr val="17191C"/>
                </a:solidFill>
                <a:latin typeface="Arial"/>
              </a:defRPr>
            </a:pPr>
            <a:r>
              <a:t>Finer mesh resolves smaller bands</a:t>
            </a:r>
          </a:p>
        </p:txBody>
      </p:sp>
      <p:sp>
        <p:nvSpPr>
          <p:cNvPr id="7" name="TextBox 6"/>
          <p:cNvSpPr txBox="1"/>
          <p:nvPr/>
        </p:nvSpPr>
        <p:spPr>
          <a:xfrm>
            <a:off x="1219200" y="12268200"/>
            <a:ext cx="21336000" cy="457200"/>
          </a:xfrm>
          <a:prstGeom prst="rect">
            <a:avLst/>
          </a:prstGeom>
          <a:noFill/>
        </p:spPr>
        <p:txBody>
          <a:bodyPr wrap="square" lIns="0" rIns="0" tIns="0" bIns="0">
            <a:spAutoFit/>
          </a:bodyPr>
          <a:lstStyle/>
          <a:p>
            <a:pPr>
              <a:defRPr sz="2900" b="0">
                <a:solidFill>
                  <a:srgbClr val="525D67"/>
                </a:solidFill>
                <a:latin typeface="Arial"/>
              </a:defRPr>
            </a:pPr>
            <a:r>
              <a:t>Click the figure to play or pause.</a:t>
            </a:r>
          </a:p>
        </p:txBody>
      </p:sp>
      <p:sp>
        <p:nvSpPr>
          <p:cNvPr id="8" name="TextBox 7"/>
          <p:cNvSpPr txBox="1"/>
          <p:nvPr/>
        </p:nvSpPr>
        <p:spPr>
          <a:xfrm>
            <a:off x="1219200" y="12877800"/>
            <a:ext cx="20669250" cy="438150"/>
          </a:xfrm>
          <a:prstGeom prst="rect">
            <a:avLst/>
          </a:prstGeom>
          <a:noFill/>
        </p:spPr>
        <p:txBody>
          <a:bodyPr wrap="square" lIns="0" rIns="0" tIns="0" bIns="0">
            <a:spAutoFit/>
          </a:bodyPr>
          <a:lstStyle/>
          <a:p>
            <a:pPr>
              <a:defRPr sz="2600" b="0">
                <a:solidFill>
                  <a:srgbClr val="525D67"/>
                </a:solidFill>
                <a:latin typeface="Arial"/>
              </a:defRPr>
            </a:pPr>
            <a:r>
              <a:t>Analytic isolated AT2 profile. Lengths use one arbitrary unit.</a:t>
            </a:r>
          </a:p>
        </p:txBody>
      </p:sp>
      <p:sp>
        <p:nvSpPr>
          <p:cNvPr id="9" name="TextBox 8"/>
          <p:cNvSpPr txBox="1"/>
          <p:nvPr/>
        </p:nvSpPr>
        <p:spPr>
          <a:xfrm>
            <a:off x="22193250" y="12877800"/>
            <a:ext cx="1000125" cy="438150"/>
          </a:xfrm>
          <a:prstGeom prst="rect">
            <a:avLst/>
          </a:prstGeom>
          <a:noFill/>
        </p:spPr>
        <p:txBody>
          <a:bodyPr wrap="square" lIns="0" rIns="0" tIns="0" bIns="0">
            <a:spAutoFit/>
          </a:bodyPr>
          <a:lstStyle/>
          <a:p>
            <a:pPr>
              <a:defRPr sz="2800" b="0">
                <a:solidFill>
                  <a:srgbClr val="525D67"/>
                </a:solidFill>
                <a:latin typeface="Arial"/>
              </a:defRPr>
            </a:pPr>
            <a:r>
              <a:t>04</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19200" y="857250"/>
            <a:ext cx="21945600" cy="1381125"/>
          </a:xfrm>
          <a:prstGeom prst="rect">
            <a:avLst/>
          </a:prstGeom>
          <a:noFill/>
        </p:spPr>
        <p:txBody>
          <a:bodyPr wrap="square" lIns="0" rIns="0" tIns="0" bIns="0">
            <a:spAutoFit/>
          </a:bodyPr>
          <a:lstStyle/>
          <a:p>
            <a:pPr>
              <a:defRPr sz="7000" b="1">
                <a:solidFill>
                  <a:srgbClr val="245A81"/>
                </a:solidFill>
                <a:latin typeface="Arial"/>
              </a:defRPr>
            </a:pPr>
            <a:r>
              <a:t>Follow one partitioned dynamic update</a:t>
            </a:r>
          </a:p>
        </p:txBody>
      </p:sp>
      <p:pic>
        <p:nvPicPr>
          <p:cNvPr id="3" name="Static fallback: explicit_implicit_step" descr="explicit_implicit_step_poster.png"/>
          <p:cNvPicPr>
            <a:picLocks noChangeAspect="1"/>
          </p:cNvPicPr>
          <p:nvPr/>
        </p:nvPicPr>
        <p:blipFill>
          <a:blip r:embed="rId2"/>
          <a:stretch>
            <a:fillRect/>
          </a:stretch>
        </p:blipFill>
        <p:spPr>
          <a:xfrm>
            <a:off x="952500" y="2714625"/>
            <a:ext cx="16764000" cy="9429750"/>
          </a:xfrm>
          <a:prstGeom prst="rect">
            <a:avLst/>
          </a:prstGeom>
        </p:spPr>
      </p:pic>
      <p:pic>
        <p:nvPicPr>
          <p:cNvPr id="4" name="Play: explicit_implicit_step" descr="Partitioned dynamic schematic. The PhAST practical uses quasistatic mechanics. Which fields are held fixed during the mechanics and damage updates?">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952500" y="2714625"/>
            <a:ext cx="16764000" cy="9429750"/>
          </a:xfrm>
          <a:prstGeom prst="rect">
            <a:avLst/>
          </a:prstGeom>
        </p:spPr>
      </p:pic>
      <p:sp>
        <p:nvSpPr>
          <p:cNvPr id="5" name="TextBox 4"/>
          <p:cNvSpPr txBox="1"/>
          <p:nvPr/>
        </p:nvSpPr>
        <p:spPr>
          <a:xfrm>
            <a:off x="18526125" y="3190875"/>
            <a:ext cx="4333875" cy="762000"/>
          </a:xfrm>
          <a:prstGeom prst="rect">
            <a:avLst/>
          </a:prstGeom>
          <a:noFill/>
        </p:spPr>
        <p:txBody>
          <a:bodyPr wrap="square" lIns="0" rIns="0" tIns="0" bIns="0">
            <a:spAutoFit/>
          </a:bodyPr>
          <a:lstStyle/>
          <a:p>
            <a:pPr>
              <a:defRPr sz="4600" b="1">
                <a:solidFill>
                  <a:srgbClr val="B85C20"/>
                </a:solidFill>
                <a:latin typeface="Arial"/>
              </a:defRPr>
            </a:pPr>
            <a:r>
              <a:t>Observe</a:t>
            </a:r>
          </a:p>
        </p:txBody>
      </p:sp>
      <p:sp>
        <p:nvSpPr>
          <p:cNvPr id="6" name="TextBox 5"/>
          <p:cNvSpPr txBox="1"/>
          <p:nvPr/>
        </p:nvSpPr>
        <p:spPr>
          <a:xfrm>
            <a:off x="18526125" y="4333875"/>
            <a:ext cx="4333875" cy="6619875"/>
          </a:xfrm>
          <a:prstGeom prst="rect">
            <a:avLst/>
          </a:prstGeom>
          <a:noFill/>
        </p:spPr>
        <p:txBody>
          <a:bodyPr wrap="square" lIns="0" rIns="0" tIns="0" bIns="0">
            <a:spAutoFit/>
          </a:bodyPr>
          <a:lstStyle/>
          <a:p>
            <a:pPr>
              <a:defRPr sz="4500" b="0">
                <a:solidFill>
                  <a:srgbClr val="17191C"/>
                </a:solidFill>
                <a:latin typeface="Arial"/>
              </a:defRPr>
            </a:pPr>
            <a:r>
              <a:t>Mechanics</a:t>
            </a:r>
          </a:p>
          <a:p>
            <a:pPr>
              <a:defRPr sz="4500" b="0">
                <a:solidFill>
                  <a:srgbClr val="17191C"/>
                </a:solidFill>
                <a:latin typeface="Arial"/>
              </a:defRPr>
            </a:pPr>
          </a:p>
          <a:p>
            <a:pPr>
              <a:defRPr sz="4500" b="0">
                <a:solidFill>
                  <a:srgbClr val="17191C"/>
                </a:solidFill>
                <a:latin typeface="Arial"/>
              </a:defRPr>
            </a:pPr>
            <a:r>
              <a:t>Driving energy</a:t>
            </a:r>
          </a:p>
          <a:p>
            <a:pPr>
              <a:defRPr sz="4500" b="0">
                <a:solidFill>
                  <a:srgbClr val="17191C"/>
                </a:solidFill>
                <a:latin typeface="Arial"/>
              </a:defRPr>
            </a:pPr>
          </a:p>
          <a:p>
            <a:pPr>
              <a:defRPr sz="4500" b="0">
                <a:solidFill>
                  <a:srgbClr val="17191C"/>
                </a:solidFill>
                <a:latin typeface="Arial"/>
              </a:defRPr>
            </a:pPr>
            <a:r>
              <a:t>Damage</a:t>
            </a:r>
          </a:p>
          <a:p>
            <a:pPr>
              <a:defRPr sz="4500" b="0">
                <a:solidFill>
                  <a:srgbClr val="17191C"/>
                </a:solidFill>
                <a:latin typeface="Arial"/>
              </a:defRPr>
            </a:pPr>
          </a:p>
          <a:p>
            <a:pPr>
              <a:defRPr sz="4500" b="0">
                <a:solidFill>
                  <a:srgbClr val="17191C"/>
                </a:solidFill>
                <a:latin typeface="Arial"/>
              </a:defRPr>
            </a:pPr>
            <a:r>
              <a:t>Accept the checked state</a:t>
            </a:r>
          </a:p>
        </p:txBody>
      </p:sp>
      <p:sp>
        <p:nvSpPr>
          <p:cNvPr id="7" name="TextBox 6"/>
          <p:cNvSpPr txBox="1"/>
          <p:nvPr/>
        </p:nvSpPr>
        <p:spPr>
          <a:xfrm>
            <a:off x="1219200" y="12268200"/>
            <a:ext cx="21336000" cy="457200"/>
          </a:xfrm>
          <a:prstGeom prst="rect">
            <a:avLst/>
          </a:prstGeom>
          <a:noFill/>
        </p:spPr>
        <p:txBody>
          <a:bodyPr wrap="square" lIns="0" rIns="0" tIns="0" bIns="0">
            <a:spAutoFit/>
          </a:bodyPr>
          <a:lstStyle/>
          <a:p>
            <a:pPr>
              <a:defRPr sz="2900" b="0">
                <a:solidFill>
                  <a:srgbClr val="525D67"/>
                </a:solidFill>
                <a:latin typeface="Arial"/>
              </a:defRPr>
            </a:pPr>
            <a:r>
              <a:t>Click the figure to play or pause.</a:t>
            </a:r>
          </a:p>
        </p:txBody>
      </p:sp>
      <p:sp>
        <p:nvSpPr>
          <p:cNvPr id="8" name="TextBox 7"/>
          <p:cNvSpPr txBox="1"/>
          <p:nvPr/>
        </p:nvSpPr>
        <p:spPr>
          <a:xfrm>
            <a:off x="1219200" y="12877800"/>
            <a:ext cx="20669250" cy="438150"/>
          </a:xfrm>
          <a:prstGeom prst="rect">
            <a:avLst/>
          </a:prstGeom>
          <a:noFill/>
        </p:spPr>
        <p:txBody>
          <a:bodyPr wrap="square" lIns="0" rIns="0" tIns="0" bIns="0">
            <a:spAutoFit/>
          </a:bodyPr>
          <a:lstStyle/>
          <a:p>
            <a:pPr>
              <a:defRPr sz="2600" b="0">
                <a:solidFill>
                  <a:srgbClr val="525D67"/>
                </a:solidFill>
                <a:latin typeface="Arial"/>
              </a:defRPr>
            </a:pPr>
            <a:r>
              <a:t>Partitioned dynamic schematic. The PhAST practical uses quasistatic mechanics.</a:t>
            </a:r>
          </a:p>
        </p:txBody>
      </p:sp>
      <p:sp>
        <p:nvSpPr>
          <p:cNvPr id="9" name="TextBox 8"/>
          <p:cNvSpPr txBox="1"/>
          <p:nvPr/>
        </p:nvSpPr>
        <p:spPr>
          <a:xfrm>
            <a:off x="22193250" y="12877800"/>
            <a:ext cx="1000125" cy="438150"/>
          </a:xfrm>
          <a:prstGeom prst="rect">
            <a:avLst/>
          </a:prstGeom>
          <a:noFill/>
        </p:spPr>
        <p:txBody>
          <a:bodyPr wrap="square" lIns="0" rIns="0" tIns="0" bIns="0">
            <a:spAutoFit/>
          </a:bodyPr>
          <a:lstStyle/>
          <a:p>
            <a:pPr>
              <a:defRPr sz="2800" b="0">
                <a:solidFill>
                  <a:srgbClr val="525D67"/>
                </a:solidFill>
                <a:latin typeface="Arial"/>
              </a:defRPr>
            </a:pPr>
            <a:r>
              <a:t>07</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19200" y="857250"/>
            <a:ext cx="21945600" cy="1381125"/>
          </a:xfrm>
          <a:prstGeom prst="rect">
            <a:avLst/>
          </a:prstGeom>
          <a:noFill/>
        </p:spPr>
        <p:txBody>
          <a:bodyPr wrap="square" lIns="0" rIns="0" tIns="0" bIns="0">
            <a:spAutoFit/>
          </a:bodyPr>
          <a:lstStyle/>
          <a:p>
            <a:pPr>
              <a:defRPr sz="7000" b="1">
                <a:solidFill>
                  <a:srgbClr val="245A81"/>
                </a:solidFill>
                <a:latin typeface="Arial"/>
              </a:defRPr>
            </a:pPr>
            <a:r>
              <a:t>Every use of a parameter contributes</a:t>
            </a:r>
          </a:p>
        </p:txBody>
      </p:sp>
      <p:pic>
        <p:nvPicPr>
          <p:cNvPr id="3" name="Static fallback: reverse_accumulation" descr="reverse_accumulation_poster.png"/>
          <p:cNvPicPr>
            <a:picLocks noChangeAspect="1"/>
          </p:cNvPicPr>
          <p:nvPr/>
        </p:nvPicPr>
        <p:blipFill>
          <a:blip r:embed="rId2"/>
          <a:stretch>
            <a:fillRect/>
          </a:stretch>
        </p:blipFill>
        <p:spPr>
          <a:xfrm>
            <a:off x="952500" y="2714625"/>
            <a:ext cx="16764000" cy="9429750"/>
          </a:xfrm>
          <a:prstGeom prst="rect">
            <a:avLst/>
          </a:prstGeom>
        </p:spPr>
      </p:pic>
      <p:pic>
        <p:nvPicPr>
          <p:cNvPr id="4" name="Play: reverse_accumulation" descr="Two differentiable updates; fixed initial state; terminal scalar loss. Why does the final derivative contain one contribution from each update?">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952500" y="2714625"/>
            <a:ext cx="16764000" cy="9429750"/>
          </a:xfrm>
          <a:prstGeom prst="rect">
            <a:avLst/>
          </a:prstGeom>
        </p:spPr>
      </p:pic>
      <p:sp>
        <p:nvSpPr>
          <p:cNvPr id="5" name="TextBox 4"/>
          <p:cNvSpPr txBox="1"/>
          <p:nvPr/>
        </p:nvSpPr>
        <p:spPr>
          <a:xfrm>
            <a:off x="18526125" y="3190875"/>
            <a:ext cx="4333875" cy="762000"/>
          </a:xfrm>
          <a:prstGeom prst="rect">
            <a:avLst/>
          </a:prstGeom>
          <a:noFill/>
        </p:spPr>
        <p:txBody>
          <a:bodyPr wrap="square" lIns="0" rIns="0" tIns="0" bIns="0">
            <a:spAutoFit/>
          </a:bodyPr>
          <a:lstStyle/>
          <a:p>
            <a:pPr>
              <a:defRPr sz="4600" b="1">
                <a:solidFill>
                  <a:srgbClr val="B85C20"/>
                </a:solidFill>
                <a:latin typeface="Arial"/>
              </a:defRPr>
            </a:pPr>
            <a:r>
              <a:t>Observe</a:t>
            </a:r>
          </a:p>
        </p:txBody>
      </p:sp>
      <p:sp>
        <p:nvSpPr>
          <p:cNvPr id="6" name="TextBox 5"/>
          <p:cNvSpPr txBox="1"/>
          <p:nvPr/>
        </p:nvSpPr>
        <p:spPr>
          <a:xfrm>
            <a:off x="18526125" y="4333875"/>
            <a:ext cx="4333875" cy="6619875"/>
          </a:xfrm>
          <a:prstGeom prst="rect">
            <a:avLst/>
          </a:prstGeom>
          <a:noFill/>
        </p:spPr>
        <p:txBody>
          <a:bodyPr wrap="square" lIns="0" rIns="0" tIns="0" bIns="0">
            <a:spAutoFit/>
          </a:bodyPr>
          <a:lstStyle/>
          <a:p>
            <a:pPr>
              <a:defRPr sz="4500" b="0">
                <a:solidFill>
                  <a:srgbClr val="17191C"/>
                </a:solidFill>
                <a:latin typeface="Arial"/>
              </a:defRPr>
            </a:pPr>
            <a:r>
              <a:t>Clip notation</a:t>
            </a:r>
          </a:p>
          <a:p>
            <a:pPr>
              <a:defRPr sz="4500" b="0">
                <a:solidFill>
                  <a:srgbClr val="17191C"/>
                </a:solidFill>
                <a:latin typeface="Arial"/>
              </a:defRPr>
            </a:pPr>
          </a:p>
          <a:p>
            <a:pPr>
              <a:defRPr sz="4500" b="0">
                <a:solidFill>
                  <a:srgbClr val="17191C"/>
                </a:solidFill>
                <a:latin typeface="Arial"/>
              </a:defRPr>
            </a:pPr>
            <a:r>
              <a:t>x: state z</a:t>
            </a:r>
          </a:p>
          <a:p>
            <a:pPr>
              <a:defRPr sz="4500" b="0">
                <a:solidFill>
                  <a:srgbClr val="17191C"/>
                </a:solidFill>
                <a:latin typeface="Arial"/>
              </a:defRPr>
            </a:pPr>
            <a:r>
              <a:t>θ: parameter p</a:t>
            </a:r>
          </a:p>
          <a:p>
            <a:pPr>
              <a:defRPr sz="4500" b="0">
                <a:solidFill>
                  <a:srgbClr val="17191C"/>
                </a:solidFill>
                <a:latin typeface="Arial"/>
              </a:defRPr>
            </a:pPr>
            <a:r>
              <a:t>L: loss J</a:t>
            </a:r>
          </a:p>
          <a:p>
            <a:pPr>
              <a:defRPr sz="4500" b="0">
                <a:solidFill>
                  <a:srgbClr val="17191C"/>
                </a:solidFill>
                <a:latin typeface="Arial"/>
              </a:defRPr>
            </a:pPr>
          </a:p>
          <a:p>
            <a:pPr>
              <a:defRPr sz="4500" b="0">
                <a:solidFill>
                  <a:srgbClr val="17191C"/>
                </a:solidFill>
                <a:latin typeface="Arial"/>
              </a:defRPr>
            </a:pPr>
            <a:r>
              <a:t>Sum both parameter contributions</a:t>
            </a:r>
          </a:p>
        </p:txBody>
      </p:sp>
      <p:sp>
        <p:nvSpPr>
          <p:cNvPr id="7" name="TextBox 6"/>
          <p:cNvSpPr txBox="1"/>
          <p:nvPr/>
        </p:nvSpPr>
        <p:spPr>
          <a:xfrm>
            <a:off x="1219200" y="12268200"/>
            <a:ext cx="21336000" cy="457200"/>
          </a:xfrm>
          <a:prstGeom prst="rect">
            <a:avLst/>
          </a:prstGeom>
          <a:noFill/>
        </p:spPr>
        <p:txBody>
          <a:bodyPr wrap="square" lIns="0" rIns="0" tIns="0" bIns="0">
            <a:spAutoFit/>
          </a:bodyPr>
          <a:lstStyle/>
          <a:p>
            <a:pPr>
              <a:defRPr sz="2900" b="0">
                <a:solidFill>
                  <a:srgbClr val="525D67"/>
                </a:solidFill>
                <a:latin typeface="Arial"/>
              </a:defRPr>
            </a:pPr>
            <a:r>
              <a:t>Click the figure to play or pause.</a:t>
            </a:r>
          </a:p>
        </p:txBody>
      </p:sp>
      <p:sp>
        <p:nvSpPr>
          <p:cNvPr id="8" name="TextBox 7"/>
          <p:cNvSpPr txBox="1"/>
          <p:nvPr/>
        </p:nvSpPr>
        <p:spPr>
          <a:xfrm>
            <a:off x="1219200" y="12877800"/>
            <a:ext cx="20669250" cy="438150"/>
          </a:xfrm>
          <a:prstGeom prst="rect">
            <a:avLst/>
          </a:prstGeom>
          <a:noFill/>
        </p:spPr>
        <p:txBody>
          <a:bodyPr wrap="square" lIns="0" rIns="0" tIns="0" bIns="0">
            <a:spAutoFit/>
          </a:bodyPr>
          <a:lstStyle/>
          <a:p>
            <a:pPr>
              <a:defRPr sz="2600" b="0">
                <a:solidFill>
                  <a:srgbClr val="525D67"/>
                </a:solidFill>
                <a:latin typeface="Arial"/>
              </a:defRPr>
            </a:pPr>
            <a:r>
              <a:t>Two differentiable updates; fixed initial state; terminal scalar loss.</a:t>
            </a:r>
          </a:p>
        </p:txBody>
      </p:sp>
      <p:sp>
        <p:nvSpPr>
          <p:cNvPr id="9" name="TextBox 8"/>
          <p:cNvSpPr txBox="1"/>
          <p:nvPr/>
        </p:nvSpPr>
        <p:spPr>
          <a:xfrm>
            <a:off x="22193250" y="12877800"/>
            <a:ext cx="1000125" cy="438150"/>
          </a:xfrm>
          <a:prstGeom prst="rect">
            <a:avLst/>
          </a:prstGeom>
          <a:noFill/>
        </p:spPr>
        <p:txBody>
          <a:bodyPr wrap="square" lIns="0" rIns="0" tIns="0" bIns="0">
            <a:spAutoFit/>
          </a:bodyPr>
          <a:lstStyle/>
          <a:p>
            <a:pPr>
              <a:defRPr sz="2800" b="0">
                <a:solidFill>
                  <a:srgbClr val="525D67"/>
                </a:solidFill>
                <a:latin typeface="Arial"/>
              </a:defRPr>
            </a:pPr>
            <a:r>
              <a:t>13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19200" y="857250"/>
            <a:ext cx="21945600" cy="1381125"/>
          </a:xfrm>
          <a:prstGeom prst="rect">
            <a:avLst/>
          </a:prstGeom>
          <a:noFill/>
        </p:spPr>
        <p:txBody>
          <a:bodyPr wrap="square" lIns="0" rIns="0" tIns="0" bIns="0">
            <a:spAutoFit/>
          </a:bodyPr>
          <a:lstStyle/>
          <a:p>
            <a:pPr>
              <a:defRPr sz="7000" b="1">
                <a:solidFill>
                  <a:srgbClr val="245A81"/>
                </a:solidFill>
                <a:latin typeface="Arial"/>
              </a:defRPr>
            </a:pPr>
            <a:r>
              <a:t>Stored history selects the active sensitivity</a:t>
            </a:r>
          </a:p>
        </p:txBody>
      </p:sp>
      <p:pic>
        <p:nvPicPr>
          <p:cNvPr id="3" name="Static fallback: history_switch" descr="history_switch_poster.png"/>
          <p:cNvPicPr>
            <a:picLocks noChangeAspect="1"/>
          </p:cNvPicPr>
          <p:nvPr/>
        </p:nvPicPr>
        <p:blipFill>
          <a:blip r:embed="rId2"/>
          <a:stretch>
            <a:fillRect/>
          </a:stretch>
        </p:blipFill>
        <p:spPr>
          <a:xfrm>
            <a:off x="952500" y="2714625"/>
            <a:ext cx="14023731" cy="9429750"/>
          </a:xfrm>
          <a:prstGeom prst="rect">
            <a:avLst/>
          </a:prstGeom>
        </p:spPr>
      </p:pic>
      <p:pic>
        <p:nvPicPr>
          <p:cNvPr id="4" name="Play: history_switch" descr="Dimensionless material-point teaching example. Green: surrogate reverse weights. During unloading below the previous peak, which input receives the hard-history sensitivity?">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952500" y="2714625"/>
            <a:ext cx="14023731" cy="9429750"/>
          </a:xfrm>
          <a:prstGeom prst="rect">
            <a:avLst/>
          </a:prstGeom>
        </p:spPr>
      </p:pic>
      <p:sp>
        <p:nvSpPr>
          <p:cNvPr id="5" name="TextBox 4"/>
          <p:cNvSpPr txBox="1"/>
          <p:nvPr/>
        </p:nvSpPr>
        <p:spPr>
          <a:xfrm>
            <a:off x="15785856" y="3190875"/>
            <a:ext cx="7074144" cy="762000"/>
          </a:xfrm>
          <a:prstGeom prst="rect">
            <a:avLst/>
          </a:prstGeom>
          <a:noFill/>
        </p:spPr>
        <p:txBody>
          <a:bodyPr wrap="square" lIns="0" rIns="0" tIns="0" bIns="0">
            <a:spAutoFit/>
          </a:bodyPr>
          <a:lstStyle/>
          <a:p>
            <a:pPr>
              <a:defRPr sz="4600" b="1">
                <a:solidFill>
                  <a:srgbClr val="B85C20"/>
                </a:solidFill>
                <a:latin typeface="Arial"/>
              </a:defRPr>
            </a:pPr>
            <a:r>
              <a:t>Observe</a:t>
            </a:r>
          </a:p>
        </p:txBody>
      </p:sp>
      <p:sp>
        <p:nvSpPr>
          <p:cNvPr id="6" name="TextBox 5"/>
          <p:cNvSpPr txBox="1"/>
          <p:nvPr/>
        </p:nvSpPr>
        <p:spPr>
          <a:xfrm>
            <a:off x="15785856" y="4333875"/>
            <a:ext cx="7074144" cy="6619875"/>
          </a:xfrm>
          <a:prstGeom prst="rect">
            <a:avLst/>
          </a:prstGeom>
          <a:noFill/>
        </p:spPr>
        <p:txBody>
          <a:bodyPr wrap="square" lIns="0" rIns="0" tIns="0" bIns="0">
            <a:spAutoFit/>
          </a:bodyPr>
          <a:lstStyle/>
          <a:p>
            <a:pPr>
              <a:defRPr sz="4500" b="0">
                <a:solidFill>
                  <a:srgbClr val="17191C"/>
                </a:solidFill>
                <a:latin typeface="Arial"/>
              </a:defRPr>
            </a:pPr>
            <a:r>
              <a:t>Energy can unload.</a:t>
            </a:r>
          </a:p>
          <a:p>
            <a:pPr>
              <a:defRPr sz="4500" b="0">
                <a:solidFill>
                  <a:srgbClr val="17191C"/>
                </a:solidFill>
                <a:latin typeface="Arial"/>
              </a:defRPr>
            </a:pPr>
            <a:r>
              <a:t>History retains its peak.</a:t>
            </a:r>
          </a:p>
          <a:p>
            <a:pPr>
              <a:defRPr sz="4500" b="0">
                <a:solidFill>
                  <a:srgbClr val="17191C"/>
                </a:solidFill>
                <a:latin typeface="Arial"/>
              </a:defRPr>
            </a:pPr>
          </a:p>
          <a:p>
            <a:pPr>
              <a:defRPr sz="4500" b="0">
                <a:solidFill>
                  <a:srgbClr val="17191C"/>
                </a:solidFill>
                <a:latin typeface="Arial"/>
              </a:defRPr>
            </a:pPr>
            <a:r>
              <a:t>The active branch determines the local derivative.</a:t>
            </a:r>
          </a:p>
          <a:p>
            <a:pPr>
              <a:defRPr sz="4500" b="0">
                <a:solidFill>
                  <a:srgbClr val="17191C"/>
                </a:solidFill>
                <a:latin typeface="Arial"/>
              </a:defRPr>
            </a:pPr>
          </a:p>
          <a:p>
            <a:pPr>
              <a:defRPr sz="4500" b="0">
                <a:solidFill>
                  <a:srgbClr val="17191C"/>
                </a:solidFill>
                <a:latin typeface="Arial"/>
              </a:defRPr>
            </a:pPr>
            <a:r>
              <a:t>At a tie, specify the derivative convention.</a:t>
            </a:r>
          </a:p>
        </p:txBody>
      </p:sp>
      <p:sp>
        <p:nvSpPr>
          <p:cNvPr id="7" name="TextBox 6"/>
          <p:cNvSpPr txBox="1"/>
          <p:nvPr/>
        </p:nvSpPr>
        <p:spPr>
          <a:xfrm>
            <a:off x="1219200" y="12268200"/>
            <a:ext cx="21336000" cy="457200"/>
          </a:xfrm>
          <a:prstGeom prst="rect">
            <a:avLst/>
          </a:prstGeom>
          <a:noFill/>
        </p:spPr>
        <p:txBody>
          <a:bodyPr wrap="square" lIns="0" rIns="0" tIns="0" bIns="0">
            <a:spAutoFit/>
          </a:bodyPr>
          <a:lstStyle/>
          <a:p>
            <a:pPr>
              <a:defRPr sz="2900" b="0">
                <a:solidFill>
                  <a:srgbClr val="525D67"/>
                </a:solidFill>
                <a:latin typeface="Arial"/>
              </a:defRPr>
            </a:pPr>
            <a:r>
              <a:t>Click the figure to play or pause.</a:t>
            </a:r>
          </a:p>
        </p:txBody>
      </p:sp>
      <p:sp>
        <p:nvSpPr>
          <p:cNvPr id="8" name="TextBox 7"/>
          <p:cNvSpPr txBox="1"/>
          <p:nvPr/>
        </p:nvSpPr>
        <p:spPr>
          <a:xfrm>
            <a:off x="1219200" y="12877800"/>
            <a:ext cx="20669250" cy="438150"/>
          </a:xfrm>
          <a:prstGeom prst="rect">
            <a:avLst/>
          </a:prstGeom>
          <a:noFill/>
        </p:spPr>
        <p:txBody>
          <a:bodyPr wrap="square" lIns="0" rIns="0" tIns="0" bIns="0">
            <a:spAutoFit/>
          </a:bodyPr>
          <a:lstStyle/>
          <a:p>
            <a:pPr>
              <a:defRPr sz="2600" b="0">
                <a:solidFill>
                  <a:srgbClr val="525D67"/>
                </a:solidFill>
                <a:latin typeface="Arial"/>
              </a:defRPr>
            </a:pPr>
            <a:r>
              <a:t>Dimensionless material-point teaching example. Green: surrogate reverse weights.</a:t>
            </a:r>
          </a:p>
        </p:txBody>
      </p:sp>
      <p:sp>
        <p:nvSpPr>
          <p:cNvPr id="9" name="TextBox 8"/>
          <p:cNvSpPr txBox="1"/>
          <p:nvPr/>
        </p:nvSpPr>
        <p:spPr>
          <a:xfrm>
            <a:off x="22193250" y="12877800"/>
            <a:ext cx="1000125" cy="438150"/>
          </a:xfrm>
          <a:prstGeom prst="rect">
            <a:avLst/>
          </a:prstGeom>
          <a:noFill/>
        </p:spPr>
        <p:txBody>
          <a:bodyPr wrap="square" lIns="0" rIns="0" tIns="0" bIns="0">
            <a:spAutoFit/>
          </a:bodyPr>
          <a:lstStyle/>
          <a:p>
            <a:pPr>
              <a:defRPr sz="2800" b="0">
                <a:solidFill>
                  <a:srgbClr val="525D67"/>
                </a:solidFill>
                <a:latin typeface="Arial"/>
              </a:defRPr>
            </a:pPr>
            <a:r>
              <a:t>15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19200" y="857250"/>
            <a:ext cx="21945600" cy="1381125"/>
          </a:xfrm>
          <a:prstGeom prst="rect">
            <a:avLst/>
          </a:prstGeom>
          <a:noFill/>
        </p:spPr>
        <p:txBody>
          <a:bodyPr wrap="square" lIns="0" rIns="0" tIns="0" bIns="0">
            <a:spAutoFit/>
          </a:bodyPr>
          <a:lstStyle/>
          <a:p>
            <a:pPr>
              <a:defRPr sz="7000" b="1">
                <a:solidFill>
                  <a:srgbClr val="245A81"/>
                </a:solidFill>
                <a:latin typeface="Arial"/>
              </a:defRPr>
            </a:pPr>
            <a:r>
              <a:t>A learned field enters a checked interface</a:t>
            </a:r>
          </a:p>
        </p:txBody>
      </p:sp>
      <p:pic>
        <p:nvPicPr>
          <p:cNvPr id="3" name="Static fallback: checked_learned_proposal" descr="checked_learned_proposal_poster.png"/>
          <p:cNvPicPr>
            <a:picLocks noChangeAspect="1"/>
          </p:cNvPicPr>
          <p:nvPr/>
        </p:nvPicPr>
        <p:blipFill>
          <a:blip r:embed="rId2"/>
          <a:stretch>
            <a:fillRect/>
          </a:stretch>
        </p:blipFill>
        <p:spPr>
          <a:xfrm>
            <a:off x="952500" y="2714625"/>
            <a:ext cx="16764000" cy="9429750"/>
          </a:xfrm>
          <a:prstGeom prst="rect">
            <a:avLst/>
          </a:prstGeom>
        </p:spPr>
      </p:pic>
      <p:pic>
        <p:nvPicPr>
          <p:cNvPr id="4" name="Play: checked_learned_proposal" descr="Interface schematic. Practical models: MLP/RBF on a Helmholtz-type teaching field. Which checks should a proposed damage field satisfy before the simulation accepts 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952500" y="2714625"/>
            <a:ext cx="16764000" cy="9429750"/>
          </a:xfrm>
          <a:prstGeom prst="rect">
            <a:avLst/>
          </a:prstGeom>
        </p:spPr>
      </p:pic>
      <p:sp>
        <p:nvSpPr>
          <p:cNvPr id="5" name="TextBox 4"/>
          <p:cNvSpPr txBox="1"/>
          <p:nvPr/>
        </p:nvSpPr>
        <p:spPr>
          <a:xfrm>
            <a:off x="18526125" y="3190875"/>
            <a:ext cx="4333875" cy="762000"/>
          </a:xfrm>
          <a:prstGeom prst="rect">
            <a:avLst/>
          </a:prstGeom>
          <a:noFill/>
        </p:spPr>
        <p:txBody>
          <a:bodyPr wrap="square" lIns="0" rIns="0" tIns="0" bIns="0">
            <a:spAutoFit/>
          </a:bodyPr>
          <a:lstStyle/>
          <a:p>
            <a:pPr>
              <a:defRPr sz="4600" b="1">
                <a:solidFill>
                  <a:srgbClr val="B85C20"/>
                </a:solidFill>
                <a:latin typeface="Arial"/>
              </a:defRPr>
            </a:pPr>
            <a:r>
              <a:t>Observe</a:t>
            </a:r>
          </a:p>
        </p:txBody>
      </p:sp>
      <p:sp>
        <p:nvSpPr>
          <p:cNvPr id="6" name="TextBox 5"/>
          <p:cNvSpPr txBox="1"/>
          <p:nvPr/>
        </p:nvSpPr>
        <p:spPr>
          <a:xfrm>
            <a:off x="18526125" y="4333875"/>
            <a:ext cx="4333875" cy="6619875"/>
          </a:xfrm>
          <a:prstGeom prst="rect">
            <a:avLst/>
          </a:prstGeom>
          <a:noFill/>
        </p:spPr>
        <p:txBody>
          <a:bodyPr wrap="square" lIns="0" rIns="0" tIns="0" bIns="0">
            <a:spAutoFit/>
          </a:bodyPr>
          <a:lstStyle/>
          <a:p>
            <a:pPr>
              <a:defRPr sz="4500" b="0">
                <a:solidFill>
                  <a:srgbClr val="17191C"/>
                </a:solidFill>
                <a:latin typeface="Arial"/>
              </a:defRPr>
            </a:pPr>
            <a:r>
              <a:t>Declare features.</a:t>
            </a:r>
          </a:p>
          <a:p>
            <a:pPr>
              <a:defRPr sz="4500" b="0">
                <a:solidFill>
                  <a:srgbClr val="17191C"/>
                </a:solidFill>
                <a:latin typeface="Arial"/>
              </a:defRPr>
            </a:pPr>
          </a:p>
          <a:p>
            <a:pPr>
              <a:defRPr sz="4500" b="0">
                <a:solidFill>
                  <a:srgbClr val="17191C"/>
                </a:solidFill>
                <a:latin typeface="Arial"/>
              </a:defRPr>
            </a:pPr>
            <a:r>
              <a:t>Propose a field.</a:t>
            </a:r>
          </a:p>
          <a:p>
            <a:pPr>
              <a:defRPr sz="4500" b="0">
                <a:solidFill>
                  <a:srgbClr val="17191C"/>
                </a:solidFill>
                <a:latin typeface="Arial"/>
              </a:defRPr>
            </a:pPr>
          </a:p>
          <a:p>
            <a:pPr>
              <a:defRPr sz="4500" b="0">
                <a:solidFill>
                  <a:srgbClr val="17191C"/>
                </a:solidFill>
                <a:latin typeface="Arial"/>
              </a:defRPr>
            </a:pPr>
            <a:r>
              <a:t>Check and correct.</a:t>
            </a:r>
          </a:p>
          <a:p>
            <a:pPr>
              <a:defRPr sz="4500" b="0">
                <a:solidFill>
                  <a:srgbClr val="17191C"/>
                </a:solidFill>
                <a:latin typeface="Arial"/>
              </a:defRPr>
            </a:pPr>
          </a:p>
          <a:p>
            <a:pPr>
              <a:defRPr sz="4500" b="0">
                <a:solidFill>
                  <a:srgbClr val="17191C"/>
                </a:solidFill>
                <a:latin typeface="Arial"/>
              </a:defRPr>
            </a:pPr>
            <a:r>
              <a:t>Recheck the result.</a:t>
            </a:r>
          </a:p>
        </p:txBody>
      </p:sp>
      <p:sp>
        <p:nvSpPr>
          <p:cNvPr id="7" name="TextBox 6"/>
          <p:cNvSpPr txBox="1"/>
          <p:nvPr/>
        </p:nvSpPr>
        <p:spPr>
          <a:xfrm>
            <a:off x="1219200" y="12268200"/>
            <a:ext cx="21336000" cy="457200"/>
          </a:xfrm>
          <a:prstGeom prst="rect">
            <a:avLst/>
          </a:prstGeom>
          <a:noFill/>
        </p:spPr>
        <p:txBody>
          <a:bodyPr wrap="square" lIns="0" rIns="0" tIns="0" bIns="0">
            <a:spAutoFit/>
          </a:bodyPr>
          <a:lstStyle/>
          <a:p>
            <a:pPr>
              <a:defRPr sz="2900" b="0">
                <a:solidFill>
                  <a:srgbClr val="525D67"/>
                </a:solidFill>
                <a:latin typeface="Arial"/>
              </a:defRPr>
            </a:pPr>
            <a:r>
              <a:t>Click the figure to play or pause.</a:t>
            </a:r>
          </a:p>
        </p:txBody>
      </p:sp>
      <p:sp>
        <p:nvSpPr>
          <p:cNvPr id="8" name="TextBox 7"/>
          <p:cNvSpPr txBox="1"/>
          <p:nvPr/>
        </p:nvSpPr>
        <p:spPr>
          <a:xfrm>
            <a:off x="1219200" y="12877800"/>
            <a:ext cx="20669250" cy="438150"/>
          </a:xfrm>
          <a:prstGeom prst="rect">
            <a:avLst/>
          </a:prstGeom>
          <a:noFill/>
        </p:spPr>
        <p:txBody>
          <a:bodyPr wrap="square" lIns="0" rIns="0" tIns="0" bIns="0">
            <a:spAutoFit/>
          </a:bodyPr>
          <a:lstStyle/>
          <a:p>
            <a:pPr>
              <a:defRPr sz="2600" b="0">
                <a:solidFill>
                  <a:srgbClr val="525D67"/>
                </a:solidFill>
                <a:latin typeface="Arial"/>
              </a:defRPr>
            </a:pPr>
            <a:r>
              <a:t>Interface schematic. Practical models: MLP/RBF on a Helmholtz-type teaching field.</a:t>
            </a:r>
          </a:p>
        </p:txBody>
      </p:sp>
      <p:sp>
        <p:nvSpPr>
          <p:cNvPr id="9" name="TextBox 8"/>
          <p:cNvSpPr txBox="1"/>
          <p:nvPr/>
        </p:nvSpPr>
        <p:spPr>
          <a:xfrm>
            <a:off x="22193250" y="12877800"/>
            <a:ext cx="1000125" cy="438150"/>
          </a:xfrm>
          <a:prstGeom prst="rect">
            <a:avLst/>
          </a:prstGeom>
          <a:noFill/>
        </p:spPr>
        <p:txBody>
          <a:bodyPr wrap="square" lIns="0" rIns="0" tIns="0" bIns="0">
            <a:spAutoFit/>
          </a:bodyPr>
          <a:lstStyle/>
          <a:p>
            <a:pPr>
              <a:defRPr sz="2800" b="0">
                <a:solidFill>
                  <a:srgbClr val="525D67"/>
                </a:solidFill>
                <a:latin typeface="Arial"/>
              </a:defRPr>
            </a:pPr>
            <a:r>
              <a:t>21</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39_DynamicColor">
  <a:themeElements>
    <a:clrScheme name="39_Dynam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9_DynamicColor">
      <a:majorFont>
        <a:latin typeface="Helvetica Neue"/>
        <a:ea typeface="Helvetica Neue"/>
        <a:cs typeface="Helvetica Neue"/>
      </a:majorFont>
      <a:minorFont>
        <a:latin typeface="Helvetica Neue"/>
        <a:ea typeface="Helvetica Neue"/>
        <a:cs typeface="Helvetica Neue"/>
      </a:minorFont>
    </a:fontScheme>
    <a:fmtScheme name="39_Dynam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Allamaprabhu Ani</dc:creator>
  <cp:lastModifiedBy>CEMS-Lab</cp:lastModifiedBy>
  <dc:title>PhAST: Numerical methods and deep learning — animated lecture spine</dc:title>
  <dcterms:created xsi:type="dcterms:W3CDTF">2026-09-09T21:52:34.5060000Z</dcterms:created>
  <dcterms:modified xsi:type="dcterms:W3CDTF">2026-09-09T21:52:34.5070000Z</dcterms:modified>
  <dc:description>Created by Allamaprabhu Ani, CEMS-Lab, for the UKACM Autumn School 2026. Presented by Sathiskumar A. Ponnusami, Queen Mary University of London.</dc:description>
  <dc:subject>UKACM Autumn School 2026; presented by Sathiskumar A. Ponnusami, Queen Mary University of London; CEMS-Lab</dc:subject>
</cp:coreProperties>
</file>